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  <a:latin typeface="Malgun Gothic"/>
              </a:defRPr>
            </a:pPr>
            <a:r>
              <a:t>Ch.2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VR 인터랙션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algun Gothic"/>
              </a:defRPr>
            </a:pPr>
            <a:r>
              <a:t>Grab, Ray, Poke, Socket 인터랙션 &amp; Input System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algun Gothic"/>
              </a:defRPr>
            </a:pPr>
            <a:r>
              <a:t>조영민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VR Multiplayer Game Development  |  Unity 6 + Netcode for GameObjects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XR Interactor / Interactable 아키텍처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Direct Interactor &amp; XRGrabInteractable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Ray Interactor &amp; XR Poke Interactor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381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Socket Interactor &amp; 커스텀 인터랙션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[실습] 인터랙션 오브젝트 구성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Input System 연동 &amp; Hand Tracking 기초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XR Interactor / Interactable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Interactor / Interactable 패턴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XRI의 핵심 디자인 패턴 (Ch.1 복습 &amp; 심화)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Interactor: 상호작용을 시도하는 주체 (컨트롤러, 손)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Interactable: 상호작용을 받는 대상 (오브젝트, UI)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Interaction Manager: 모든 Interactor-Interactable 매칭 관리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매 프레임 Hover/Select 후보를 평가하고 우선순위 결정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인터랙션 상태 머신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Idle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감지 범위 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Hover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감지 범위 진입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Select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그립 버튼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Activate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트리거 버튼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Idle -&gt; Hover -&gt; Select -&gt; Activate 순서로 상태가 전이됩니다. 각 전이마다 Enter/Exit 이벤트가 발생합니다.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인터랙션 이벤트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Hover 이벤트: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firstHoverEntered / lastHoverExited - 첫 번째/마지막 Interactor의 hover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hoverEntered / hoverExited - 개별 Interactor의 hover 시작/종료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Select 이벤트: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firstSelectEntered / lastSelectExited - 첫 번째/마지막 잡기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selectEntered / selectExited - 개별 잡기/놓기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Activate 이벤트: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activated / deactivated - 활성화/비활성화 (잡은 상태에서 트리거)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이벤트 등록 패턴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InteractionEventExample.cs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using UnityEngine;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using UnityEngine.XR.Interaction.Toolkit;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using UnityEngine.XR.Interaction.Toolkit.Interactables;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InteractionEventExample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XRGrabInteractable m_Interactable;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Awake() =&gt; m_Interactable = GetComponent&lt;XRGrabInteractable&gt;();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OnEnable()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이벤트 리스너 등록 (활성화 시)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m_Interactable.selectEntered.AddListener(OnSelectEntered);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m_Interactable.selectExited.AddListener(OnSelectExited);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m_Interactable.activated.AddListener(OnActivated);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OnDisable()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이벤트 리스너 해제 (비활성화 시 — 반드시 해제할 것)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m_Interactable.selectEntered.RemoveListener(OnSelectEntered);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m_Interactable.selectExited.RemoveListener(OnSelectExited);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m_Interactable.activated.RemoveListener(OnActivated);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OnSelectEntered(SelectEnterEventArgs args)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=&gt; Debug.Log($"잡힘: {args.interactorObject}");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XRI 이벤트를 코드에서 등록/해제하는 기본 패턴입니다. OnEnable에서 이벤트를 등록하고, OnDisable에서 반드시 해제합니다. 해제하지 않으면 메모리 누수나 에러가 발생할 수 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Interaction Layer Mask (Interactor-Interactable 매칭 필터)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인터랙션 가능 여부를 전용 레이어로 제어 (Physics Layer와 별개)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설정 위치: Project Settings &gt; XR Plug-in Management &gt; XRI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사용 예시: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'Grab' 레이어: 잡기 가능한 오브젝트만 필터링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'Teleport' 레이어: 텔레포트 대상만 필터링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'UI' 레이어: UI 요소만 필터링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Interactor와 Interactable의 Layer가 겹쳐야 인터랙션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Direct Interactor &amp; XRGrabInteractable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XRDirectInteractor - 트리거 콜라이더 기반 근접 인터랙션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물리적 접촉으로 상호작용 (컨트롤러/손 모두 사용 가능)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동작 흐름: 트리거 콜라이더 범위 진입 시 Hover -&gt; 그립 누르면 Select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필수 구성: Sphere/Box Collider (isTrigger = true)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주요 설정: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Keep Selected Target Valid: true (잡은 후 범위를 벗어나도 유지)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Interaction Layer Mask: 상호작용 대상 레이어 필터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XRGrabInteractable 심층 분석 (핵심 컴포넌트)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필수 구성: Collider + Rigidbody + XRGrabInteractable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Movement Type (잡은 오브젝트를 어떻게 이동시키는가):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Instantaneous - Transform 직접 변경 (즉시 이동, 물리 무시)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Kinematic - Rigidbody.MovePosition (물리 기반 이동)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VelocityTracking - 속도 기반 이동 (가장 자연스러움, 권장)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Attach Transform: 잡을 때의 기준점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자식 빈 오브젝트로 잡는 위치와 방향 지정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Movement Type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Instantaneous &amp; Kinematic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Instantaneous: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Transform 직접 변경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콜라이더 통과 가능 (주의)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가장 빠른 반응 속도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Kinematic: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Rigidbody.MovePosition 사용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충돌 감지는 수행하지만 밀리지 않음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안정적인 이동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VelocityTracking (권장)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Rigidbody.velocity 기반 이동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자연스러운 물리 반응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다른 오브젝트와 충돌 시 밀림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던졌을 때 자연스러운 궤적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Throw On Detach: true (던지기 활성화)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Throw Smoothing Duration: 0.25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Throw Velocity Scale: 1.5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XRGrabInteractable 설정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GrabbableObject.cs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잡기 가능한 오브젝트를 코드로 설정하고 이벤트를 연결하는 예시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using UnityEngine;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using UnityEngine.XR.Interaction.Toolkit;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using UnityEngine.XR.Interaction.Toolkit.Interactables;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GrabbableObject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var grab = GetComponent&lt;XRGrabInteractable&gt;();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속도 기반 이동 (가장 자연스러운 방식)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grab.movementType = XRBaseInteractable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.MovementType.VelocityTracking;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grab.throwOnDetach = true;           // 놓을 때 던지기 활성화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grab.throwSmoothingDuration = 0.25f; // 던지기 속도 평활화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grab.throwVelocityScale = 1.5f;      // 던지기 속도 배율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grab.throwAngularVelocityScale = 1f; // 회전 속도 배율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잡기/놓기 이벤트에 색상 변경 연결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grab.selectEntered.AddListener(OnGrab);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grab.selectExited.AddListener(OnRelease);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OnGrab(SelectEnterEventArgs args)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=&gt; GetComponent&lt;Renderer&gt;().material.color = Color.green;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OnRelease(SelectExitEventArgs args)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=&gt; GetComponent&lt;Renderer&gt;().material.color = Color.white;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VelocityTracking + throwOnDetach 조합으로 자연스러운 잡기와 던지기를 구현합니다. 잡으면 초록색, 놓으면 흰색으로 변합니다.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Grab 고급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Select Mode: Single (한 손으로만 잡기) / Multiple (양손 잡기)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Grab Transformer(잡기 변환 방식):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XRSingleGrabFreeTransformer - 기본 단일 잡기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XRDualGrabFreeTransformer - 양손 잡기 (스케일/회전 가능)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XRGeneralGrabTransformer - 범용 (단일+양손 통합, 권장)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Use Dynamic Attach: true 설정 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잡은 위치 그대로 Attach 생성 (오브젝트가 손으로 순간이동하지 않음)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Ray Interactor &amp; XR Poke Interactor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XRRayInteractor - 레이캐스트 기반 원거리 인터랙션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컨트롤러에서 광선을 쏘아 원거리 오브젝트와 상호작용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주요 용도: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원거리 오브젝트 잡기 / UI 포인팅 / 텔레포트 위치 지정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설정 옵션: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Max Raycast Distance: 최대 레이 길이 (기본 30)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Line Type: Straight(직선) / Projectile Curve(포물선) / Bezier Curve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텔레포트용: Projectile Curve 권장 (바닥을 자연스럽게 가리킴)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Interactor Line Visual 추가 시 레이가 화면에 표시됨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Ray Line Type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Straight Line (직선)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직선 레이캐스트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UI 포인팅에 적합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원거리 오브젝트 선택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정확한 조준이 필요할 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설정이 간단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Projectile Curve (포물선)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포물선 형태의 곡선 레이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텔레포트에 최적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바닥을 자연스럽게 가리킴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Velocity: 곡선 강도 조절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Sample Frequency: 곡선 부드러움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XRPokeInteractor - 손가락 터치 인터랙션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손가락으로 직접 누르는 터치 인터랙션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주요 용도: VR 버튼 누르기, 키보드 타이핑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동작 원리: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SphereCast(구 형태 감지)로 전방 감지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Poke Depth: 얼마나 깊이 눌러야 활성화되는지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Poke Direction: 어느 방향으로 눌러야 하는지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Interactable에 XRPokeFilter를 추가하면 Poke 반응 활성화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XRPokeFollowAffordanceFill (1/2) - 필드 &amp; 초기화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Assets/VRMPAssets/Scripts/Helpers/XRPokeFollowAffordanceFill.cs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Poke 인터랙션 시 버튼이 물리적으로 눌리는 시각 효과 구현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namespace XRMultiplayer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[AddComponentMenu("XR/XR Poke Follow Affordance Fill", 22)]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class XRPokeFollowAffordanceFill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[SerializeField] Transform m_PokeFollowTransform;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[SerializeField] RectTransform m_PokeFill;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[SerializeField] float m_SmoothingSpeed = 8f;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[SerializeField] bool m_ReturnToInitialPosition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void Awake()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// 부모에서 Poke 상태 데이터 제공자를 찾음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m_PokeDataProvider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GetComponentInParent&lt;IPokeStateDataProvider&gt;();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// Poke 상태가 변할 때마다 콜백 호출 등록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m_BindingsGroup.AddBinding(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m_PokeDataProvider.pokeStateData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    .SubscribeAndUpdate(OnPokeStateDataUpdated));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IPokeStateDataProvider를 통해 실시간 Poke 상태를 구독합니다. 버튼을 누르면 물리적으로 눌리는 피드백을 제공하는 컴포넌트입니다.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XRPokeFollowAffordanceFill (2/2) - 업데이트 로직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Assets/VRMPAssets/Scripts/Helpers/XRPokeFollowAffordanceFill.cs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(XRPokeFollowAffordanceFill 계속)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void OnPokeStateDataUpdated(PokeStateData data)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// 누른 깊이에 따라 버튼의 위치를 업데이트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var targetPosition = pokeTarget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.InverseTransformPoint(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    data.axisAlignedPokeInteractionPoint);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m_TransformTweenableVariable.target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targetPosition;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// 누른 강도(0~1)에 따라 Fill UI 크기를 업데이트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m_PokeStrengthTweenableVariable.target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    Mathf.Clamp01(data.interactionStrength);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Poke 깊이로 버튼 위치를, interactionStrength(0~1)로 Fill UI 크기를 업데이트합니다. 손가락을 깊이 누를수록 UI가 더 많이 채워집니다.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Ray vs Poke - UI 인터랙션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월드 스페이스 UI에서 Poke와 Ray 모두 사용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Canvas에 TrackedDeviceGraphicRaycaster 추가 필요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기본 GraphicRaycaster를 교체해야 VR 입력이 동작함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Ray 인터랙션: 원거리에서 UI 조작에 적합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Poke 인터랙션: 근거리에서 직접 터치 (몰입감 향상)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베스트 프랙티스: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두 방식 모두 지원하되, Poke 우선순위를 높게 설정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핸드 트래킹 모드에서는 Poke가 더 자연스러움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Socket Interactor &amp; 커스텀 인터랙션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XRSocketInteractor - 오브젝트를 정해진 위치에 스냅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특정 위치에 오브젝트를 자동으로 끼우는(스냅하는) 인터랙션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사용 사례: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열쇠를 자물쇠에 끼우기 / 무기를 홀스터에 장착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인벤토리 슬롯 / 퍼즐 조각 맞추기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동작 원리: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트리거 콜라이더 안에 오브젝트가 들어오면 자동 Hover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오브젝트를 놓으면 자동 Select(스냅) 처리됨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Recycle Delay Time: 빼낸 후 재장착 대기 시간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XRLockSocketInteractor - 조건부 소켓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Assets/VRMPAssets/Scripts/Helpers/XRLockSocketInteractor.cs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특정 '열쇠'를 가진 오브젝트만 장착 가능한 소켓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CanHover/CanSelect를 override하여 조건 검사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XRLockSocketInteractor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: XRSocketInteractor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Lock m_Lock; // 이 소켓의 자물쇠 정보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override bool CanHover(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IXRHoverInteractable interactable)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(!base.CanHover(interactable))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return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오브젝트가 열쇠(IKeychain)를 갖고 있는지 확인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var keyChain = interactable.transform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.GetComponent&lt;IKeychain&gt;();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return m_Lock.CanUnlock(keyChain);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override bool CanSelect(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IXRSelectInteractable interactable)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(!base.CanSelect(interactable))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return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var keyChain = interactable.transform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.GetComponent&lt;IKeychain&gt;();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return m_Lock.CanUnlock(keyChain);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XRSocketInteractor를 상속하여 CanHover/CanSelect을 override합니다. 열쇠(IKeychain)가 맞는 오브젝트만 장착을 허용하는 열쇠-자물쇠 패턴입니다.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커스텀 Interactable: XRKnob (노브/다이얼)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XRBaseInteractable을 상속하여 만든 회전 다이얼 인터랙션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구현: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selectEntered 이벤트로 잡기 시작, 초기 각도를 기록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ProcessInteractable에서 매 프레임 회전 업데이트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설정값: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Min/Max Angle: 회전 범위 / Clamped Motion: 범위 제한 여부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Value (0~1): 정규화된 현재 값, OnValueChange 이벤트로 외부 통지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XRKnob - 커스텀 노브 인터랙션 핵심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Assets/VRMPAssets/Scripts/Helpers/XRKnob.cs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XRKnob : XRBaseInteractable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Transform m_Handle;      // 회전할 핸들 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float m_Value = 0.5f;    // 현재 값 (0~1)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bool m_ClampedMotion = true; // 범위 제한 여부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float m_MaxAngle = 90.0f;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float m_MinAngle = -90.0f;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ValueChangeEvent m_OnValueChange;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protected override void OnEnable()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base.OnEnable();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selectEntered.AddListener(StartGrab);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selectExited.AddListener(EndGrab);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매 프레임 호출 — 인터랙터 위치로 회전 업데이트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override void ProcessInteractable(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XRInteractionUpdateOrder.UpdatePhase updatePhase)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base.ProcessInteractable(updatePhase);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(updatePhase == XRInteractionUpdateOrder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.UpdatePhase.Dynamic)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if (isSelected) UpdateRotation();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override Transform GetAttachTransform(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IXRInteractor interactor) =&gt; m_InteractorSnapTransform;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XRBaseInteractable을 상속한 회전 노브 인터랙션입니다. ProcessInteractable의 Dynamic 단계에서 매 프레임 인터랙터(손) 위치를 추적하여 노브 회전을 업데이트합니다.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커스텀 Interactable: XRLever (레버)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위/아래로 움직여 ON/OFF를 토글하는 레버 (XRKnob과 유사한 구조)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구현: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Interactor 위치에서 레버 방향 벡터를 계산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Atan2로 각도 변환 -&gt; Min/Max 범위 제한 -&gt; ON/OFF 판정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Dead Zone(불감 영역)으로 경계에서의 깜빡임 방지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이벤트: OnLeverActivate / OnLeverDeactivate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Lock To Value: 놓았을 때 ON 또는 OFF 위치로 자동 스냅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XRLever - 레버 핵심 로직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Assets/VRMPAssets/Scripts/Helpers/XRLever.cs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ON/OFF 토글 레버 — Dead Zone으로 경계 깜빡임 방지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XRLever : XRBaseInteractable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const float k_LeverDeadZone = 0.1f; // 불감 영역 (10%)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Transform m_Handle;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bool m_Value = false;   // 현재 ON/OFF 상태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bool m_LockToValue;     // 놓을 때 스냅 여부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float m_MaxAngle = 90.0f;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float m_MinAngle = -90.0f;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UnityEvent m_OnLeverActivate;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UnityEvent m_OnLeverDeactivate;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UpdateValue()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var lookDirection = GetLookDirection();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인터랙터 방향을 각도로 변환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var lookAngle = Mathf.Atan2(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lookDirection.z, lookDirection.y) * Mathf.Rad2Deg;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lookAngle = Mathf.Clamp(lookAngle, m_MinAngle, m_MaxAngle);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Dead Zone: 현재 상태 쪽 거리를 줄여서 전환을 어렵게 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var maxDist = Mathf.Abs(m_MaxAngle - lookAngle);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var minDist = Mathf.Abs(m_MinAngle - lookAngle);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(m_Value) maxDist *= (1f - k_LeverDeadZone);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else minDist *= (1f - k_LeverDeadZone);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SetHandleAngle(lookAngle);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SetValue(maxDist &lt; minDist);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Dead Zone 패턴으로 ON/OFF 경계 지점에서의 깜빡임(떨림)을 방지합니다. 놓으면 가장 가까운 ON/OFF 위치로 스냅됩니다.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[실습] 인터랙션 오브젝트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1: Grab 오브젝트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Cube, Sphere, Cylinder 각 1개씩 Scene에 배치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3개 모두에 Rigidbody + XRGrabInteractable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Cube: Movement Type을 Instantaneous로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Sphere: Movement Type을 Kinematic으로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Cylinder: Movement Type을 VelocityTracking으로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Cylinder: Throw On Detach=true, Scale=1.5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Play 후 각 오브젝트를 잡고 던져서 차이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3가지 Movement Type의 차이를 직접 체험하고, VelocityTracking이 가장 자연스러운 이유를 이해합니다.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2: 양손 잡기 &amp; Socket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Cube(0.1,0.1,1) 생성 + XRGrabInteractable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Select Mode를 Multiple로 변경 (양손 잡기 허용)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XRGeneralGrabTransformer 컴포넌트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Play에서 양손으로 잡아 회전/크기 변경 테스트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빈 GameObject에 XRSocketInteractor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SphereCollider (isTrigger, Radius=0.2)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Grab 오브젝트를 소켓 위치에 놓아 스냅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Show Interactable Hover Meshes를 활성화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양손 잡기와 소켓 스냅 인터랙션을 구현합니다.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3: UI 패널 &amp; Poke 버튼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Canvas 생성 (Render Mode: World Space, Scale 0.001)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TrackedDeviceGraphicRaycaster로 Raycaster 교체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Button 추가, OnClick에 Debug.Log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Play에서 Ray로 원거리 UI 클릭 테스트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Button에 XRSimpleInteractable 컴포넌트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Button에 XRPokeFilter 컴포넌트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Play에서 검지 손가락으로 버튼 직접 누르기 테스트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Button의 Normal/Pressed Color 변경으로 피드백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World Space UI에서 Ray와 Poke 인터랙션이 모두 동작하는 VR 버튼을 만듭니다.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4: 커스텀 인터랙션 체험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Cylinder에 XRKnob 스크립트를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Handle에 Cylinder 할당, Angle을 -90~90으로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Play에서 노브를 돌려 Value(0~1) 변화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OnValueChange 이벤트에 Debug.Log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Cube에 XRLever 스크립트를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Min Angle=-45, Max Angle=45로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Point Light의 enabled를 OnLeverActivate에 연결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커스텀 Interactable의 구현 원리를 이해하고, 노브로 값을 조절하고 레버로 조명을 ON/OFF합니다.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Input System 연동 &amp; Hand Tracking 기초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Unity Input System과 XR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XRI 3.x는 새 Input System 패키지 기반으로 입력을 처리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Input Action Asset(*.inputactions)으로 입력 액션을 정의/관리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XRI Default Input Actions가 Samples에 포함되어 있음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주요 Input Action (XRI LeftHand / RightHand):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Select (그립 버튼) / Activate (트리거 버튼) -&gt; float 값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Move / Turn (썸스틱) -&gt; Vector2 값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Input System 데이터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VR 컨트롤러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물리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OpenXR</a:t>
            </a:r>
            <a:br/>
            <a:r>
              <a:t>Binding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입력 매핑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Input Action</a:t>
            </a:r>
            <a:br/>
            <a:r>
              <a:t>Asset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액션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XRI 컴포넌트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Select/Activate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물리 입력 -&gt; OpenXR 바인딩 -&gt; Input Action -&gt; XRI 컴포넌트 순서로 입력이 처리됩니다. 개발자는 Input Action만 참조하면 됩니다.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Input Action 입력 읽기 (1/2) - 필드 &amp; 활성화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ControllerInputExample.cs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VR 컨트롤러 입력을 코드에서 직접 읽는 방법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using UnityEngine;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using UnityEngine.InputSystem;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ControllerInputExample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Inspector에서 Input Action을 드래그&amp;드롭으로 연결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InputActionReference m_GripAction;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InputActionReference m_TriggerAction;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InputActionReference m_ThumbstickAction;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OnEnable()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액션 활성화 (활성화해야 입력을 읽을 수 있음)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m_GripAction.action.Enable();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m_TriggerAction.action.Enable();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m_ThumbstickAction.action.Enable();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OnDisable()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액션 비활성화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m_GripAction.action.Disable();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m_TriggerAction.action.Disable();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m_ThumbstickAction.action.Disable();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InputActionReference를 Inspector에서 연결하고, OnEnable에서 활성화합니다. 활성화하지 않으면 입력값을 읽을 수 없습니다.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Input Action 입력 읽기 (2/2) - 값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ControllerInputExample.cs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(ControllerInputExample 계속)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void Update()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ReadValue&lt;T&gt;로 현재 프레임의 입력값을 읽음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float gripValue =          // 그립 버튼 (0.0 ~ 1.0)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m_GripAction.action.ReadValue&lt;float&gt;();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float triggerValue =       // 트리거 버튼 (0.0 ~ 1.0)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m_TriggerAction.action.ReadValue&lt;float&gt;();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Vector2 thumbstick =       // 썸스틱 방향 (-1 ~ 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m_ThumbstickAction.action.ReadValue&lt;Vector2&gt;();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이번 프레임에 버튼이 눌렸는지 확인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if (m_GripAction.action.WasPressedThisFrame())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Debug.Log("그립 버튼 눌림!");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ReadValue&lt;T&gt;로 실시간 입력값(float, Vector2)을 읽고, WasPressedThisFrame으로 버튼이 눌린 순간을 감지합니다.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Hand Tracking 기초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 Hands 1.7.2 - 핸드 트래킹 전용 패키지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지원 기기: Meta Quest 2/3/Pro 등 OpenXR 호환 디바이스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개념: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XRHandSubsystem(서브시스템 — 손 데이터를 제공하는 하위 모듈)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XRHandJoint - 26개 관절 데이터 (위치, 회전, 반지름)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XRHandSkeletonDriver - 관절 데이터를 Transform에 반영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XRInputModalityManager가 컨트롤러/핸드 모드를 자동 전환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Hand Joint 구조 - 26개 관절 손 스켈레톤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Wrist (손목) - 손 전체의 기준점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Thumb (엄지): Metacarpal -&gt; Proximal -&gt; Distal -&gt; Tip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Index~Little (4손가락): Metacarpal -&gt; Proximal -&gt; Intermediate -&gt; Distal -&gt; Tip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Palm (손바닥) - 가상의 관절, 손바닥 중심 위치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총 26개 관절의 Position, Rotation, Radius 데이터 제공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Controller vs Hand Tracking 인터랙션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컨트롤러 모드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Direct Interactor: 그립 버튼으로 잡기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Ray Interactor: 트리거로 선택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정확한 디지털 입력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물리 버튼의 촉각 피드백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진동 햅틱(진동 피드백)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핸드 트래킹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Direct Interactor: 핀치(엄지+검지 맞대기)로 잡기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Poke Interactor: 검지로 직접 터치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자연스러운 손 제스처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컨트롤러 불필요 (맨손 사용)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정밀도는 컨트롤러보다 낮음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Hand Tracking 데이터 접근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HandTrackingExample.cs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using UnityEngine;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using UnityEngine.XR.Hands;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public class HandTrackingExample : MonoBehaviour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XRHandSubsystem m_HandSubsystem;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var handSubsystems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new System.Collections.Generic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.List&lt;XRHandSubsystem&gt;();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SubsystemManager.GetSubsystems(handSubsystems);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(handSubsystems.Count &gt; 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m_HandSubsystem = handSubsystems[0];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void Update()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(m_HandSubsystem == null)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var leftHand = m_HandSubsystem.leftHand;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if (leftHand.isTracked) // 왼손이 추적 중인지 확인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var indexTip = leftHand.GetJoint(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XRHandJointID.IndexTip);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if (indexTip.TryGetPose(out Pose pose))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        Debug.Log($"검지 위치: {pose.position}");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9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XRHandSubsystem을 통해 손가락 관절 데이터를 읽는 예시입니다. 활성화된 Hand Subsystem을 가져온 뒤, 검지 끝(IndexTip) 관절의 위치/회전 데이터에 접근합니다. TryGetPose로 추적 성공 여부를 확인한 후 데이터를 사용합니다.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280160"/>
            <a:ext cx="27432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XRI 인터랙션은 Idle -&gt; Hover -&gt; Select -&gt; Activate 순서로 상태가 전이된다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Direct Interactor는 근접 잡기, Ray Interactor는 원거리/UI 포인팅에 사용한다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XRGrabInteractable의 Movement Type은 VelocityTracking이 가장 자연스럽다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Socket Interactor로 오브젝트 스냅, Lock Socket으로 조건부 장착을 구현한다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커스텀 Interactable은 XRBaseInteractable을 상속하여 만든다 (XRKnob, XRLever)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Input System의 ReadValue&lt;T&gt;로 컨트롤러 입력값을 정밀하게 읽을 수 있다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Hand Tracking은 XRHandSubsystem으로 26개 관절의 Pose 데이터를 실시간 제공한다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