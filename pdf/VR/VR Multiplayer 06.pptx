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0" y="1371600"/>
            <a:ext cx="2133295" cy="54864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B1B2F"/>
                </a:solidFill>
                <a:latin typeface="Malgun Gothic"/>
              </a:defRPr>
            </a:pPr>
            <a:r>
              <a:t>Ch.6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Malgun Gothic"/>
              </a:defRPr>
            </a:pPr>
            <a:r>
              <a:t>Netcode 핵심 - NetworkBehaviour &amp; 동기화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94A3B8"/>
                </a:solidFill>
                <a:latin typeface="Malgun Gothic"/>
              </a:defRPr>
            </a:pPr>
            <a:r>
              <a:t>NetworkVariable, RPC, Ownership 기반 멀티플레이어 상태 동기화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Malgun Gothic"/>
              </a:defRPr>
            </a:pPr>
            <a:r>
              <a:t>조영민 강사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608076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Malgun Gothic"/>
              </a:defRPr>
            </a:pPr>
            <a:r>
              <a:t>VR Multiplayer Game Development  |  Unity 6 + Netcode for GameObjects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algun Gothic"/>
              </a:defRPr>
            </a:pPr>
            <a:r>
              <a:t>목차 (Table of Contents)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27432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457200" cy="4572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B1B2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463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1F5F9"/>
                </a:solidFill>
                <a:latin typeface="Malgun Gothic"/>
              </a:defRPr>
            </a:pPr>
            <a:r>
              <a:t>NetworkBehaviour 생명주기 &amp; NetworkObject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21408"/>
            <a:ext cx="457200" cy="4572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B1B2F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12140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1F5F9"/>
                </a:solidFill>
                <a:latin typeface="Malgun Gothic"/>
              </a:defRPr>
            </a:pPr>
            <a:r>
              <a:t>NetworkVariable&lt;T&gt; - 상태 동기화의 핵심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779776"/>
            <a:ext cx="457200" cy="4572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B1B2F"/>
                </a:solidFill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779776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1F5F9"/>
                </a:solidFill>
                <a:latin typeface="Malgun Gothic"/>
              </a:defRPr>
            </a:pPr>
            <a:r>
              <a:t>RPC 패턴: [Rpc(SendTo.Owner/Everyone)]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38144"/>
            <a:ext cx="457200" cy="4572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B1B2F"/>
                </a:solidFill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438144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1F5F9"/>
                </a:solidFill>
                <a:latin typeface="Malgun Gothic"/>
              </a:defRPr>
            </a:pPr>
            <a:r>
              <a:t>Ownership 개념 &amp; ChangeOwnership()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096512"/>
            <a:ext cx="457200" cy="4572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B1B2F"/>
                </a:solidFill>
              </a:defRPr>
            </a:pPr>
            <a: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409651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1F5F9"/>
                </a:solidFill>
                <a:latin typeface="Malgun Gothic"/>
              </a:defRPr>
            </a:pPr>
            <a:r>
              <a:t>[실습] 네트워크 동기화 오브젝트 구현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24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00D2FF"/>
                </a:solidFill>
                <a:latin typeface="Malgun Gothic"/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algun Gothic"/>
              </a:defRPr>
            </a:pPr>
            <a:r>
              <a:t>NetworkBehaviour 생명주기 &amp; NetworkObject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4114800"/>
            <a:ext cx="36576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NetworkObject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Malgun Gothic"/>
              </a:defRPr>
            </a:pPr>
            <a:r>
              <a:t>네트워크로 동기화할 오브젝트에 반드시 필요한 기본 컴포넌트입니다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728655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네트워크를 통해 동기화되는 GameObject의 핵심 컴포넌트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모든 네트워크 오브젝트에 반드시 부착해야 함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NetworkObjectId: 네트워크 전체에서 고유한 식별자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OwnerClientId: 이 오브젝트를 소유한(제어할 권한이 있는) 클라이언트 ID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IsOwner: 현재 클라이언트가 소유자인지 확인하는 프로퍼티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IsSpawned: 네트워크에 스폰(생성되어 모든 클라이언트에 등장)되었는지 확인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Prefab에 NetworkObject를 추가하면 네트워크 동기화 대상이 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NetworkBehaviour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Malgun Gothic"/>
              </a:defRPr>
            </a:pPr>
            <a:r>
              <a:t>네트워크 기능을 사용하려면 MonoBehaviour 대신 이 클래스를 상속합니다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728655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MonoBehaviour를 확장(상속)하는 네트워크 기반 클래스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NetworkObject가 있는 GameObject에만 부착 가능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NetworkVariable(네트워크 변수)과 RPC(원격 메서드 호출)를 사용 가능하게 함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주요 프로퍼티: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IsOwner / IsServer / IsHost / IsClient: 소유자 및 역할 확인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NetworkManager / OwnerClientId: 매니저 참조 및 소유자 ID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MonoBehaviour의 Start/Update 대신 네트워크 콜백 사용 권장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NetworkBehaviour 생명주기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3200400"/>
            <a:ext cx="2011680" cy="109728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Awake / Start</a:t>
            </a:r>
          </a:p>
          <a:p>
            <a:pPr algn="ctr">
              <a:defRPr sz="1100">
                <a:solidFill>
                  <a:srgbClr val="1B1B2F"/>
                </a:solidFill>
                <a:latin typeface="Malgun Gothic"/>
              </a:defRPr>
            </a:pPr>
            <a:r>
              <a:t>일반 Unity 초기화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93469" y="3474720"/>
            <a:ext cx="6702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94A3B8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10763" y="3200400"/>
            <a:ext cx="2011680" cy="1097280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OnNetworkSpawn</a:t>
            </a:r>
          </a:p>
          <a:p>
            <a:pPr algn="ctr">
              <a:defRPr sz="1100">
                <a:solidFill>
                  <a:srgbClr val="1B1B2F"/>
                </a:solidFill>
                <a:latin typeface="Malgun Gothic"/>
              </a:defRPr>
            </a:pPr>
            <a:r>
              <a:t>네트워크 스폰 완료 시 호출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72712" y="3474720"/>
            <a:ext cx="6702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94A3B8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90007" y="3200400"/>
            <a:ext cx="2011680" cy="109728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OnNetworkPostSpawn</a:t>
            </a:r>
          </a:p>
          <a:p>
            <a:pPr algn="ctr">
              <a:defRPr sz="1100">
                <a:solidFill>
                  <a:srgbClr val="1B1B2F"/>
                </a:solidFill>
                <a:latin typeface="Malgun Gothic"/>
              </a:defRPr>
            </a:pPr>
            <a:r>
              <a:t>모든 NetworkBehaviour의 OnNetworkSpawn 완료 후 호출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51956" y="3474720"/>
            <a:ext cx="6702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94A3B8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251" y="3200400"/>
            <a:ext cx="2011680" cy="1097280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Update Loop</a:t>
            </a:r>
          </a:p>
          <a:p>
            <a:pPr algn="ctr">
              <a:defRPr sz="1100">
                <a:solidFill>
                  <a:srgbClr val="1B1B2F"/>
                </a:solidFill>
                <a:latin typeface="Malgun Gothic"/>
              </a:defRPr>
            </a:pPr>
            <a:r>
              <a:t>게임 로직 실행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31200" y="3474720"/>
            <a:ext cx="6702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94A3B8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48495" y="3200400"/>
            <a:ext cx="2011680" cy="1097280"/>
          </a:xfrm>
          <a:prstGeom prst="round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OnNetworkDespawn</a:t>
            </a:r>
          </a:p>
          <a:p>
            <a:pPr algn="ctr">
              <a:defRPr sz="1100">
                <a:solidFill>
                  <a:srgbClr val="1B1B2F"/>
                </a:solidFill>
                <a:latin typeface="Malgun Gothic"/>
              </a:defRPr>
            </a:pPr>
            <a:r>
              <a:t>네트워크에서 제거될 때 호출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75488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Malgun Gothic"/>
              </a:defRPr>
            </a:pPr>
            <a:r>
              <a:t>Awake/Start는 로컬 초기화, OnNetworkSpawn은 네트워크 연결 후 초기화입니다. 네트워크 관련 설정은 반드시 OnNetworkSpawn에서 해야 합니다.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NetworkBehaviour 기본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2FF"/>
                </a:solidFill>
                <a:latin typeface="Malgun Gothic"/>
              </a:defRPr>
            </a:pPr>
            <a:r>
              <a:t>MyNetworkBehaviour.cs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11277295" cy="493776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public class MyNetworkBehaviour : NetworkBehaviour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public override void OnNetworkSpawn()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base.OnNetworkSpawn();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// 네트워크 초기화 - IsOwner 체크 가능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if (IsOwner)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    // 소유자만 실행할 로직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    InitializeLocalPlayer();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public override void OnNetworkDespawn()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base.OnNetworkDespawn();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// 네트워크 정리 - 이벤트 해제 등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CleanupNetworkResources();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algun Gothic"/>
              </a:defRPr>
            </a:pPr>
            <a:r>
              <a:t>OnNetworkSpawn은 오브젝트가 네트워크에 등록된 후 호출되므로, IsOwner 같은 네트워크 프로퍼티를 안전하게 사용할 수 있습니다. 소유자와 비소유자를 분기하여 각각 다른 초기화를 수행하는 것이 일반적입니다.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MonoBehaviour vs NetworkBehaviour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029200" cy="457200"/>
          </a:xfrm>
          <a:prstGeom prst="roundRect">
            <a:avLst/>
          </a:prstGeom>
          <a:solidFill>
            <a:srgbClr val="2D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0D2FF"/>
                </a:solidFill>
                <a:latin typeface="Malgun Gothic"/>
              </a:defRPr>
            </a:pPr>
            <a:r>
              <a:t>MonoBehaviour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Start() / Awake()에서 초기화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로컬 데이터만 관리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직접 변수 할당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SendMessage 등 로컬 통신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Destroy()로 제거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30975" y="1463040"/>
            <a:ext cx="5029200" cy="457200"/>
          </a:xfrm>
          <a:prstGeom prst="roundRect">
            <a:avLst/>
          </a:prstGeom>
          <a:solidFill>
            <a:srgbClr val="2D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0D2FF"/>
                </a:solidFill>
                <a:latin typeface="Malgun Gothic"/>
              </a:defRPr>
            </a:pPr>
            <a:r>
              <a:t>NetworkBehaviour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30975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OnNetworkSpawn()에서 네트워크 초기화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NetworkVariable로 동기화 데이터 관리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RPC로 원격 메서드 호출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IsOwner로 소유자/비소유자 분기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NetworkObject.Despawn()으로 제거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NetworkObject 핵심 속성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OwnerClientId: 소유자 클라이언트의 고유 ID (ulong 타입)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NetworkObjectId: 네트워크 전체에서 고유한 오브젝트 ID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IsPlayerObject: 플레이어 캐릭터 오브젝트인지 여부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DontDestroyWithOwner (기본값: false)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true로 설정하면 소유자가 나가도 오브젝트가 파괴되지 않음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공유 오브젝트에 유용 (게임 보드, 아이템 등)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IsSpawned: 네트워크에 스폰된 상태인지 확인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ChangeOwnership(clientId): 소유권을 다른 클라이언트에게 이전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24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00D2FF"/>
                </a:solidFill>
                <a:latin typeface="Malgun Gothic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algun Gothic"/>
              </a:defRPr>
            </a:pPr>
            <a:r>
              <a:t>NetworkVariable&lt;T&gt; - 상태 동기화의 핵심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4114800"/>
            <a:ext cx="36576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NetworkVariable&lt;T&gt; 개념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Malgun Gothic"/>
              </a:defRPr>
            </a:pPr>
            <a:r>
              <a:t>값이 바뀌면 모든 클라이언트에 자동으로 전파되는 특수한 변수입니다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728655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NetworkVariable(네트워크 변수 — 값이 변경되면 자동으로 모든 클라이언트에 동기화되는 변수)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값이 변경되면 연결된 모든 클라이언트에 자동 전파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지원 타입: int, float, bool, Vector3, Quaternion, FixedString 등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INetworkSerializable 인터페이스를 구현하면 커스텀 타입도 사용 가능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생성자에서 초기값과 읽기/쓰기 권한을 설정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OnValueChanged 콜백(값이 바뀔 때 자동으로 호출되는 함수)으로 변경 감지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반드시 클래스 필드로 선언해야 함 (프로퍼티는 불가)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NetworkVariable 선언 패턴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2FF"/>
                </a:solidFill>
                <a:latin typeface="Malgun Gothic"/>
              </a:defRPr>
            </a:pPr>
            <a:r>
              <a:t>XRINetworkPlayer.cs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11277295" cy="493776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public class XRINetworkPlayer : NetworkBehaviour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// 플레이어 이름 - 소유자만 쓸 수 있고 모두가 읽을 수 있음 (readonly로 재할당 방지)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readonly NetworkVariable&lt;FixedString128Bytes&gt; m_PlayerName = 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new("", 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    NetworkVariableReadPermission.Everyone, 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    NetworkVariableWritePermission.Owner);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// 플레이어 색상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readonly NetworkVariable&lt;Color&gt; m_PlayerColor = 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new(Color.white, 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    NetworkVariableReadPermission.Everyone, 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    NetworkVariableWritePermission.Owner);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// 음성 ID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readonly NetworkVariable&lt;FixedString128Bytes&gt; m_PlayerVoiceId = 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new("", 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    NetworkVariableReadPermission.Everyone, 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    NetworkVariableWritePermission.Owner);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algun Gothic"/>
              </a:defRPr>
            </a:pPr>
            <a:r>
              <a:t>소유자만 값을 변경(Write)하고 모든 클라이언트가 읽을(Read) 수 있는 가장 일반적인 패턴입니다. FixedString128Bytes는 네트워크 전송에 최적화된 고정 길이 문자열로, 일반 string 대신 사용합니다. readonly는 변수 자체의 재할당을 막아 안전성을 높입니다.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NetworkVariable 권한 설정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ReadPermission (읽기 권한):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Everyone: 모든 클라이언트가 값을 읽을 수 있음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Owner: 소유자만 읽을 수 있음 (Distributed Authority 모드에서는 모두 읽기 가능)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WritePermission (쓰기 권한):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Owner: 소유자만 값을 변경할 수 있음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Server: 서버/호스트만 값을 변경할 수 있음 (DA에서는 SessionOwner)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일반적인 패턴: Read=Everyone, Write=Owner (이름, 색상 등)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게임 상태 패턴: Read=Everyone, Write=Server (점수, 타이머 등)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OnValueChanged 콜백 활용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2FF"/>
                </a:solidFill>
                <a:latin typeface="Malgun Gothic"/>
              </a:defRPr>
            </a:pPr>
            <a:r>
              <a:t>XRINetworkPlayer.cs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11277295" cy="493776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// OnEnable/OnDisable 패턴으로 콜백을 관리합니다.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void OnEnable()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m_PlayerName.OnValueChanged += UpdatePlayerName;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m_PlayerColor.OnValueChanged += UpdatePlayerColor;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void OnDisable()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m_PlayerName.OnValueChanged -= UpdatePlayerName;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m_PlayerColor.OnValueChanged -= UpdatePlayerColor;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// OnNetworkSpawn에서 CompleteSetup()을 호출하여 초기값을 적용합니다.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void CompleteSetup()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UpdatePlayerColor(Color.white, m_PlayerColor.Value);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UpdatePlayerName(new FixedString128Bytes(""), m_PlayerName.Value);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void UpdatePlayerName(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FixedString128Bytes oldValue, 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FixedString128Bytes newValue)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onNameUpdated?.Invoke(newValue.ToString());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void UpdatePlayerColor(Color oldValue, Color newValue)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onColorUpdated?.Invoke(newValue);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algun Gothic"/>
              </a:defRPr>
            </a:pPr>
            <a:r>
              <a:t>OnEnable에서 콜백을 등록하고 OnDisable에서 해제하여 메모리 누수를 방지합니다. 콜백 함수는 (이전값, 새값)을 매개변수로 받습니다. 주의: 최초 네트워크 동기화 시에는 OnValueChanged가 호출되지 않으므로, CompleteSetup()에서 현재 값을 수동으로 적용해야 합니다.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NetworkVariable 타입 제약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NGO(Netcode for GameObjects) 2.x에서는 managed type(참조 타입, class)도 지원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단, NetworkList&lt;T&gt;는 unmanaged 타입(값 타입, struct)만 지원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string 대신 FixedString128Bytes(고정 길이 네트워크용 문자열) 사용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List 대신 NetworkList 사용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Dictionary는 직접 지원하지 않으므로 커스텀 구현 필요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활용 예시: m_PlatformType으로 플랫폼(PC, Quest 등)을 동기화하여 크로스 플랫폼 구분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활용 예시: selfMuted로 음소거 상태를 동기화하여 다른 플레이어에게 아이콘 표시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NetworkList 활용 예시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2FF"/>
                </a:solidFill>
                <a:latin typeface="Malgun Gothic"/>
              </a:defRPr>
            </a:pPr>
            <a:r>
              <a:t>MiniGameManager.cs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11277295" cy="493776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public class MiniGameManager : NetworkBehaviour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// 대기 중인 플레이어 목록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NetworkList&lt;ulong&gt; m_QueuedUpPlayers;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// 현재 게임 중인 플레이어 목록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NetworkList&lt;ulong&gt; m_CurrentPlayers;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// 게임 상태 머신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readonly NetworkVariable&lt;GameState&gt; networkedGameState = 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new(GameState.PreGame,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    NetworkVariableReadPermission.Everyone,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    NetworkVariableWritePermission.Owner);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void Start()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// NetworkList는 OnNetworkSpawn() 전에 초기화 (Start 또는 Awake에서 가능)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m_QueuedUpPlayers = new NetworkList&lt;ulong&gt;();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m_CurrentPlayers = new NetworkList&lt;ulong&gt;();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public override void OnNetworkSpawn()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networkedGameState.OnValueChanged += GameStateValueChanged;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m_BestAllScore.OnValueChanged += BestAllScoreChanged;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m_CurrentPlayers.OnListChanged += UpdatePlayerList;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algun Gothic"/>
              </a:defRPr>
            </a:pPr>
            <a:r>
              <a:t>NetworkList는 여러 항목을 동기화해야 할 때 사용합니다. Start()에서 미리 초기화하고, OnNetworkSpawn()에서 변경 감지 콜백을 등록합니다. Add/Remove로 항목을 추가/제거하면 모든 클라이언트에 자동 반영됩니다.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NetworkVariable vs NetworkList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029200" cy="457200"/>
          </a:xfrm>
          <a:prstGeom prst="roundRect">
            <a:avLst/>
          </a:prstGeom>
          <a:solidFill>
            <a:srgbClr val="2D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0D2FF"/>
                </a:solidFill>
                <a:latin typeface="Malgun Gothic"/>
              </a:defRPr>
            </a:pPr>
            <a:r>
              <a:t>NetworkVariable&lt;T&gt;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단일 값 동기화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값 타입(struct) + 참조 타입(class) 지원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OnValueChanged 콜백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선언 시 초기화 가능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자동 직렬화(데이터를 전송 가능한 형태로 변환)/역직렬화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예: 이름, 색상, 점수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30975" y="1463040"/>
            <a:ext cx="5029200" cy="457200"/>
          </a:xfrm>
          <a:prstGeom prst="roundRect">
            <a:avLst/>
          </a:prstGeom>
          <a:solidFill>
            <a:srgbClr val="2D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0D2FF"/>
                </a:solidFill>
                <a:latin typeface="Malgun Gothic"/>
              </a:defRPr>
            </a:pPr>
            <a:r>
              <a:t>NetworkList&lt;T&gt;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30975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리스트(컬렉션) 동기화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Add, Remove, Insert 지원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OnListChanged 콜백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반드시 Start() 또는 Awake()에서 초기화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변경 이벤트에 변경 타입 정보 포함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예: 플레이어 목록, 대기 큐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24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00D2FF"/>
                </a:solidFill>
                <a:latin typeface="Malgun Gothic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algun Gothic"/>
              </a:defRPr>
            </a:pPr>
            <a:r>
              <a:t>RPC 패턴: [Rpc(SendTo.Owner/Everyone)]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4114800"/>
            <a:ext cx="36576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RPC(Remote Procedure Call — 원격 메서드 호출)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Malgun Gothic"/>
              </a:defRPr>
            </a:pPr>
            <a:r>
              <a:t>다른 클라이언트의 컴퓨터에서 내가 원하는 함수를 실행시킬 수 있는 기능입니다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728655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원격 클라이언트에서 메서드를 실행하는 통신 메커니즘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NetworkVariable이 '상태 동기화'라면 RPC는 '이벤트/액션 전달'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NGO(Netcode for GameObjects)의 통합 RPC 문법: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[Rpc(SendTo.Owner / Everyone / Server)]: 대상 지정 전송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[Rpc(SendTo.NotOwner / NotServer / Authority)]: 제외 또는 권한 기반 전송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메서드 이름은 반드시 Rpc로 끝나야 함 (예: SubmitScoreRpc)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핵심 원칙: '상태'는 NetworkVariable, '이벤트'는 RPC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RPC SendTo 방향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3200400"/>
            <a:ext cx="2286000" cy="109728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SendTo.Server</a:t>
            </a:r>
          </a:p>
          <a:p>
            <a:pPr algn="ctr">
              <a:defRPr sz="1100">
                <a:solidFill>
                  <a:srgbClr val="1B1B2F"/>
                </a:solidFill>
                <a:latin typeface="Malgun Gothic"/>
              </a:defRPr>
            </a:pPr>
            <a:r>
              <a:t>클라이언트 -&gt; 서버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75985" y="3474720"/>
            <a:ext cx="21128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94A3B8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45738" y="3200400"/>
            <a:ext cx="2286000" cy="1097280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SendTo.Owner</a:t>
            </a:r>
          </a:p>
          <a:p>
            <a:pPr algn="ctr">
              <a:defRPr sz="1100">
                <a:solidFill>
                  <a:srgbClr val="1B1B2F"/>
                </a:solidFill>
                <a:latin typeface="Malgun Gothic"/>
              </a:defRPr>
            </a:pPr>
            <a:r>
              <a:t>누구든 -&gt; 소유자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90203" y="3474720"/>
            <a:ext cx="21128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94A3B8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9956" y="3200400"/>
            <a:ext cx="2286000" cy="1097280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SendTo.Everyone</a:t>
            </a:r>
          </a:p>
          <a:p>
            <a:pPr algn="ctr">
              <a:defRPr sz="1100">
                <a:solidFill>
                  <a:srgbClr val="1B1B2F"/>
                </a:solidFill>
                <a:latin typeface="Malgun Gothic"/>
              </a:defRPr>
            </a:pPr>
            <a:r>
              <a:t>모든 클라이언트 실행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04422" y="3474720"/>
            <a:ext cx="21128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94A3B8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74175" y="3200400"/>
            <a:ext cx="2286000" cy="1097280"/>
          </a:xfrm>
          <a:prstGeom prst="round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SendTo.NotOwner</a:t>
            </a:r>
          </a:p>
          <a:p>
            <a:pPr algn="ctr">
              <a:defRPr sz="1100">
                <a:solidFill>
                  <a:srgbClr val="1B1B2F"/>
                </a:solidFill>
                <a:latin typeface="Malgun Gothic"/>
              </a:defRPr>
            </a:pPr>
            <a:r>
              <a:t>소유자 제외 전체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75488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Malgun Gothic"/>
              </a:defRPr>
            </a:pPr>
            <a:r>
              <a:t>SendTo 옵션으로 RPC가 실행될 대상을 지정합니다. 예를 들어 SendTo.Everyone을 사용하면 호출한 쪽 포함 모든 클라이언트에서 해당 메서드가 실행됩니다.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RPC 기본 사용 예시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2FF"/>
                </a:solidFill>
                <a:latin typeface="Malgun Gothic"/>
              </a:defRPr>
            </a:pPr>
            <a:r>
              <a:t>MiniGameManager.cs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11277295" cy="493776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// 소유자에게 플레이어 추가 요청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[Rpc(SendTo.Owner)]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void AddPlayerOwnerRpc(ulong clientId)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// 소유자(서버)에서만 실행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// AddPlayerRpc는 조건과 무관하게 항상 호출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AddPlayerRpc(clientId);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// 인원 제한 검증 후 NetworkList에 추가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if (m_QueuedUpPlayers.Count &lt; maxAllowedPlayers)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    m_QueuedUpPlayers.Add(clientId);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// OnListChanged 콜백 - 모든 클라이언트에서 UI 업데이트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void UpdatePlayerList(NetworkListEvent&lt;ulong&gt; changeEvent)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// NetworkList 변경 시 자동 호출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UpdateUI();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algun Gothic"/>
              </a:defRPr>
            </a:pPr>
            <a:r>
              <a:t>클라이언트가 참가를 요청하면 Owner RPC로 소유자에게 전달되고, 소유자가 인원 제한을 검증한 뒤 NetworkList에 추가합니다. NetworkList가 변경되면 OnListChanged 콜백이 모든 클라이언트에서 자동 호출되어 UI가 갱신됩니다.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RPC vs NetworkVariable 사용 기준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NetworkVariable을 사용할 때: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지속적으로 유지되어야 하는 상태 (이름, 점수, 위치)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늦게 참가한 플레이어도 현재 값을 알아야 할 때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자동 동기화가 필요한 데이터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RPC를 사용할 때: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일회성 이벤트/액션 (공격, 점프, 이펙트 재생)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특정 대상에게만 전달할 때 (소유자, 서버)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매개변수가 복잡하거나 검증 로직이 필요할 때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핵심 원칙: '상태'는 NetworkVariable, '이벤트'는 RPC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점수 제출 RPC 패턴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2FF"/>
                </a:solidFill>
                <a:latin typeface="Malgun Gothic"/>
              </a:defRPr>
            </a:pPr>
            <a:r>
              <a:t>MiniGameManager.cs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11277295" cy="493776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[Rpc(SendTo.Everyone)]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public void SubmitScoreRpc(float score, ulong clientId, bool finishGameOnScoreSubmit = false)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if (XRINetworkGameManager.Instance.TryGetPlayerByID(clientId, out XRINetworkPlayer player))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    if (currentPlayerDictionary.ContainsKey(player))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   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        currentPlayerDictionary[player].UpdateScore(score, currentMiniGame.currentGameType);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        if (finishGameOnScoreSubmit)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       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            currentPlayerDictionary[player].isFinished = true;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            if (player.IsLocalPlayer)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           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                FinishGame();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        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    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SortPlayers();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CheckIfAllPlayersAreFinished();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algun Gothic"/>
              </a:defRPr>
            </a:pPr>
            <a:r>
              <a:t>SendTo.Everyone을 사용하여 한 번의 호출로 모든 클라이언트의 스코어보드가 동시에 갱신됩니다. 점수 업데이트 후 순위를 재정렬하고, 모든 플레이어가 완료했는지 확인합니다. IsLocalPlayer로 본인에게만 게임 종료 처리를 적용합니다.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Owner RPC -&gt; Everyone RPC 패턴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3200400"/>
            <a:ext cx="2286000" cy="109728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Client A</a:t>
            </a:r>
          </a:p>
          <a:p>
            <a:pPr algn="ctr">
              <a:defRPr sz="1100">
                <a:solidFill>
                  <a:srgbClr val="1B1B2F"/>
                </a:solidFill>
                <a:latin typeface="Malgun Gothic"/>
              </a:defRPr>
            </a:pPr>
            <a:r>
              <a:t>AddPlayerOwnerRpc() 호출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75985" y="3474720"/>
            <a:ext cx="21128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94A3B8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45738" y="3200400"/>
            <a:ext cx="2286000" cy="1097280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Owner (검증)</a:t>
            </a:r>
          </a:p>
          <a:p>
            <a:pPr algn="ctr">
              <a:defRPr sz="1100">
                <a:solidFill>
                  <a:srgbClr val="1B1B2F"/>
                </a:solidFill>
                <a:latin typeface="Malgun Gothic"/>
              </a:defRPr>
            </a:pPr>
            <a:r>
              <a:t>인원 제한 등 조건 확인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90203" y="3474720"/>
            <a:ext cx="21128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94A3B8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9956" y="3200400"/>
            <a:ext cx="2286000" cy="1097280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AddPlayerRpc</a:t>
            </a:r>
          </a:p>
          <a:p>
            <a:pPr algn="ctr">
              <a:defRPr sz="1100">
                <a:solidFill>
                  <a:srgbClr val="1B1B2F"/>
                </a:solidFill>
                <a:latin typeface="Malgun Gothic"/>
              </a:defRPr>
            </a:pPr>
            <a:r>
              <a:t>SendTo.Everyone으로 전체 알림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04422" y="3474720"/>
            <a:ext cx="21128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94A3B8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74175" y="3200400"/>
            <a:ext cx="2286000" cy="1097280"/>
          </a:xfrm>
          <a:prstGeom prst="round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All Clients</a:t>
            </a:r>
          </a:p>
          <a:p>
            <a:pPr algn="ctr">
              <a:defRPr sz="1100">
                <a:solidFill>
                  <a:srgbClr val="1B1B2F"/>
                </a:solidFill>
                <a:latin typeface="Malgun Gothic"/>
              </a:defRPr>
            </a:pPr>
            <a:r>
              <a:t>UI 업데이트 + 상태 반영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75488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Malgun Gothic"/>
              </a:defRPr>
            </a:pPr>
            <a:r>
              <a:t>클라이언트가 요청하면 소유자가 검증한 뒤 전체에게 브로드캐스트(전체 전파)하는 안전한 패턴입니다. 이렇게 하면 검증 없이 클라이언트가 직접 상태를 변경하는 것을 방지합니다.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RPC 주의사항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029200" cy="457200"/>
          </a:xfrm>
          <a:prstGeom prst="roundRect">
            <a:avLst/>
          </a:prstGeom>
          <a:solidFill>
            <a:srgbClr val="2D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0D2FF"/>
                </a:solidFill>
                <a:latin typeface="Malgun Gothic"/>
              </a:defRPr>
            </a:pPr>
            <a:r>
              <a:t>올바른 사용법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메서드명 끝에 Rpc 접미사 붙이기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[Rpc] 어트리뷰트 명시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직렬화 가능한 매개변수만 사용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권한 확인 후 호출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에러 처리 포함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30975" y="1463040"/>
            <a:ext cx="5029200" cy="457200"/>
          </a:xfrm>
          <a:prstGeom prst="roundRect">
            <a:avLst/>
          </a:prstGeom>
          <a:solidFill>
            <a:srgbClr val="2D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0D2FF"/>
                </a:solidFill>
                <a:latin typeface="Malgun Gothic"/>
              </a:defRPr>
            </a:pPr>
            <a:r>
              <a:t>주의할 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30975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대용량 데이터 전송 금지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매 프레임 호출 지양 (네트워크 대역폭 소모)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RPC는 void만 반환 가능. 응답이 필요하면 별도 RPC로 회신 (예: Owner RPC 요청 -&gt; Everyone RPC 응답)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스폰 전에는 호출 불가 (IsSpawned 확인)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네트워크 지연으로 실행 순서가 달라질 수 있음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24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00D2FF"/>
                </a:solidFill>
                <a:latin typeface="Malgun Gothic"/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algun Gothic"/>
              </a:defRPr>
            </a:pPr>
            <a:r>
              <a:t>Ownership 개념 &amp; ChangeOwnership()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4114800"/>
            <a:ext cx="36576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Ownership(소유권 — 네트워크 오브젝트를 제어할 수 있는 권한)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Malgun Gothic"/>
              </a:defRPr>
            </a:pPr>
            <a:r>
              <a:t>누가 이 오브젝트를 제어할 수 있는지를 결정하는 핵심 개념입니다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728655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각 NetworkObject에는 소유자(Owner) 클라이언트가 있음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소유자만 NetworkVariable(WritePerm=Owner)의 값을 변경 가능, IsOwner로 확인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플레이어 프리팹: 스폰한 클라이언트가 자동으로 소유자가 됨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비플레이어 오브젝트: 서버/호스트가 기본 소유자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Distributed Authority(DA) 모드에서의 소유권: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SessionOwner(세션 관리자 — 서버 역할을 대신하는 클라이언트)가 전체 관리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소유권은 동적으로 이전 가능 (ChangeOwnership 사용)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ChangeOwnership 사용 예시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2FF"/>
                </a:solidFill>
                <a:latin typeface="Malgun Gothic"/>
              </a:defRPr>
            </a:pPr>
            <a:r>
              <a:t>NetworkInteractable.cs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11277295" cy="493776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public class NetworkInteractable : NetworkBehaviour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// 소유권 이전 요청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public void RequestOwnership()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    ulong myClientId = NetworkManager.Singleton.LocalClientId;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    // 소유권 변경 (DA에서는 소유자가 호출 가능 (조건부))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    NetworkObject.ChangeOwnership(myClientId);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// 소유권 잠금 - 다른 클라이언트가 빼앗지 못하게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public void LockOwnership()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    NetworkObject.SetOwnershipLock(true);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// 소유권 잠금 해제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public void UnlockOwnership()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    NetworkObject.SetOwnershipLock(false);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algun Gothic"/>
              </a:defRPr>
            </a:pPr>
            <a:r>
              <a:t>ChangeOwnership으로 소유권을 이전하고, SetOwnershipLock으로 잠금을 관리합니다. VR에서 오브젝트를 잡으면 소유권을 가져오고 잠금을 걸어 다른 플레이어가 빼앗지 못하게 하고, 놓을 때 잠금을 해제하는 것이 일반적인 패턴입니다.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소유권 이전 흐름 (VR 그랩 예시)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3200400"/>
            <a:ext cx="2286000" cy="109728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Player A 그랩</a:t>
            </a:r>
          </a:p>
          <a:p>
            <a:pPr algn="ctr">
              <a:defRPr sz="1100">
                <a:solidFill>
                  <a:srgbClr val="1B1B2F"/>
                </a:solidFill>
                <a:latin typeface="Malgun Gothic"/>
              </a:defRPr>
            </a:pPr>
            <a:r>
              <a:t>ChangeOwnership(A)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75985" y="3474720"/>
            <a:ext cx="21128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94A3B8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45738" y="3200400"/>
            <a:ext cx="2286000" cy="1097280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A가 소유자</a:t>
            </a:r>
          </a:p>
          <a:p>
            <a:pPr algn="ctr">
              <a:defRPr sz="1100">
                <a:solidFill>
                  <a:srgbClr val="1B1B2F"/>
                </a:solidFill>
                <a:latin typeface="Malgun Gothic"/>
              </a:defRPr>
            </a:pPr>
            <a:r>
              <a:t>이동/회전 동기화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90203" y="3474720"/>
            <a:ext cx="21128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94A3B8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9956" y="3200400"/>
            <a:ext cx="2286000" cy="1097280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Player B 그랩</a:t>
            </a:r>
          </a:p>
          <a:p>
            <a:pPr algn="ctr">
              <a:defRPr sz="1100">
                <a:solidFill>
                  <a:srgbClr val="1B1B2F"/>
                </a:solidFill>
                <a:latin typeface="Malgun Gothic"/>
              </a:defRPr>
            </a:pPr>
            <a:r>
              <a:t>ChangeOwnership(B)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04422" y="3474720"/>
            <a:ext cx="21128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94A3B8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74175" y="3200400"/>
            <a:ext cx="2286000" cy="1097280"/>
          </a:xfrm>
          <a:prstGeom prst="round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B가 소유자</a:t>
            </a:r>
          </a:p>
          <a:p>
            <a:pPr algn="ctr">
              <a:defRPr sz="1100">
                <a:solidFill>
                  <a:srgbClr val="1B1B2F"/>
                </a:solidFill>
                <a:latin typeface="Malgun Gothic"/>
              </a:defRPr>
            </a:pPr>
            <a:r>
              <a:t>이동/회전 동기화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75488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Malgun Gothic"/>
              </a:defRPr>
            </a:pPr>
            <a:r>
              <a:t>VR에서 오브젝트를 잡을 때마다 소유권이 해당 플레이어로 이전됩니다. 소유자가 된 플레이어만 해당 오브젝트의 위치와 회전을 변경할 수 있습니다.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DontDestroyWithOwner 옵션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기본 동작: 소유자가 세션을 떠나면 소유하던 오브젝트도 함께 파괴됨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DontDestroyWithOwner = true로 설정하면: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소유자가 떠나도 오브젝트가 네트워크에 유지됨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소유권이 SessionOwner에게 자동 이전됨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활용 사례: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게임 보드, 미니게임 매니저 등 공유 오브젝트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드롭된 아이템 (떨어뜨린 플레이어가 나가도 유지)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환경 오브젝트 (문, 레버 등)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소유권 잠금 활용 시나리오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029200" cy="457200"/>
          </a:xfrm>
          <a:prstGeom prst="roundRect">
            <a:avLst/>
          </a:prstGeom>
          <a:solidFill>
            <a:srgbClr val="2D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0D2FF"/>
                </a:solidFill>
                <a:latin typeface="Malgun Gothic"/>
              </a:defRPr>
            </a:pPr>
            <a:r>
              <a:t>SetOwnershipLock(true) — 잠금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오브젝트를 잡고 있는 동안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중요한 작업 수행 중 보호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특정 플레이어에게 독점 권한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미니게임 진행 중 매니저 보호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30975" y="1463040"/>
            <a:ext cx="5029200" cy="457200"/>
          </a:xfrm>
          <a:prstGeom prst="roundRect">
            <a:avLst/>
          </a:prstGeom>
          <a:solidFill>
            <a:srgbClr val="2D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0D2FF"/>
                </a:solidFill>
                <a:latin typeface="Malgun Gothic"/>
              </a:defRPr>
            </a:pPr>
            <a:r>
              <a:t>SetOwnershipLock(false) — 해제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30975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오브젝트를 놓을 때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작업 완료 후 다른 플레이어에게 양도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턴 종료 시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미니게임 종료 후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Distributed Authority에서 SessionOwner 확인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2FF"/>
                </a:solidFill>
                <a:latin typeface="Malgun Gothic"/>
              </a:defRPr>
            </a:pPr>
            <a:r>
              <a:t>GameManager.cs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11277295" cy="493776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public class GameManager : NetworkBehaviour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public override void OnNetworkSpawn()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base.OnNetworkSpawn();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// 현재 세션 오너의 클라이언트 ID 확인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ulong sessionOwner = NetworkManager.Singleton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    .CurrentSessionOwner;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bool isSessionOwner = 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    NetworkManager.Singleton.LocalClientId == sessionOwner;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if (isSessionOwner)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    Debug.Log("나는 세션 오너입니다 - 게임 관리 권한 보유");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    InitializeGameState();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algun Gothic"/>
              </a:defRPr>
            </a:pPr>
            <a:r>
              <a:t>DA 모드에는 전용 서버가 없으므로, SessionOwner가 서버 역할(게임 상태 초기화, 전체 관리 등)을 대신합니다. 세션을 처음 만든 클라이언트가 SessionOwner가 되며, 해당 클라이언트가 나가면 다른 클라이언트에게 자동으로 역할이 넘어갑니다.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24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00D2FF"/>
                </a:solidFill>
                <a:latin typeface="Malgun Gothic"/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algun Gothic"/>
              </a:defRPr>
            </a:pPr>
            <a:r>
              <a:t>[실습] 네트워크 동기화 오브젝트 구현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4114800"/>
            <a:ext cx="36576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1645920" cy="411480"/>
          </a:xfrm>
          <a:prstGeom prst="round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실습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실습: 네트워크 동기화 큐브 만들기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2286000" cy="254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72865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Malgun Gothic"/>
              </a:defRPr>
            </a:pPr>
            <a:r>
              <a:t>Step 1. Cube 생성 후 Scale을 (0.3, 0.3, 0.3)으로 설정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Malgun Gothic"/>
              </a:defRPr>
            </a:pPr>
            <a:r>
              <a:t>Step 2. NetworkObject 컴포넌트 추가, DontDestroyWithOwner 체크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Malgun Gothic"/>
              </a:defRPr>
            </a:pPr>
            <a:r>
              <a:t>Step 3. NetworkSyncCube.cs 스크립트 생성, NetworkBehaviour 상속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Malgun Gothic"/>
              </a:defRPr>
            </a:pPr>
            <a:r>
              <a:t>Step 4. NetworkVariable&lt;Color&gt; 선언 (WritePerm=Owner)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Malgun Gothic"/>
              </a:defRPr>
            </a:pPr>
            <a:r>
              <a:t>Step 5. OnNetworkSpawn에서 OnValueChanged 콜백 등록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Malgun Gothic"/>
              </a:defRPr>
            </a:pPr>
            <a:r>
              <a:t>Step 6. XR Grab Interactable 추가 + OnGrab 이벤트에 메서드 연결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Malgun Gothic"/>
              </a:defRPr>
            </a:pPr>
            <a:r>
              <a:t>Step 7. OnGrab에서 ChangeOwnership + SetOwnershipLock 호출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Malgun Gothic"/>
              </a:defRPr>
            </a:pPr>
            <a:r>
              <a:t>Step 8. Prefab으로 저장 후 Network Prefab List에 등록, 테스트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69280"/>
            <a:ext cx="10728655" cy="640080"/>
          </a:xfrm>
          <a:prstGeom prst="roundRect">
            <a:avLst/>
          </a:prstGeom>
          <a:solidFill>
            <a:srgbClr val="2D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B923C"/>
                </a:solidFill>
                <a:latin typeface="Malgun Gothic"/>
              </a:defRPr>
            </a:pPr>
            <a:r>
              <a:t>🎯 목표: NetworkVariable로 색상을 동기화하고, RPC로 이펙트를 전파하며, 소유권 이전이 가능한 네트워크 큐브를 완성합니다.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실습 코드: NetworkSyncCube (1/2) - 변수 &amp; 초기화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2FF"/>
                </a:solidFill>
                <a:latin typeface="Malgun Gothic"/>
              </a:defRPr>
            </a:pPr>
            <a:r>
              <a:t>NetworkSyncCube.cs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11277295" cy="493776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public class NetworkSyncCube : NetworkBehaviour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[SerializeField] Renderer m_Renderer;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NetworkVariable&lt;Color&gt; m_CubeColor =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new(Color.white,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    NetworkVariableReadPermission.Everyone,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    NetworkVariableWritePermission.Owner);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public override void OnNetworkSpawn()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base.OnNetworkSpawn();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m_CubeColor.OnValueChanged += OnColorChanged;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OnColorChanged(default, m_CubeColor.Value);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void OnColorChanged(Color oldVal, Color newVal)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m_Renderer.material.color = newVal;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public void SetColor(Color color)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if (IsOwner)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    m_CubeColor.Value = color;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algun Gothic"/>
              </a:defRPr>
            </a:pPr>
            <a:r>
              <a:t>소유자가 SetColor()로 색상을 변경하면 NetworkVariable이 값을 모든 클라이언트에 전파하고, OnColorChanged 콜백이 호출되어 큐브의 Material 색상이 바뀝니다. OnNetworkSpawn에서 초기값을 수동 적용하여 늦게 참가한 플레이어도 올바른 색상을 볼 수 있게 합니다.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실습 코드: NetworkSyncCube (2/2) - 소유권 &amp; RPC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2FF"/>
                </a:solidFill>
                <a:latin typeface="Malgun Gothic"/>
              </a:defRPr>
            </a:pPr>
            <a:r>
              <a:t>NetworkSyncCube.cs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11277295" cy="493776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// NetworkSyncCube 클래스 (계속)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// 그랩 시 호출 - 소유권 이전 + 잠금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public void OnGrab()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NetworkObject.ChangeOwnership(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    NetworkManager.Singleton.LocalClientId);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NetworkObject.SetOwnershipLock(true);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// 릴리스 시 호출 - 잠금 해제 + 이펙트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public void OnRelease()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NetworkObject.SetOwnershipLock(false);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PlayEffectRpc();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[Rpc(SendTo.Everyone)]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void PlayEffectRpc()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// 파티클 등 이펙트 재생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Debug.Log("이펙트 재생!");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algun Gothic"/>
              </a:defRPr>
            </a:pPr>
            <a:r>
              <a:t>VR에서 큐브를 잡으면(OnGrab) 소유권을 가져오고 잠금을 걸어 다른 플레이어가 동시에 제어하지 못하게 합니다. 놓으면(OnRelease) 잠금을 해제하고, SendTo.Everyone RPC로 모든 클라이언트에서 이펙트를 동시에 재생합니다.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실습 체크포인트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1단계: NetworkObject가 올바르게 스폰되는가?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2단계: OnNetworkSpawn이 호출되고 IsOwner가 올바른가?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3단계: 소유자가 색상을 변경하면 다른 클라이언트에도 반영되는가?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4단계: 그랩 시 소유권이 이전되는가?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5단계: 소유권 잠금이 정상 동작하는가?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6단계: RPC 이펙트가 모든 클라이언트에서 재생되는가?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7단계: 늦게 참가한 플레이어에게도 현재 색상이 보이는가?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자주 발생하는 문제와 해결법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"NetworkVariable 권한 오류"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원인: 소유자가 아닌데 값을 변경하려 함. IsOwner 확인 후 변경하거나, ChangeOwnership을 먼저 수행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"OnValueChanged가 호출되지 않음"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원인: 콜백 미등록 또는 최초 동기화. OnNetworkSpawn에서 등록 확인, 초기값은 수동 적용 필요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"RPC가 실행되지 않음"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원인: 네이밍 또는 스폰 상태 문제. 메서드명이 Rpc로 끝나는지, IsSpawned인지 확인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"소유권 이전이 안 됨"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원인: 잠금 상태. SetOwnershipLock(false)인지 확인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원인: 잘못된 ID. DA 모드에서 올바른 클라이언트 ID 사용 확인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24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Malgun Gothic"/>
              </a:defRPr>
            </a:pPr>
            <a:r>
              <a:t>정리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0" y="1280160"/>
            <a:ext cx="2743200" cy="254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645920"/>
            <a:ext cx="94484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✓ NetworkObject는 네트워크 동기화의 기본 단위이며, NetworkBehaviour로 로직을 구현한다</a:t>
            </a:r>
          </a:p>
          <a:p>
            <a:pPr>
              <a:spcAft>
                <a:spcPts val="12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✓ OnNetworkSpawn/OnNetworkDespawn이 네트워크 생명주기의 핵심 콜백이다</a:t>
            </a:r>
          </a:p>
          <a:p>
            <a:pPr>
              <a:spcAft>
                <a:spcPts val="12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✓ NetworkVariable&lt;T&gt;은 상태를 자동 동기화하며, ReadPerm/WritePerm으로 권한을 제어한다</a:t>
            </a:r>
          </a:p>
          <a:p>
            <a:pPr>
              <a:spcAft>
                <a:spcPts val="12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✓ RPC는 원격 메서드 호출로, SendTo 옵션으로 대상을 지정한다 (Owner, Everyone, Server 등)</a:t>
            </a:r>
          </a:p>
          <a:p>
            <a:pPr>
              <a:spcAft>
                <a:spcPts val="12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✓ 상태 동기화는 NetworkVariable, 이벤트 전달은 RPC를 사용하는 것이 원칙이다</a:t>
            </a:r>
          </a:p>
          <a:p>
            <a:pPr>
              <a:spcAft>
                <a:spcPts val="12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✓ ChangeOwnership()과 SetOwnershipLock()으로 소유권을 동적으로 관리한다</a:t>
            </a:r>
          </a:p>
          <a:p>
            <a:pPr>
              <a:spcAft>
                <a:spcPts val="12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✓ DontDestroyWithOwner = true로 공유 오브젝트의 지속성을 보장한다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