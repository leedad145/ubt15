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2831127909584750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3: VContainer 의존성 주입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DI 컨테이너를 활용한 모듈 간 결합 해제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의존성 주입이 필요한 이유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VContainer 기본 사용법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ApplicationScope (전역)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MapScope (지도 씬)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ARScope (AR 씬)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Scope 계층 구조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Mock ↔ Real 전환 패턴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의존성 주입이 필요한 이유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300000" y="1500000"/>
            <a:ext cx="56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Rect23"/>
          <p:cNvSpPr/>
          <p:nvPr/>
        </p:nvSpPr>
        <p:spPr>
          <a:xfrm xmlns:a="http://schemas.openxmlformats.org/drawingml/2006/main">
            <a:off x="300000" y="1500000"/>
            <a:ext cx="5600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4" name="Rect24"/>
          <p:cNvSpPr/>
          <p:nvPr/>
        </p:nvSpPr>
        <p:spPr>
          <a:xfrm xmlns:a="http://schemas.openxmlformats.org/drawingml/2006/main">
            <a:off x="300000" y="1500000"/>
            <a:ext cx="56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5" name="TextBox25"/>
          <p:cNvSpPr/>
          <p:nvPr/>
        </p:nvSpPr>
        <p:spPr>
          <a:xfrm xmlns:a="http://schemas.openxmlformats.org/drawingml/2006/main">
            <a:off x="500000" y="17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EF5350"/>
                </a:solidFill>
                <a:latin typeface="맑은 고딕"/>
                <a:ea typeface="맑은 고딕"/>
              </a:rPr>
              <a:t>직접 생성 (강한 결합)</a:t>
            </a:r>
          </a:p>
        </p:txBody>
      </p:sp>
      <p:sp>
        <p:nvSpPr>
          <p:cNvPr id="26" name="RoundRect26"/>
          <p:cNvSpPr/>
          <p:nvPr/>
        </p:nvSpPr>
        <p:spPr>
          <a:xfrm xmlns:a="http://schemas.openxmlformats.org/drawingml/2006/main">
            <a:off x="500000" y="2200000"/>
            <a:ext cx="52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Rect27"/>
          <p:cNvSpPr/>
          <p:nvPr/>
        </p:nvSpPr>
        <p:spPr>
          <a:xfrm xmlns:a="http://schemas.openxmlformats.org/drawingml/2006/main">
            <a:off x="500000" y="22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8" name="Code28"/>
          <p:cNvSpPr/>
          <p:nvPr/>
        </p:nvSpPr>
        <p:spPr>
          <a:xfrm xmlns:a="http://schemas.openxmlformats.org/drawingml/2006/main">
            <a:off x="500000" y="2200000"/>
            <a:ext cx="52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구현 클래스에 직접 의존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FruitCollectionController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YOLOFruitDetector _detector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=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YOLOFruitDetector(...);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테스트 시 교체 불가능!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29" name="RoundRect29"/>
          <p:cNvSpPr/>
          <p:nvPr/>
        </p:nvSpPr>
        <p:spPr>
          <a:xfrm xmlns:a="http://schemas.openxmlformats.org/drawingml/2006/main">
            <a:off x="6200000" y="1500000"/>
            <a:ext cx="56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0" name="Rect30"/>
          <p:cNvSpPr/>
          <p:nvPr/>
        </p:nvSpPr>
        <p:spPr>
          <a:xfrm xmlns:a="http://schemas.openxmlformats.org/drawingml/2006/main">
            <a:off x="6200000" y="1500000"/>
            <a:ext cx="5600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1" name="Rect31"/>
          <p:cNvSpPr/>
          <p:nvPr/>
        </p:nvSpPr>
        <p:spPr>
          <a:xfrm xmlns:a="http://schemas.openxmlformats.org/drawingml/2006/main">
            <a:off x="6200000" y="1500000"/>
            <a:ext cx="5600000" cy="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2" name="TextBox32"/>
          <p:cNvSpPr/>
          <p:nvPr/>
        </p:nvSpPr>
        <p:spPr>
          <a:xfrm xmlns:a="http://schemas.openxmlformats.org/drawingml/2006/main">
            <a:off x="6400000" y="17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800" b="1" dirty="0">
                <a:solidFill>
                  <a:srgbClr val="66BB6A"/>
                </a:solidFill>
                <a:latin typeface="맑은 고딕"/>
                <a:ea typeface="맑은 고딕"/>
              </a:rPr>
              <a:t>의존성 주입 (느슨한 결합)</a:t>
            </a:r>
          </a:p>
        </p:txBody>
      </p:sp>
      <p:sp>
        <p:nvSpPr>
          <p:cNvPr id="33" name="RoundRect33"/>
          <p:cNvSpPr/>
          <p:nvPr/>
        </p:nvSpPr>
        <p:spPr>
          <a:xfrm xmlns:a="http://schemas.openxmlformats.org/drawingml/2006/main">
            <a:off x="6400000" y="2200000"/>
            <a:ext cx="52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4" name="Rect34"/>
          <p:cNvSpPr/>
          <p:nvPr/>
        </p:nvSpPr>
        <p:spPr>
          <a:xfrm xmlns:a="http://schemas.openxmlformats.org/drawingml/2006/main">
            <a:off x="6400000" y="22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5" name="Code35"/>
          <p:cNvSpPr/>
          <p:nvPr/>
        </p:nvSpPr>
        <p:spPr>
          <a:xfrm xmlns:a="http://schemas.openxmlformats.org/drawingml/2006/main">
            <a:off x="6400000" y="2200000"/>
            <a:ext cx="52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인터페이스에만 의존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FruitCollectionController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IFruitDetector _detector;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Mock도 YOLO도 주입 가능!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36" name="RoundRect36"/>
          <p:cNvSpPr/>
          <p:nvPr/>
        </p:nvSpPr>
        <p:spPr>
          <a:xfrm xmlns:a="http://schemas.openxmlformats.org/drawingml/2006/main">
            <a:off x="300000" y="4400000"/>
            <a:ext cx="115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7" name="TextBox37"/>
          <p:cNvSpPr/>
          <p:nvPr/>
        </p:nvSpPr>
        <p:spPr>
          <a:xfrm xmlns:a="http://schemas.openxmlformats.org/drawingml/2006/main">
            <a:off x="500000" y="4500000"/>
            <a:ext cx="11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DI(Dependency Injection)의 핵심 이점</a:t>
            </a:r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500000" y="5000000"/>
            <a:ext cx="3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테스트 용이성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500000" y="54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Mock 구현체를 주입하여 에디터에서 단위 테스트 가능</a:t>
            </a:r>
          </a:p>
        </p:txBody>
      </p:sp>
      <p:sp>
        <p:nvSpPr>
          <p:cNvPr id="40" name="TextBox40"/>
          <p:cNvSpPr/>
          <p:nvPr/>
        </p:nvSpPr>
        <p:spPr>
          <a:xfrm xmlns:a="http://schemas.openxmlformats.org/drawingml/2006/main">
            <a:off x="4200000" y="5000000"/>
            <a:ext cx="3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모듈 교체</a:t>
            </a:r>
          </a:p>
        </p:txBody>
      </p:sp>
      <p:sp>
        <p:nvSpPr>
          <p:cNvPr id="41" name="TextBox41"/>
          <p:cNvSpPr/>
          <p:nvPr/>
        </p:nvSpPr>
        <p:spPr>
          <a:xfrm xmlns:a="http://schemas.openxmlformats.org/drawingml/2006/main">
            <a:off x="4200000" y="54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인터페이스만 맞으면 구현체를 자유롭게 교체</a:t>
            </a:r>
          </a:p>
        </p:txBody>
      </p:sp>
      <p:sp>
        <p:nvSpPr>
          <p:cNvPr id="42" name="TextBox42"/>
          <p:cNvSpPr/>
          <p:nvPr/>
        </p:nvSpPr>
        <p:spPr>
          <a:xfrm xmlns:a="http://schemas.openxmlformats.org/drawingml/2006/main">
            <a:off x="7900000" y="5000000"/>
            <a:ext cx="3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EE58"/>
                </a:solidFill>
                <a:latin typeface="맑은 고딕"/>
                <a:ea typeface="맑은 고딕"/>
              </a:rPr>
              <a:t>생명주기 관리</a:t>
            </a:r>
          </a:p>
        </p:txBody>
      </p:sp>
      <p:sp>
        <p:nvSpPr>
          <p:cNvPr id="43" name="TextBox43"/>
          <p:cNvSpPr/>
          <p:nvPr/>
        </p:nvSpPr>
        <p:spPr>
          <a:xfrm xmlns:a="http://schemas.openxmlformats.org/drawingml/2006/main">
            <a:off x="7900000" y="5400000"/>
            <a:ext cx="3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DI 컨테이너가 객체 생성·소멸을 자동 관리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ect44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5" name="Rect45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TextBox46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VContainer 기본 사용법</a:t>
            </a:r>
          </a:p>
        </p:txBody>
      </p:sp>
      <p:sp>
        <p:nvSpPr>
          <p:cNvPr id="47" name="RoundRect47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8" name="TextBox48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VContainer = Unity용 경량 DI 프레임워크</a:t>
            </a:r>
          </a:p>
        </p:txBody>
      </p:sp>
      <p:sp>
        <p:nvSpPr>
          <p:cNvPr id="49" name="TextBox49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LifetimeScope를 상속하여 씬별로 DI 컨테이너를 구성</a:t>
            </a:r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600000" y="2400000"/>
            <a:ext cx="5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1. 등록 (Configure)</a:t>
            </a:r>
          </a:p>
        </p:txBody>
      </p:sp>
      <p:sp>
        <p:nvSpPr>
          <p:cNvPr id="51" name="RoundRect51"/>
          <p:cNvSpPr/>
          <p:nvPr/>
        </p:nvSpPr>
        <p:spPr>
          <a:xfrm xmlns:a="http://schemas.openxmlformats.org/drawingml/2006/main">
            <a:off x="600000" y="2800000"/>
            <a:ext cx="54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2" name="Rect52"/>
          <p:cNvSpPr/>
          <p:nvPr/>
        </p:nvSpPr>
        <p:spPr>
          <a:xfrm xmlns:a="http://schemas.openxmlformats.org/drawingml/2006/main">
            <a:off x="600000" y="2800000"/>
            <a:ext cx="340000" cy="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3" name="Code53"/>
          <p:cNvSpPr/>
          <p:nvPr/>
        </p:nvSpPr>
        <p:spPr>
          <a:xfrm xmlns:a="http://schemas.openxmlformats.org/drawingml/2006/main">
            <a:off x="600000" y="2800000"/>
            <a:ext cx="5400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MapScope : LifetimeScope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Configure(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IContainerBuilder builder)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인터페이스 → 구현체 바인딩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builder.Register&lt;ILocationProvider,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DeviceLocationProvider&gt;(Lifetime.Scoped);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6300000" y="2400000"/>
            <a:ext cx="5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2. 주입 (Inject)</a:t>
            </a:r>
          </a:p>
        </p:txBody>
      </p:sp>
      <p:sp>
        <p:nvSpPr>
          <p:cNvPr id="55" name="RoundRect55"/>
          <p:cNvSpPr/>
          <p:nvPr/>
        </p:nvSpPr>
        <p:spPr>
          <a:xfrm xmlns:a="http://schemas.openxmlformats.org/drawingml/2006/main">
            <a:off x="6300000" y="2800000"/>
            <a:ext cx="5500000" cy="2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6" name="Rect56"/>
          <p:cNvSpPr/>
          <p:nvPr/>
        </p:nvSpPr>
        <p:spPr>
          <a:xfrm xmlns:a="http://schemas.openxmlformats.org/drawingml/2006/main">
            <a:off x="6300000" y="2800000"/>
            <a:ext cx="340000" cy="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7" name="Code57"/>
          <p:cNvSpPr/>
          <p:nvPr/>
        </p:nvSpPr>
        <p:spPr>
          <a:xfrm xmlns:a="http://schemas.openxmlformats.org/drawingml/2006/main">
            <a:off x="6300000" y="2800000"/>
            <a:ext cx="5500000" cy="2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GPSService : MonoBehaviour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[Inject] 속성으로 자동 주입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ILocationProvider _locationProvider;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Start()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_locationProvider.StartService();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58" name="TextBox58"/>
          <p:cNvSpPr/>
          <p:nvPr/>
        </p:nvSpPr>
        <p:spPr>
          <a:xfrm xmlns:a="http://schemas.openxmlformats.org/drawingml/2006/main">
            <a:off x="600000" y="51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FFFF"/>
                </a:solidFill>
                <a:latin typeface="맑은 고딕"/>
                <a:ea typeface="맑은 고딕"/>
              </a:rPr>
              <a:t>Lifetime 종류</a:t>
            </a:r>
          </a:p>
        </p:txBody>
      </p:sp>
      <p:sp>
        <p:nvSpPr>
          <p:cNvPr id="59" name="RoundRect59"/>
          <p:cNvSpPr/>
          <p:nvPr/>
        </p:nvSpPr>
        <p:spPr>
          <a:xfrm xmlns:a="http://schemas.openxmlformats.org/drawingml/2006/main">
            <a:off x="600000" y="5500000"/>
            <a:ext cx="35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750000" y="5550000"/>
            <a:ext cx="3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Singleton</a:t>
            </a:r>
          </a:p>
        </p:txBody>
      </p:sp>
      <p:sp>
        <p:nvSpPr>
          <p:cNvPr id="61" name="TextBox61"/>
          <p:cNvSpPr/>
          <p:nvPr/>
        </p:nvSpPr>
        <p:spPr>
          <a:xfrm xmlns:a="http://schemas.openxmlformats.org/drawingml/2006/main">
            <a:off x="750000" y="5900000"/>
            <a:ext cx="3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앱 전체에서 하나의 인스턴스 공유</a:t>
            </a:r>
          </a:p>
        </p:txBody>
      </p:sp>
      <p:sp>
        <p:nvSpPr>
          <p:cNvPr id="62" name="RoundRect62"/>
          <p:cNvSpPr/>
          <p:nvPr/>
        </p:nvSpPr>
        <p:spPr>
          <a:xfrm xmlns:a="http://schemas.openxmlformats.org/drawingml/2006/main">
            <a:off x="4300000" y="5500000"/>
            <a:ext cx="35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4450000" y="5550000"/>
            <a:ext cx="3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Scoped</a:t>
            </a:r>
          </a:p>
        </p:txBody>
      </p:sp>
      <p:sp>
        <p:nvSpPr>
          <p:cNvPr id="64" name="TextBox64"/>
          <p:cNvSpPr/>
          <p:nvPr/>
        </p:nvSpPr>
        <p:spPr>
          <a:xfrm xmlns:a="http://schemas.openxmlformats.org/drawingml/2006/main">
            <a:off x="4450000" y="5900000"/>
            <a:ext cx="3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해당 Scope(씬) 내에서 하나의 인스턴스</a:t>
            </a:r>
          </a:p>
        </p:txBody>
      </p:sp>
      <p:sp>
        <p:nvSpPr>
          <p:cNvPr id="65" name="RoundRect65"/>
          <p:cNvSpPr/>
          <p:nvPr/>
        </p:nvSpPr>
        <p:spPr>
          <a:xfrm xmlns:a="http://schemas.openxmlformats.org/drawingml/2006/main">
            <a:off x="8000000" y="5500000"/>
            <a:ext cx="35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6" name="TextBox66"/>
          <p:cNvSpPr/>
          <p:nvPr/>
        </p:nvSpPr>
        <p:spPr>
          <a:xfrm xmlns:a="http://schemas.openxmlformats.org/drawingml/2006/main">
            <a:off x="8150000" y="5550000"/>
            <a:ext cx="3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Transient</a:t>
            </a:r>
          </a:p>
        </p:txBody>
      </p:sp>
      <p:sp>
        <p:nvSpPr>
          <p:cNvPr id="67" name="TextBox67"/>
          <p:cNvSpPr/>
          <p:nvPr/>
        </p:nvSpPr>
        <p:spPr>
          <a:xfrm xmlns:a="http://schemas.openxmlformats.org/drawingml/2006/main">
            <a:off x="8150000" y="5900000"/>
            <a:ext cx="3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주입할 때마다 새 인스턴스 생성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Rect6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9" name="Rect6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0" name="TextBox7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ApplicationScope (전역)</a:t>
            </a:r>
          </a:p>
        </p:txBody>
      </p:sp>
      <p:sp>
        <p:nvSpPr>
          <p:cNvPr id="71" name="RoundRect71"/>
          <p:cNvSpPr/>
          <p:nvPr/>
        </p:nvSpPr>
        <p:spPr>
          <a:xfrm xmlns:a="http://schemas.openxmlformats.org/drawingml/2006/main">
            <a:off x="600000" y="145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2" name="TextBox72"/>
          <p:cNvSpPr/>
          <p:nvPr/>
        </p:nvSpPr>
        <p:spPr>
          <a:xfrm xmlns:a="http://schemas.openxmlformats.org/drawingml/2006/main">
            <a:off x="800000" y="1500000"/>
            <a:ext cx="10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Main.unity 씬에서 생성되는 전역 DI 컨테이너</a:t>
            </a:r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800000" y="1750000"/>
            <a:ext cx="10500000" cy="2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DontDestroyOnLoad로 씬 전환 시에도 유지</a:t>
            </a:r>
          </a:p>
        </p:txBody>
      </p:sp>
      <p:sp>
        <p:nvSpPr>
          <p:cNvPr id="74" name="RoundRect74"/>
          <p:cNvSpPr/>
          <p:nvPr/>
        </p:nvSpPr>
        <p:spPr>
          <a:xfrm xmlns:a="http://schemas.openxmlformats.org/drawingml/2006/main">
            <a:off x="600000" y="2300000"/>
            <a:ext cx="11000000" cy="3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5" name="Rect75"/>
          <p:cNvSpPr/>
          <p:nvPr/>
        </p:nvSpPr>
        <p:spPr>
          <a:xfrm xmlns:a="http://schemas.openxmlformats.org/drawingml/2006/main">
            <a:off x="600000" y="2300000"/>
            <a:ext cx="510000" cy="5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6" name="Code76"/>
          <p:cNvSpPr/>
          <p:nvPr/>
        </p:nvSpPr>
        <p:spPr>
          <a:xfrm xmlns:a="http://schemas.openxmlformats.org/drawingml/2006/main">
            <a:off x="600000" y="2300000"/>
            <a:ext cx="11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ApplicationScope : LifetimeScope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_simulateDb;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Inspector에서 Mock/Real 전환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Configure(IContainerBuilder builder)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인터넷 연결 확인 서비스 (전역 싱글톤)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builder.RegisterComponentInHierarchy&lt;InternetConnectionService&gt;();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Mock/Real Repository 전환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(_simulateDb)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builder.Register&lt;IFruitRepository, MockFruitRepository&gt;(Lifetime.Singleton);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else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builder.Register&lt;IFruitRepository, FruitRepository&gt;(Lifetime.Singleton);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77" name="RoundRect77"/>
          <p:cNvSpPr/>
          <p:nvPr/>
        </p:nvSpPr>
        <p:spPr>
          <a:xfrm xmlns:a="http://schemas.openxmlformats.org/drawingml/2006/main">
            <a:off x="600000" y="560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800000" y="56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등록되는 서비스</a:t>
            </a:r>
          </a:p>
        </p:txBody>
      </p:sp>
      <p:sp>
        <p:nvSpPr>
          <p:cNvPr id="79" name="TextBox79"/>
          <p:cNvSpPr/>
          <p:nvPr/>
        </p:nvSpPr>
        <p:spPr>
          <a:xfrm xmlns:a="http://schemas.openxmlformats.org/drawingml/2006/main">
            <a:off x="800000" y="6000000"/>
            <a:ext cx="10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InternetConnectionService — 인터넷 연결 상태 확인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FFFFFF"/>
                </a:solidFill>
                <a:latin typeface="맑은 고딕"/>
                <a:ea typeface="맑은 고딕"/>
              </a:rPr>
              <a:t>●  IFruitRepository — 과일 인벤토리 저장소 (Mock 또는 Real)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Rect8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1" name="Rect8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2" name="TextBox8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MapScope (지도 씬)</a:t>
            </a:r>
          </a:p>
        </p:txBody>
      </p:sp>
      <p:sp>
        <p:nvSpPr>
          <p:cNvPr id="83" name="RoundRect83"/>
          <p:cNvSpPr/>
          <p:nvPr/>
        </p:nvSpPr>
        <p:spPr>
          <a:xfrm xmlns:a="http://schemas.openxmlformats.org/drawingml/2006/main">
            <a:off x="600000" y="1450000"/>
            <a:ext cx="109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800000" y="15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Map.unity 씬 전용 DI 컨테이너 — GPS와 지도 서비스를 등록</a:t>
            </a:r>
          </a:p>
        </p:txBody>
      </p:sp>
      <p:sp>
        <p:nvSpPr>
          <p:cNvPr id="85" name="RoundRect85"/>
          <p:cNvSpPr/>
          <p:nvPr/>
        </p:nvSpPr>
        <p:spPr>
          <a:xfrm xmlns:a="http://schemas.openxmlformats.org/drawingml/2006/main">
            <a:off x="600000" y="2200000"/>
            <a:ext cx="110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6" name="Rect86"/>
          <p:cNvSpPr/>
          <p:nvPr/>
        </p:nvSpPr>
        <p:spPr>
          <a:xfrm xmlns:a="http://schemas.openxmlformats.org/drawingml/2006/main">
            <a:off x="600000" y="220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Code87"/>
          <p:cNvSpPr/>
          <p:nvPr/>
        </p:nvSpPr>
        <p:spPr>
          <a:xfrm xmlns:a="http://schemas.openxmlformats.org/drawingml/2006/main">
            <a:off x="600000" y="2200000"/>
            <a:ext cx="110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MapScope : LifetimeScope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GoogleStaticMapService _googleStaticMapService;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Configure(IContainerBuilder builder)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50" b="0" dirty="0">
                <a:solidFill>
                  <a:srgbClr val="608B4E"/>
                </a:solidFill>
                <a:latin typeface="Consolas"/>
                <a:ea typeface="맑은 고딕"/>
              </a:rPr>
              <a:t>// 에디터에서는 Mock, 빌드에서는 실제 GPS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#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UNITY_EDITOR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builder.RegisterComponentOnNewGameObject&lt;MockLocationProvider&gt;(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Lifetime.Scoped).As&lt;ILocationProvider&gt;();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#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else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builder.RegisterComponentOnNewGameObject&lt;DeviceLocationProvider&gt;(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    Lifetime.Scoped).As&lt;ILocationProvider&gt;();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#endif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builder.RegisterComponentOnNewGameObject&lt;GPSService&gt;(Lifetime.Scoped);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builder.RegisterInstance(_googleStaticMapService);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88" name="RoundRect88"/>
          <p:cNvSpPr/>
          <p:nvPr/>
        </p:nvSpPr>
        <p:spPr>
          <a:xfrm xmlns:a="http://schemas.openxmlformats.org/drawingml/2006/main">
            <a:off x="600000" y="5700000"/>
            <a:ext cx="1090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600000" y="5700000"/>
            <a:ext cx="153000" cy="1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TextBox90"/>
          <p:cNvSpPr/>
          <p:nvPr/>
        </p:nvSpPr>
        <p:spPr>
          <a:xfrm xmlns:a="http://schemas.openxmlformats.org/drawingml/2006/main">
            <a:off x="800000" y="57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전처리기 지시문(#if UNITY_EDITOR)으로 환경별 구현체 자동 전환</a:t>
            </a:r>
          </a:p>
        </p:txBody>
      </p:sp>
      <p:sp>
        <p:nvSpPr>
          <p:cNvPr id="91" name="TextBox91"/>
          <p:cNvSpPr/>
          <p:nvPr/>
        </p:nvSpPr>
        <p:spPr>
          <a:xfrm xmlns:a="http://schemas.openxmlformats.org/drawingml/2006/main">
            <a:off x="800000" y="615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에디터: MockLocationProvider (WASD 키보드 이동)  |  빌드: DeviceLocationProvider (실제 GPS)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Rect92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3" name="Rect93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4" name="TextBox94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ARScope (AR 씬)</a:t>
            </a:r>
          </a:p>
        </p:txBody>
      </p:sp>
      <p:sp>
        <p:nvSpPr>
          <p:cNvPr id="95" name="RoundRect95"/>
          <p:cNvSpPr/>
          <p:nvPr/>
        </p:nvSpPr>
        <p:spPr>
          <a:xfrm xmlns:a="http://schemas.openxmlformats.org/drawingml/2006/main">
            <a:off x="600000" y="1450000"/>
            <a:ext cx="109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6" name="TextBox96"/>
          <p:cNvSpPr/>
          <p:nvPr/>
        </p:nvSpPr>
        <p:spPr>
          <a:xfrm xmlns:a="http://schemas.openxmlformats.org/drawingml/2006/main">
            <a:off x="800000" y="15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ARCollection.unity 씬 전용 DI 컨테이너 — 과일 탐지 서비스를 등록</a:t>
            </a:r>
          </a:p>
        </p:txBody>
      </p:sp>
      <p:sp>
        <p:nvSpPr>
          <p:cNvPr id="97" name="RoundRect97"/>
          <p:cNvSpPr/>
          <p:nvPr/>
        </p:nvSpPr>
        <p:spPr>
          <a:xfrm xmlns:a="http://schemas.openxmlformats.org/drawingml/2006/main">
            <a:off x="600000" y="2200000"/>
            <a:ext cx="110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Rect98"/>
          <p:cNvSpPr/>
          <p:nvPr/>
        </p:nvSpPr>
        <p:spPr>
          <a:xfrm xmlns:a="http://schemas.openxmlformats.org/drawingml/2006/main">
            <a:off x="600000" y="22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9" name="Code99"/>
          <p:cNvSpPr/>
          <p:nvPr/>
        </p:nvSpPr>
        <p:spPr>
          <a:xfrm xmlns:a="http://schemas.openxmlformats.org/drawingml/2006/main">
            <a:off x="600000" y="2200000"/>
            <a:ext cx="110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ARScope : LifetimeScope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_useMockDetector;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Inspector 토글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[SerializeField] ModelAsset _yoloModelAsset;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YOLO 모델 에셋</a:t>
            </a:r>
          </a:p>
          <a:p xmlns:a="http://schemas.openxmlformats.org/drawingml/2006/main">
            <a:pPr algn="l"/>
            <a:endParaRPr lang="ko-KR" sz="12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protected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override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Configure(IContainerBuilder builder)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(_useMockDetector)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builder.Register&lt;IFruitDetector, MockFruitDetector&gt;(Lifetime.Scoped);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00" b="0" dirty="0">
                <a:solidFill>
                  <a:srgbClr val="569CD6"/>
                </a:solidFill>
                <a:latin typeface="Consolas"/>
                <a:ea typeface="맑은 고딕"/>
              </a:rPr>
              <a:t>else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builder.Register&lt;IFruitDetector, YOLOFruitDetector&gt;(Lifetime.Scoped)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            .WithParameter(_yoloModelAsset);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00" name="RoundRect100"/>
          <p:cNvSpPr/>
          <p:nvPr/>
        </p:nvSpPr>
        <p:spPr>
          <a:xfrm xmlns:a="http://schemas.openxmlformats.org/drawingml/2006/main">
            <a:off x="600000" y="5300000"/>
            <a:ext cx="52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1" name="Rect101"/>
          <p:cNvSpPr/>
          <p:nvPr/>
        </p:nvSpPr>
        <p:spPr>
          <a:xfrm xmlns:a="http://schemas.openxmlformats.org/drawingml/2006/main">
            <a:off x="600000" y="5300000"/>
            <a:ext cx="238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2" name="TextBox102"/>
          <p:cNvSpPr/>
          <p:nvPr/>
        </p:nvSpPr>
        <p:spPr>
          <a:xfrm xmlns:a="http://schemas.openxmlformats.org/drawingml/2006/main">
            <a:off x="800000" y="5350000"/>
            <a:ext cx="4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MockFruitDetector</a:t>
            </a:r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800000" y="5750000"/>
            <a:ext cx="48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고정된 Apple 탐지 결과 반환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GPU 없이 에디터에서 테스트 가능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0.95 신뢰도, 화면 중앙 위치</a:t>
            </a:r>
          </a:p>
        </p:txBody>
      </p:sp>
      <p:sp>
        <p:nvSpPr>
          <p:cNvPr id="104" name="RoundRect104"/>
          <p:cNvSpPr/>
          <p:nvPr/>
        </p:nvSpPr>
        <p:spPr>
          <a:xfrm xmlns:a="http://schemas.openxmlformats.org/drawingml/2006/main">
            <a:off x="6100000" y="5300000"/>
            <a:ext cx="5500000" cy="14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5" name="Rect105"/>
          <p:cNvSpPr/>
          <p:nvPr/>
        </p:nvSpPr>
        <p:spPr>
          <a:xfrm xmlns:a="http://schemas.openxmlformats.org/drawingml/2006/main">
            <a:off x="6100000" y="5300000"/>
            <a:ext cx="238000" cy="23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6" name="TextBox106"/>
          <p:cNvSpPr/>
          <p:nvPr/>
        </p:nvSpPr>
        <p:spPr>
          <a:xfrm xmlns:a="http://schemas.openxmlformats.org/drawingml/2006/main">
            <a:off x="6300000" y="5350000"/>
            <a:ext cx="5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YOLOFruitDetector</a:t>
            </a:r>
          </a:p>
        </p:txBody>
      </p:sp>
      <p:sp>
        <p:nvSpPr>
          <p:cNvPr id="107" name="TextBox107"/>
          <p:cNvSpPr/>
          <p:nvPr/>
        </p:nvSpPr>
        <p:spPr>
          <a:xfrm xmlns:a="http://schemas.openxmlformats.org/drawingml/2006/main">
            <a:off x="6300000" y="5750000"/>
            <a:ext cx="51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Unity Sentis로 GPU 추론 실행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실제 카메라 이미지 입력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ModelAsset을 생성자 매개변수로 주입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Rect10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9" name="Rect10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Scope 계층 구조</a:t>
            </a:r>
          </a:p>
        </p:txBody>
      </p:sp>
      <p:sp>
        <p:nvSpPr>
          <p:cNvPr id="111" name="RoundRect111"/>
          <p:cNvSpPr/>
          <p:nvPr/>
        </p:nvSpPr>
        <p:spPr>
          <a:xfrm xmlns:a="http://schemas.openxmlformats.org/drawingml/2006/main">
            <a:off x="2500000" y="1500000"/>
            <a:ext cx="72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2" name="TextBox112"/>
          <p:cNvSpPr/>
          <p:nvPr/>
        </p:nvSpPr>
        <p:spPr>
          <a:xfrm xmlns:a="http://schemas.openxmlformats.org/drawingml/2006/main">
            <a:off x="2700000" y="1550000"/>
            <a:ext cx="6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ApplicationScope (DontDestroyOnLoad)</a:t>
            </a:r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2700000" y="1900000"/>
            <a:ext cx="6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InternetConnectionService, IFruitRepository</a:t>
            </a:r>
          </a:p>
        </p:txBody>
      </p:sp>
      <p:sp>
        <p:nvSpPr>
          <p:cNvPr id="114" name="TextBox114"/>
          <p:cNvSpPr/>
          <p:nvPr/>
        </p:nvSpPr>
        <p:spPr>
          <a:xfrm xmlns:a="http://schemas.openxmlformats.org/drawingml/2006/main">
            <a:off x="3400000" y="2300000"/>
            <a:ext cx="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115" name="TextBox115"/>
          <p:cNvSpPr/>
          <p:nvPr/>
        </p:nvSpPr>
        <p:spPr>
          <a:xfrm xmlns:a="http://schemas.openxmlformats.org/drawingml/2006/main">
            <a:off x="8000000" y="2300000"/>
            <a:ext cx="8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↓</a:t>
            </a:r>
          </a:p>
        </p:txBody>
      </p:sp>
      <p:sp>
        <p:nvSpPr>
          <p:cNvPr id="116" name="RoundRect116"/>
          <p:cNvSpPr/>
          <p:nvPr/>
        </p:nvSpPr>
        <p:spPr>
          <a:xfrm xmlns:a="http://schemas.openxmlformats.org/drawingml/2006/main">
            <a:off x="600000" y="2700000"/>
            <a:ext cx="52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800000" y="2750000"/>
            <a:ext cx="4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MapScope (Map.unity)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800000" y="3100000"/>
            <a:ext cx="48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ILocationProvider, GPSService, GoogleStaticMapService</a:t>
            </a:r>
          </a:p>
        </p:txBody>
      </p:sp>
      <p:sp>
        <p:nvSpPr>
          <p:cNvPr id="119" name="RoundRect119"/>
          <p:cNvSpPr/>
          <p:nvPr/>
        </p:nvSpPr>
        <p:spPr>
          <a:xfrm xmlns:a="http://schemas.openxmlformats.org/drawingml/2006/main">
            <a:off x="6200000" y="2700000"/>
            <a:ext cx="56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0" name="TextBox120"/>
          <p:cNvSpPr/>
          <p:nvPr/>
        </p:nvSpPr>
        <p:spPr>
          <a:xfrm xmlns:a="http://schemas.openxmlformats.org/drawingml/2006/main">
            <a:off x="6400000" y="2750000"/>
            <a:ext cx="5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ARScope (ARCollection.unity)</a:t>
            </a:r>
          </a:p>
        </p:txBody>
      </p:sp>
      <p:sp>
        <p:nvSpPr>
          <p:cNvPr id="121" name="TextBox121"/>
          <p:cNvSpPr/>
          <p:nvPr/>
        </p:nvSpPr>
        <p:spPr>
          <a:xfrm xmlns:a="http://schemas.openxmlformats.org/drawingml/2006/main">
            <a:off x="6400000" y="3100000"/>
            <a:ext cx="52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IFruitDetector (Mock 또는 YOLO)</a:t>
            </a:r>
          </a:p>
        </p:txBody>
      </p:sp>
      <p:sp>
        <p:nvSpPr>
          <p:cNvPr id="122" name="RoundRect122"/>
          <p:cNvSpPr/>
          <p:nvPr/>
        </p:nvSpPr>
        <p:spPr>
          <a:xfrm xmlns:a="http://schemas.openxmlformats.org/drawingml/2006/main">
            <a:off x="600000" y="3900000"/>
            <a:ext cx="10900000" cy="2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TextBox123"/>
          <p:cNvSpPr/>
          <p:nvPr/>
        </p:nvSpPr>
        <p:spPr>
          <a:xfrm xmlns:a="http://schemas.openxmlformats.org/drawingml/2006/main">
            <a:off x="800000" y="400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Scope 계층이 제공하는 기능</a:t>
            </a:r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800000" y="45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부모 Scope 상속</a:t>
            </a:r>
          </a:p>
        </p:txBody>
      </p:sp>
      <p:sp>
        <p:nvSpPr>
          <p:cNvPr id="125" name="TextBox125"/>
          <p:cNvSpPr/>
          <p:nvPr/>
        </p:nvSpPr>
        <p:spPr>
          <a:xfrm xmlns:a="http://schemas.openxmlformats.org/drawingml/2006/main">
            <a:off x="800000" y="48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MapScope, ARScope는 ApplicationScope의 서비스를 자동으로 사용 가능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→ IFruitRepository를 별도 등록 없이 AR 씬에서 바로 [Inject]</a:t>
            </a:r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800000" y="53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씬별 생명주기</a:t>
            </a:r>
          </a:p>
        </p:txBody>
      </p:sp>
      <p:sp>
        <p:nvSpPr>
          <p:cNvPr id="127" name="TextBox127"/>
          <p:cNvSpPr/>
          <p:nvPr/>
        </p:nvSpPr>
        <p:spPr>
          <a:xfrm xmlns:a="http://schemas.openxmlformats.org/drawingml/2006/main">
            <a:off x="800000" y="56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Map.unity 언로드 시 MapScope의 서비스도 함께 해제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→ 메모리 누수 방지, 리소스 자동 정리</a:t>
            </a:r>
          </a:p>
        </p:txBody>
      </p:sp>
      <p:sp>
        <p:nvSpPr>
          <p:cNvPr id="128" name="TextBox128"/>
          <p:cNvSpPr/>
          <p:nvPr/>
        </p:nvSpPr>
        <p:spPr>
          <a:xfrm xmlns:a="http://schemas.openxmlformats.org/drawingml/2006/main">
            <a:off x="800000" y="6100000"/>
            <a:ext cx="10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EE58"/>
                </a:solidFill>
                <a:latin typeface="맑은 고딕"/>
                <a:ea typeface="맑은 고딕"/>
              </a:rPr>
              <a:t>독립적 구성</a:t>
            </a:r>
          </a:p>
        </p:txBody>
      </p:sp>
      <p:sp>
        <p:nvSpPr>
          <p:cNvPr id="129" name="TextBox129"/>
          <p:cNvSpPr/>
          <p:nvPr/>
        </p:nvSpPr>
        <p:spPr>
          <a:xfrm xmlns:a="http://schemas.openxmlformats.org/drawingml/2006/main">
            <a:off x="800000" y="64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각 씬은 자기만의 서비스를 등록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FFFFFF"/>
                </a:solidFill>
                <a:latin typeface="맑은 고딕"/>
                <a:ea typeface="맑은 고딕"/>
              </a:rPr>
              <a:t>→ 다른 씬의 구현에 영향을 주지 않음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Rect130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1" name="Rect131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2" name="TextBox132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Mock ↔ Real 전환 패턴</a:t>
            </a:r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600000" y="1450000"/>
            <a:ext cx="109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0" dirty="0">
                <a:solidFill>
                  <a:srgbClr val="FFFFFF"/>
                </a:solidFill>
                <a:latin typeface="맑은 고딕"/>
                <a:ea typeface="맑은 고딕"/>
              </a:rPr>
              <a:t>GoldenFruit는 3가지 시스템에서 Mock/Real 전환을 지원합니다</a:t>
            </a:r>
          </a:p>
        </p:txBody>
      </p:sp>
      <p:sp>
        <p:nvSpPr>
          <p:cNvPr id="134" name="RoundRect134"/>
          <p:cNvSpPr/>
          <p:nvPr/>
        </p:nvSpPr>
        <p:spPr>
          <a:xfrm xmlns:a="http://schemas.openxmlformats.org/drawingml/2006/main">
            <a:off x="300000" y="2100000"/>
            <a:ext cx="115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TextBox135"/>
          <p:cNvSpPr/>
          <p:nvPr/>
        </p:nvSpPr>
        <p:spPr>
          <a:xfrm xmlns:a="http://schemas.openxmlformats.org/drawingml/2006/main">
            <a:off x="500000" y="215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위치 서비스</a:t>
            </a:r>
          </a:p>
        </p:txBody>
      </p:sp>
      <p:sp>
        <p:nvSpPr>
          <p:cNvPr id="136" name="TextBox136"/>
          <p:cNvSpPr/>
          <p:nvPr/>
        </p:nvSpPr>
        <p:spPr>
          <a:xfrm xmlns:a="http://schemas.openxmlformats.org/drawingml/2006/main">
            <a:off x="500000" y="25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ILocationProvider</a:t>
            </a:r>
          </a:p>
        </p:txBody>
      </p:sp>
      <p:sp>
        <p:nvSpPr>
          <p:cNvPr id="137" name="RoundRect137"/>
          <p:cNvSpPr/>
          <p:nvPr/>
        </p:nvSpPr>
        <p:spPr>
          <a:xfrm xmlns:a="http://schemas.openxmlformats.org/drawingml/2006/main">
            <a:off x="2700000" y="220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8" name="Rect138"/>
          <p:cNvSpPr/>
          <p:nvPr/>
        </p:nvSpPr>
        <p:spPr>
          <a:xfrm xmlns:a="http://schemas.openxmlformats.org/drawingml/2006/main">
            <a:off x="2700000" y="220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9" name="Rect139"/>
          <p:cNvSpPr/>
          <p:nvPr/>
        </p:nvSpPr>
        <p:spPr>
          <a:xfrm xmlns:a="http://schemas.openxmlformats.org/drawingml/2006/main">
            <a:off x="2700000" y="2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2850000" y="230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Mock</a:t>
            </a:r>
          </a:p>
        </p:txBody>
      </p:sp>
      <p:sp>
        <p:nvSpPr>
          <p:cNvPr id="141" name="TextBox141"/>
          <p:cNvSpPr/>
          <p:nvPr/>
        </p:nvSpPr>
        <p:spPr>
          <a:xfrm xmlns:a="http://schemas.openxmlformats.org/drawingml/2006/main">
            <a:off x="2850000" y="265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MockLocationProvider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(WASD 키보드 이동)</a:t>
            </a:r>
          </a:p>
        </p:txBody>
      </p:sp>
      <p:sp>
        <p:nvSpPr>
          <p:cNvPr id="142" name="RoundRect142"/>
          <p:cNvSpPr/>
          <p:nvPr/>
        </p:nvSpPr>
        <p:spPr>
          <a:xfrm xmlns:a="http://schemas.openxmlformats.org/drawingml/2006/main">
            <a:off x="5900000" y="220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3" name="Rect143"/>
          <p:cNvSpPr/>
          <p:nvPr/>
        </p:nvSpPr>
        <p:spPr>
          <a:xfrm xmlns:a="http://schemas.openxmlformats.org/drawingml/2006/main">
            <a:off x="5900000" y="220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Rect144"/>
          <p:cNvSpPr/>
          <p:nvPr/>
        </p:nvSpPr>
        <p:spPr>
          <a:xfrm xmlns:a="http://schemas.openxmlformats.org/drawingml/2006/main">
            <a:off x="5900000" y="2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5" name="TextBox145"/>
          <p:cNvSpPr/>
          <p:nvPr/>
        </p:nvSpPr>
        <p:spPr>
          <a:xfrm xmlns:a="http://schemas.openxmlformats.org/drawingml/2006/main">
            <a:off x="6050000" y="230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Real</a:t>
            </a:r>
          </a:p>
        </p:txBody>
      </p:sp>
      <p:sp>
        <p:nvSpPr>
          <p:cNvPr id="146" name="TextBox146"/>
          <p:cNvSpPr/>
          <p:nvPr/>
        </p:nvSpPr>
        <p:spPr>
          <a:xfrm xmlns:a="http://schemas.openxmlformats.org/drawingml/2006/main">
            <a:off x="6050000" y="265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DeviceLocationProvider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(실제 GPS)</a:t>
            </a:r>
          </a:p>
        </p:txBody>
      </p:sp>
      <p:sp>
        <p:nvSpPr>
          <p:cNvPr id="147" name="TextBox147"/>
          <p:cNvSpPr/>
          <p:nvPr/>
        </p:nvSpPr>
        <p:spPr>
          <a:xfrm xmlns:a="http://schemas.openxmlformats.org/drawingml/2006/main">
            <a:off x="9100000" y="2400000"/>
            <a:ext cx="2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EE58"/>
                </a:solidFill>
                <a:latin typeface="맑은 고딕"/>
                <a:ea typeface="맑은 고딕"/>
              </a:rPr>
              <a:t>#if UNITY_EDITOR 전처리기</a:t>
            </a:r>
          </a:p>
        </p:txBody>
      </p:sp>
      <p:sp>
        <p:nvSpPr>
          <p:cNvPr id="148" name="RoundRect148"/>
          <p:cNvSpPr/>
          <p:nvPr/>
        </p:nvSpPr>
        <p:spPr>
          <a:xfrm xmlns:a="http://schemas.openxmlformats.org/drawingml/2006/main">
            <a:off x="300000" y="3450000"/>
            <a:ext cx="115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9" name="TextBox149"/>
          <p:cNvSpPr/>
          <p:nvPr/>
        </p:nvSpPr>
        <p:spPr>
          <a:xfrm xmlns:a="http://schemas.openxmlformats.org/drawingml/2006/main">
            <a:off x="500000" y="350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과일 탐지</a:t>
            </a:r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500000" y="385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IFruitDetector</a:t>
            </a:r>
          </a:p>
        </p:txBody>
      </p:sp>
      <p:sp>
        <p:nvSpPr>
          <p:cNvPr id="151" name="RoundRect151"/>
          <p:cNvSpPr/>
          <p:nvPr/>
        </p:nvSpPr>
        <p:spPr>
          <a:xfrm xmlns:a="http://schemas.openxmlformats.org/drawingml/2006/main">
            <a:off x="2700000" y="355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2" name="Rect152"/>
          <p:cNvSpPr/>
          <p:nvPr/>
        </p:nvSpPr>
        <p:spPr>
          <a:xfrm xmlns:a="http://schemas.openxmlformats.org/drawingml/2006/main">
            <a:off x="2700000" y="355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3" name="Rect153"/>
          <p:cNvSpPr/>
          <p:nvPr/>
        </p:nvSpPr>
        <p:spPr>
          <a:xfrm xmlns:a="http://schemas.openxmlformats.org/drawingml/2006/main">
            <a:off x="2700000" y="355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2850000" y="365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Mock</a:t>
            </a:r>
          </a:p>
        </p:txBody>
      </p:sp>
      <p:sp>
        <p:nvSpPr>
          <p:cNvPr id="155" name="TextBox155"/>
          <p:cNvSpPr/>
          <p:nvPr/>
        </p:nvSpPr>
        <p:spPr>
          <a:xfrm xmlns:a="http://schemas.openxmlformats.org/drawingml/2006/main">
            <a:off x="2850000" y="400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MockFruitDetector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(고정 Apple 반환)</a:t>
            </a:r>
          </a:p>
        </p:txBody>
      </p:sp>
      <p:sp>
        <p:nvSpPr>
          <p:cNvPr id="156" name="RoundRect156"/>
          <p:cNvSpPr/>
          <p:nvPr/>
        </p:nvSpPr>
        <p:spPr>
          <a:xfrm xmlns:a="http://schemas.openxmlformats.org/drawingml/2006/main">
            <a:off x="5900000" y="355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7" name="Rect157"/>
          <p:cNvSpPr/>
          <p:nvPr/>
        </p:nvSpPr>
        <p:spPr>
          <a:xfrm xmlns:a="http://schemas.openxmlformats.org/drawingml/2006/main">
            <a:off x="5900000" y="355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Rect158"/>
          <p:cNvSpPr/>
          <p:nvPr/>
        </p:nvSpPr>
        <p:spPr>
          <a:xfrm xmlns:a="http://schemas.openxmlformats.org/drawingml/2006/main">
            <a:off x="5900000" y="355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9" name="TextBox159"/>
          <p:cNvSpPr/>
          <p:nvPr/>
        </p:nvSpPr>
        <p:spPr>
          <a:xfrm xmlns:a="http://schemas.openxmlformats.org/drawingml/2006/main">
            <a:off x="6050000" y="365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Real</a:t>
            </a:r>
          </a:p>
        </p:txBody>
      </p:sp>
      <p:sp>
        <p:nvSpPr>
          <p:cNvPr id="160" name="TextBox160"/>
          <p:cNvSpPr/>
          <p:nvPr/>
        </p:nvSpPr>
        <p:spPr>
          <a:xfrm xmlns:a="http://schemas.openxmlformats.org/drawingml/2006/main">
            <a:off x="6050000" y="400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YOLOFruitDetector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(Sentis GPU 추론)</a:t>
            </a:r>
          </a:p>
        </p:txBody>
      </p:sp>
      <p:sp>
        <p:nvSpPr>
          <p:cNvPr id="161" name="TextBox161"/>
          <p:cNvSpPr/>
          <p:nvPr/>
        </p:nvSpPr>
        <p:spPr>
          <a:xfrm xmlns:a="http://schemas.openxmlformats.org/drawingml/2006/main">
            <a:off x="9100000" y="3750000"/>
            <a:ext cx="2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EE58"/>
                </a:solidFill>
                <a:latin typeface="맑은 고딕"/>
                <a:ea typeface="맑은 고딕"/>
              </a:rPr>
              <a:t>_useMockDetector bool 토글</a:t>
            </a:r>
          </a:p>
        </p:txBody>
      </p:sp>
      <p:sp>
        <p:nvSpPr>
          <p:cNvPr id="162" name="RoundRect162"/>
          <p:cNvSpPr/>
          <p:nvPr/>
        </p:nvSpPr>
        <p:spPr>
          <a:xfrm xmlns:a="http://schemas.openxmlformats.org/drawingml/2006/main">
            <a:off x="300000" y="4800000"/>
            <a:ext cx="115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3" name="TextBox163"/>
          <p:cNvSpPr/>
          <p:nvPr/>
        </p:nvSpPr>
        <p:spPr>
          <a:xfrm xmlns:a="http://schemas.openxmlformats.org/drawingml/2006/main">
            <a:off x="500000" y="4850000"/>
            <a:ext cx="20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인벤토리 저장</a:t>
            </a:r>
          </a:p>
        </p:txBody>
      </p:sp>
      <p:sp>
        <p:nvSpPr>
          <p:cNvPr id="164" name="TextBox164"/>
          <p:cNvSpPr/>
          <p:nvPr/>
        </p:nvSpPr>
        <p:spPr>
          <a:xfrm xmlns:a="http://schemas.openxmlformats.org/drawingml/2006/main">
            <a:off x="500000" y="5200000"/>
            <a:ext cx="20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IFruitRepository</a:t>
            </a:r>
          </a:p>
        </p:txBody>
      </p:sp>
      <p:sp>
        <p:nvSpPr>
          <p:cNvPr id="165" name="RoundRect165"/>
          <p:cNvSpPr/>
          <p:nvPr/>
        </p:nvSpPr>
        <p:spPr>
          <a:xfrm xmlns:a="http://schemas.openxmlformats.org/drawingml/2006/main">
            <a:off x="2700000" y="490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6" name="Rect166"/>
          <p:cNvSpPr/>
          <p:nvPr/>
        </p:nvSpPr>
        <p:spPr>
          <a:xfrm xmlns:a="http://schemas.openxmlformats.org/drawingml/2006/main">
            <a:off x="2700000" y="490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7" name="Rect167"/>
          <p:cNvSpPr/>
          <p:nvPr/>
        </p:nvSpPr>
        <p:spPr>
          <a:xfrm xmlns:a="http://schemas.openxmlformats.org/drawingml/2006/main">
            <a:off x="2700000" y="49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5350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2850000" y="500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EF5350"/>
                </a:solidFill>
                <a:latin typeface="맑은 고딕"/>
                <a:ea typeface="맑은 고딕"/>
              </a:rPr>
              <a:t>Mock</a:t>
            </a:r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2850000" y="535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MockFruitRepository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(JSON 파일 저장)</a:t>
            </a:r>
          </a:p>
        </p:txBody>
      </p:sp>
      <p:sp>
        <p:nvSpPr>
          <p:cNvPr id="170" name="RoundRect170"/>
          <p:cNvSpPr/>
          <p:nvPr/>
        </p:nvSpPr>
        <p:spPr>
          <a:xfrm xmlns:a="http://schemas.openxmlformats.org/drawingml/2006/main">
            <a:off x="5900000" y="4900000"/>
            <a:ext cx="30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1" name="Rect171"/>
          <p:cNvSpPr/>
          <p:nvPr/>
        </p:nvSpPr>
        <p:spPr>
          <a:xfrm xmlns:a="http://schemas.openxmlformats.org/drawingml/2006/main">
            <a:off x="5900000" y="4900000"/>
            <a:ext cx="300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2" name="Rect172"/>
          <p:cNvSpPr/>
          <p:nvPr/>
        </p:nvSpPr>
        <p:spPr>
          <a:xfrm xmlns:a="http://schemas.openxmlformats.org/drawingml/2006/main">
            <a:off x="5900000" y="49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3" name="TextBox173"/>
          <p:cNvSpPr/>
          <p:nvPr/>
        </p:nvSpPr>
        <p:spPr>
          <a:xfrm xmlns:a="http://schemas.openxmlformats.org/drawingml/2006/main">
            <a:off x="6050000" y="5000000"/>
            <a:ext cx="27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66BB6A"/>
                </a:solidFill>
                <a:latin typeface="맑은 고딕"/>
                <a:ea typeface="맑은 고딕"/>
              </a:rPr>
              <a:t>Real</a:t>
            </a:r>
          </a:p>
        </p:txBody>
      </p:sp>
      <p:sp>
        <p:nvSpPr>
          <p:cNvPr id="174" name="TextBox174"/>
          <p:cNvSpPr/>
          <p:nvPr/>
        </p:nvSpPr>
        <p:spPr>
          <a:xfrm xmlns:a="http://schemas.openxmlformats.org/drawingml/2006/main">
            <a:off x="6050000" y="5350000"/>
            <a:ext cx="27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FruitRepository</a:t>
            </a:r>
          </a:p>
          <a:p xmlns:a="http://schemas.openxmlformats.org/drawingml/2006/main">
            <a:pPr algn="l"/>
            <a:r>
              <a:rPr lang="ko-KR" sz="1000" b="0" dirty="0">
                <a:solidFill>
                  <a:srgbClr val="B0BEC5"/>
                </a:solidFill>
                <a:latin typeface="맑은 고딕"/>
                <a:ea typeface="맑은 고딕"/>
              </a:rPr>
              <a:t>(미구현, 확장 예정)</a:t>
            </a:r>
          </a:p>
        </p:txBody>
      </p:sp>
      <p:sp>
        <p:nvSpPr>
          <p:cNvPr id="175" name="TextBox175"/>
          <p:cNvSpPr/>
          <p:nvPr/>
        </p:nvSpPr>
        <p:spPr>
          <a:xfrm xmlns:a="http://schemas.openxmlformats.org/drawingml/2006/main">
            <a:off x="9100000" y="5100000"/>
            <a:ext cx="2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FFEE58"/>
                </a:solidFill>
                <a:latin typeface="맑은 고딕"/>
                <a:ea typeface="맑은 고딕"/>
              </a:rPr>
              <a:t>_simulateDb bool 토글</a:t>
            </a:r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600000" y="62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전환 방법: Inspector에서 bool 토글 또는 전처리기 지시문 → 코드 수정 없이 환경별 동작 변경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Rect17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8" name="Rect17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9" name="TextBox17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180" name="RoundRect180"/>
          <p:cNvSpPr/>
          <p:nvPr/>
        </p:nvSpPr>
        <p:spPr>
          <a:xfrm xmlns:a="http://schemas.openxmlformats.org/drawingml/2006/main">
            <a:off x="600000" y="16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1" name="Rect181"/>
          <p:cNvSpPr/>
          <p:nvPr/>
        </p:nvSpPr>
        <p:spPr>
          <a:xfrm xmlns:a="http://schemas.openxmlformats.org/drawingml/2006/main">
            <a:off x="600000" y="16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2" name="Rect182"/>
          <p:cNvSpPr/>
          <p:nvPr/>
        </p:nvSpPr>
        <p:spPr>
          <a:xfrm xmlns:a="http://schemas.openxmlformats.org/drawingml/2006/main">
            <a:off x="600000" y="16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3" name="TextBox183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VContainer</a:t>
            </a:r>
          </a:p>
        </p:txBody>
      </p:sp>
      <p:sp>
        <p:nvSpPr>
          <p:cNvPr id="184" name="TextBox184"/>
          <p:cNvSpPr/>
          <p:nvPr/>
        </p:nvSpPr>
        <p:spPr>
          <a:xfrm xmlns:a="http://schemas.openxmlformats.org/drawingml/2006/main">
            <a:off x="900000" y="20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Unity용 경량 DI 프레임워크, LifetimeScope 상속으로 씬별 DI 구성</a:t>
            </a:r>
          </a:p>
        </p:txBody>
      </p:sp>
      <p:sp>
        <p:nvSpPr>
          <p:cNvPr id="185" name="RoundRect185"/>
          <p:cNvSpPr/>
          <p:nvPr/>
        </p:nvSpPr>
        <p:spPr>
          <a:xfrm xmlns:a="http://schemas.openxmlformats.org/drawingml/2006/main">
            <a:off x="600000" y="25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6" name="Rect186"/>
          <p:cNvSpPr/>
          <p:nvPr/>
        </p:nvSpPr>
        <p:spPr>
          <a:xfrm xmlns:a="http://schemas.openxmlformats.org/drawingml/2006/main">
            <a:off x="600000" y="25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7" name="Rect187"/>
          <p:cNvSpPr/>
          <p:nvPr/>
        </p:nvSpPr>
        <p:spPr>
          <a:xfrm xmlns:a="http://schemas.openxmlformats.org/drawingml/2006/main">
            <a:off x="600000" y="25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900000" y="2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3단계 Scope</a:t>
            </a:r>
          </a:p>
        </p:txBody>
      </p:sp>
      <p:sp>
        <p:nvSpPr>
          <p:cNvPr id="189" name="TextBox189"/>
          <p:cNvSpPr/>
          <p:nvPr/>
        </p:nvSpPr>
        <p:spPr>
          <a:xfrm xmlns:a="http://schemas.openxmlformats.org/drawingml/2006/main">
            <a:off x="900000" y="29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ApplicationScope(전역) → MapScope(지도) / ARScope(AR) 계층 구조</a:t>
            </a:r>
          </a:p>
        </p:txBody>
      </p:sp>
      <p:sp>
        <p:nvSpPr>
          <p:cNvPr id="190" name="RoundRect190"/>
          <p:cNvSpPr/>
          <p:nvPr/>
        </p:nvSpPr>
        <p:spPr>
          <a:xfrm xmlns:a="http://schemas.openxmlformats.org/drawingml/2006/main">
            <a:off x="600000" y="34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1" name="Rect191"/>
          <p:cNvSpPr/>
          <p:nvPr/>
        </p:nvSpPr>
        <p:spPr>
          <a:xfrm xmlns:a="http://schemas.openxmlformats.org/drawingml/2006/main">
            <a:off x="600000" y="34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2" name="Rect192"/>
          <p:cNvSpPr/>
          <p:nvPr/>
        </p:nvSpPr>
        <p:spPr>
          <a:xfrm xmlns:a="http://schemas.openxmlformats.org/drawingml/2006/main">
            <a:off x="600000" y="34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3" name="TextBox193"/>
          <p:cNvSpPr/>
          <p:nvPr/>
        </p:nvSpPr>
        <p:spPr>
          <a:xfrm xmlns:a="http://schemas.openxmlformats.org/drawingml/2006/main">
            <a:off x="900000" y="34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[Inject] 속성</a:t>
            </a:r>
          </a:p>
        </p:txBody>
      </p:sp>
      <p:sp>
        <p:nvSpPr>
          <p:cNvPr id="194" name="TextBox194"/>
          <p:cNvSpPr/>
          <p:nvPr/>
        </p:nvSpPr>
        <p:spPr>
          <a:xfrm xmlns:a="http://schemas.openxmlformats.org/drawingml/2006/main">
            <a:off x="900000" y="38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필드에 [Inject]를 붙이면 VContainer가 자동으로 의존성 주입</a:t>
            </a:r>
          </a:p>
        </p:txBody>
      </p:sp>
      <p:sp>
        <p:nvSpPr>
          <p:cNvPr id="195" name="RoundRect195"/>
          <p:cNvSpPr/>
          <p:nvPr/>
        </p:nvSpPr>
        <p:spPr>
          <a:xfrm xmlns:a="http://schemas.openxmlformats.org/drawingml/2006/main">
            <a:off x="600000" y="4300000"/>
            <a:ext cx="10900000" cy="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6" name="Rect196"/>
          <p:cNvSpPr/>
          <p:nvPr/>
        </p:nvSpPr>
        <p:spPr>
          <a:xfrm xmlns:a="http://schemas.openxmlformats.org/drawingml/2006/main">
            <a:off x="600000" y="4300000"/>
            <a:ext cx="136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7" name="Rect197"/>
          <p:cNvSpPr/>
          <p:nvPr/>
        </p:nvSpPr>
        <p:spPr>
          <a:xfrm xmlns:a="http://schemas.openxmlformats.org/drawingml/2006/main">
            <a:off x="600000" y="4300000"/>
            <a:ext cx="80000" cy="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8" name="TextBox198"/>
          <p:cNvSpPr/>
          <p:nvPr/>
        </p:nvSpPr>
        <p:spPr>
          <a:xfrm xmlns:a="http://schemas.openxmlformats.org/drawingml/2006/main">
            <a:off x="900000" y="4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Mock/Real 전환</a:t>
            </a:r>
          </a:p>
        </p:txBody>
      </p:sp>
      <p:sp>
        <p:nvSpPr>
          <p:cNvPr id="199" name="TextBox199"/>
          <p:cNvSpPr/>
          <p:nvPr/>
        </p:nvSpPr>
        <p:spPr>
          <a:xfrm xmlns:a="http://schemas.openxmlformats.org/drawingml/2006/main">
            <a:off x="900000" y="4720000"/>
            <a:ext cx="10400000" cy="3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인터페이스 기반 바인딩 → Inspector 토글이나 전처리기로 구현체 교체</a:t>
            </a:r>
          </a:p>
        </p:txBody>
      </p:sp>
      <p:sp>
        <p:nvSpPr>
          <p:cNvPr id="200" name="RoundRect200"/>
          <p:cNvSpPr/>
          <p:nvPr/>
        </p:nvSpPr>
        <p:spPr>
          <a:xfrm xmlns:a="http://schemas.openxmlformats.org/drawingml/2006/main">
            <a:off x="600000" y="5400000"/>
            <a:ext cx="10900000" cy="1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800000" y="54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DI가 GoldenFruit 아키텍처에 미치는 효과</a:t>
            </a:r>
          </a:p>
        </p:txBody>
      </p:sp>
      <p:sp>
        <p:nvSpPr>
          <p:cNvPr id="202" name="TextBox202"/>
          <p:cNvSpPr/>
          <p:nvPr/>
        </p:nvSpPr>
        <p:spPr>
          <a:xfrm xmlns:a="http://schemas.openxmlformats.org/drawingml/2006/main">
            <a:off x="800000" y="5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인터페이스로 계약 → VContainer로 바인딩 → [Inject]로 주입</a:t>
            </a:r>
          </a:p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= 구현체 교체가 자유롭고, 테스트가 쉬운 아키텍처 완성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