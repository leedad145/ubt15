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</Types>
</file>

<file path=_rels/.rels>&#65279;<?xml version="1.0" encoding="utf-8"?>
<Relationships xmlns="http://schemas.openxmlformats.org/package/2006/relationships">
  <Relationship Type="http://schemas.openxmlformats.org/officeDocument/2006/relationships/officeDocument" Target="ppt/presentation.xml" Id="R1c91ce98c02f4236" />
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  <p:sldId xmlns:r="http://schemas.openxmlformats.org/officeDocument/2006/relationships" id="260" r:id="rId5"/>
    <p:sldId xmlns:r="http://schemas.openxmlformats.org/officeDocument/2006/relationships" id="261" r:id="rId6"/>
    <p:sldId xmlns:r="http://schemas.openxmlformats.org/officeDocument/2006/relationships" id="262" r:id="rId7"/>
    <p:sldId xmlns:r="http://schemas.openxmlformats.org/officeDocument/2006/relationships" id="263" r:id="rId8"/>
    <p:sldId xmlns:r="http://schemas.openxmlformats.org/officeDocument/2006/relationships" id="264" r:id="rId9"/>
    <p:sldId xmlns:r="http://schemas.openxmlformats.org/officeDocument/2006/relationships" id="265" r:id="rId10"/>
  </p:sldIdLst>
  <p:sldSz cx="12192000" cy="6858000" type="custom"/>
  <p:notesSz cx="6858000" cy="9144000"/>
</p:presentation>
</file>

<file path=ppt/_rels/presentation.xml.rels>&#65279;<?xml version="1.0" encoding="utf-8"?>
<Relationships xmlns="http://schemas.openxmlformats.org/package/2006/relationships">
  <Relationship Type="http://schemas.openxmlformats.org/officeDocument/2006/relationships/theme" Target="theme/theme1.xml" Id="rIdTheme" />
  <Relationship Type="http://schemas.openxmlformats.org/officeDocument/2006/relationships/slideMaster" Target="slideMasters/slideMaster1.xml" Id="rIdMaster" />
  <Relationship Type="http://schemas.openxmlformats.org/officeDocument/2006/relationships/slide" Target="slides/slide1.xml" Id="rId1" />
  <Relationship Type="http://schemas.openxmlformats.org/officeDocument/2006/relationships/slide" Target="slides/slide2.xml" Id="rId2" />
  <Relationship Type="http://schemas.openxmlformats.org/officeDocument/2006/relationships/slide" Target="slides/slide3.xml" Id="rId3" />
  <Relationship Type="http://schemas.openxmlformats.org/officeDocument/2006/relationships/slide" Target="slides/slide4.xml" Id="rId4" />
  <Relationship Type="http://schemas.openxmlformats.org/officeDocument/2006/relationships/slide" Target="slides/slide5.xml" Id="rId5" />
  <Relationship Type="http://schemas.openxmlformats.org/officeDocument/2006/relationships/slide" Target="slides/slide6.xml" Id="rId6" />
  <Relationship Type="http://schemas.openxmlformats.org/officeDocument/2006/relationships/slide" Target="slides/slide7.xml" Id="rId7" />
  <Relationship Type="http://schemas.openxmlformats.org/officeDocument/2006/relationships/slide" Target="slides/slide8.xml" Id="rId8" />
  <Relationship Type="http://schemas.openxmlformats.org/officeDocument/2006/relationships/slide" Target="slides/slide9.xml" Id="rId9" />
  <Relationship Type="http://schemas.openxmlformats.org/officeDocument/2006/relationships/slide" Target="slides/slide10.xml" Id="rId10" />
</Relationships>
</file>

<file path=ppt/slideLayouts/_rels/slideLayout1.xml.rels>&#65279;<?xml version="1.0" encoding="utf-8"?>
<Relationships xmlns="http://schemas.openxmlformats.org/package/2006/relationships">
  <Relationship Type="http://schemas.openxmlformats.org/officeDocument/2006/relationships/slideMaster" Target="../slideMasters/slideMaster1.xml" Id="rIdSldMaster" />
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  <Relationship Type="http://schemas.openxmlformats.org/officeDocument/2006/relationships/theme" Target="../theme/theme1.xml" Id="rIdTheme" />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"/>
  </p:sldLayoutIdLst>
  <p:txStyles>
    <p:titleStyle>
      <a:lvl1pPr xmlns:a="http://schemas.openxmlformats.org/drawingml/2006/main">
        <a:defRPr sz="2400"/>
      </a:lvl1pPr>
    </p:titleStyle>
    <p:bodyStyle>
      <a:lvl1pPr xmlns:a="http://schemas.openxmlformats.org/drawingml/2006/main">
        <a:defRPr sz="1800"/>
      </a:lvl1pPr>
    </p:bodyStyle>
    <p:otherStyle>
      <a:lvl1pPr xmlns:a="http://schemas.openxmlformats.org/drawingml/2006/main">
        <a:defRPr sz="1400"/>
      </a:lvl1pPr>
    </p:otherStyle>
  </p:txStyles>
</p:sldMaster>
</file>

<file path=ppt/slides/_rels/slide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2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3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4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5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6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7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8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9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10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2"/>
          <p:cNvSpPr/>
          <p:nvPr/>
        </p:nvSpPr>
        <p:spPr>
          <a:xfrm xmlns:a="http://schemas.openxmlformats.org/drawingml/2006/main">
            <a:off x="0" y="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" name="TextBox3"/>
          <p:cNvSpPr/>
          <p:nvPr/>
        </p:nvSpPr>
        <p:spPr>
          <a:xfrm xmlns:a="http://schemas.openxmlformats.org/drawingml/2006/main">
            <a:off x="800000" y="1800000"/>
            <a:ext cx="105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4400" b="1" dirty="0">
                <a:solidFill>
                  <a:srgbClr val="FFFFFF"/>
                </a:solidFill>
                <a:latin typeface="맑은 고딕"/>
                <a:ea typeface="맑은 고딕"/>
              </a:rPr>
              <a:t>GoldenFruit 프로젝트</a:t>
            </a:r>
          </a:p>
        </p:txBody>
      </p:sp>
      <p:sp>
        <p:nvSpPr>
          <p:cNvPr id="4" name="TextBox4"/>
          <p:cNvSpPr/>
          <p:nvPr/>
        </p:nvSpPr>
        <p:spPr>
          <a:xfrm xmlns:a="http://schemas.openxmlformats.org/drawingml/2006/main">
            <a:off x="800000" y="3000000"/>
            <a:ext cx="105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4FC3F7"/>
                </a:solidFill>
                <a:latin typeface="맑은 고딕"/>
                <a:ea typeface="맑은 고딕"/>
              </a:rPr>
              <a:t>Chapter 1: 프로젝트 개요와 아키텍처</a:t>
            </a:r>
          </a:p>
        </p:txBody>
      </p:sp>
      <p:sp>
        <p:nvSpPr>
          <p:cNvPr id="5" name="TextBox5"/>
          <p:cNvSpPr/>
          <p:nvPr/>
        </p:nvSpPr>
        <p:spPr>
          <a:xfrm xmlns:a="http://schemas.openxmlformats.org/drawingml/2006/main">
            <a:off x="800000" y="3900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B0BEC5"/>
                </a:solidFill>
                <a:latin typeface="맑은 고딕"/>
                <a:ea typeface="맑은 고딕"/>
              </a:rPr>
              <a:t>Unity 6 기반 위치 기반 AR 과일 수집 게임</a:t>
            </a:r>
          </a:p>
        </p:txBody>
      </p:sp>
      <p:sp>
        <p:nvSpPr>
          <p:cNvPr id="6" name="Rect6"/>
          <p:cNvSpPr/>
          <p:nvPr/>
        </p:nvSpPr>
        <p:spPr>
          <a:xfrm xmlns:a="http://schemas.openxmlformats.org/drawingml/2006/main">
            <a:off x="4500000" y="4800000"/>
            <a:ext cx="3200000" cy="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" name="TextBox7"/>
          <p:cNvSpPr/>
          <p:nvPr/>
        </p:nvSpPr>
        <p:spPr>
          <a:xfrm xmlns:a="http://schemas.openxmlformats.org/drawingml/2006/main">
            <a:off x="800000" y="51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800" b="0" dirty="0">
                <a:solidFill>
                  <a:srgbClr val="B0BEC5"/>
                </a:solidFill>
                <a:latin typeface="맑은 고딕"/>
                <a:ea typeface="맑은 고딕"/>
              </a:rPr>
              <a:t>조영민 강사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" name="Rect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" name="TextBox1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목 차</a:t>
            </a:r>
          </a:p>
        </p:txBody>
      </p:sp>
      <p:sp>
        <p:nvSpPr>
          <p:cNvPr id="11" name="TextBox11"/>
          <p:cNvSpPr/>
          <p:nvPr/>
        </p:nvSpPr>
        <p:spPr>
          <a:xfrm xmlns:a="http://schemas.openxmlformats.org/drawingml/2006/main">
            <a:off x="1500000" y="16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1.  GoldenFruit 프로젝트 소개</a:t>
            </a:r>
          </a:p>
        </p:txBody>
      </p:sp>
      <p:sp>
        <p:nvSpPr>
          <p:cNvPr id="12" name="TextBox12"/>
          <p:cNvSpPr/>
          <p:nvPr/>
        </p:nvSpPr>
        <p:spPr>
          <a:xfrm xmlns:a="http://schemas.openxmlformats.org/drawingml/2006/main">
            <a:off x="1500000" y="21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2.  기술 스택</a:t>
            </a:r>
          </a:p>
        </p:txBody>
      </p:sp>
      <p:sp>
        <p:nvSpPr>
          <p:cNvPr id="13" name="TextBox13"/>
          <p:cNvSpPr/>
          <p:nvPr/>
        </p:nvSpPr>
        <p:spPr>
          <a:xfrm xmlns:a="http://schemas.openxmlformats.org/drawingml/2006/main">
            <a:off x="1500000" y="26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3.  게임플레이 흐름</a:t>
            </a:r>
          </a:p>
        </p:txBody>
      </p:sp>
      <p:sp>
        <p:nvSpPr>
          <p:cNvPr id="14" name="TextBox14"/>
          <p:cNvSpPr/>
          <p:nvPr/>
        </p:nvSpPr>
        <p:spPr>
          <a:xfrm xmlns:a="http://schemas.openxmlformats.org/drawingml/2006/main">
            <a:off x="1500000" y="316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4.  폴더 구조</a:t>
            </a:r>
          </a:p>
        </p:txBody>
      </p:sp>
      <p:sp>
        <p:nvSpPr>
          <p:cNvPr id="15" name="TextBox15"/>
          <p:cNvSpPr/>
          <p:nvPr/>
        </p:nvSpPr>
        <p:spPr>
          <a:xfrm xmlns:a="http://schemas.openxmlformats.org/drawingml/2006/main">
            <a:off x="1500000" y="368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5.  Assembly 기반 계층 구조</a:t>
            </a:r>
          </a:p>
        </p:txBody>
      </p:sp>
      <p:sp>
        <p:nvSpPr>
          <p:cNvPr id="16" name="TextBox16"/>
          <p:cNvSpPr/>
          <p:nvPr/>
        </p:nvSpPr>
        <p:spPr>
          <a:xfrm xmlns:a="http://schemas.openxmlformats.org/drawingml/2006/main">
            <a:off x="1500000" y="42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6.  Assembly 의존성 규칙</a:t>
            </a:r>
          </a:p>
        </p:txBody>
      </p:sp>
      <p:sp>
        <p:nvSpPr>
          <p:cNvPr id="17" name="TextBox17"/>
          <p:cNvSpPr/>
          <p:nvPr/>
        </p:nvSpPr>
        <p:spPr>
          <a:xfrm xmlns:a="http://schemas.openxmlformats.org/drawingml/2006/main">
            <a:off x="1500000" y="47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7.  3개 씬 구조</a:t>
            </a:r>
          </a:p>
        </p:txBody>
      </p:sp>
      <p:sp>
        <p:nvSpPr>
          <p:cNvPr id="18" name="TextBox18"/>
          <p:cNvSpPr/>
          <p:nvPr/>
        </p:nvSpPr>
        <p:spPr>
          <a:xfrm xmlns:a="http://schemas.openxmlformats.org/drawingml/2006/main">
            <a:off x="1500000" y="52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8.  요약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1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" name="Rect2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" name="TextBox2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1. GoldenFruit 프로젝트 소개</a:t>
            </a:r>
          </a:p>
        </p:txBody>
      </p:sp>
      <p:sp>
        <p:nvSpPr>
          <p:cNvPr id="22" name="RoundRect22"/>
          <p:cNvSpPr/>
          <p:nvPr/>
        </p:nvSpPr>
        <p:spPr>
          <a:xfrm xmlns:a="http://schemas.openxmlformats.org/drawingml/2006/main">
            <a:off x="600000" y="1500000"/>
            <a:ext cx="109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" name="TextBox23"/>
          <p:cNvSpPr/>
          <p:nvPr/>
        </p:nvSpPr>
        <p:spPr>
          <a:xfrm xmlns:a="http://schemas.openxmlformats.org/drawingml/2006/main">
            <a:off x="800000" y="1600000"/>
            <a:ext cx="105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0" dirty="0">
                <a:solidFill>
                  <a:srgbClr val="4FC3F7"/>
                </a:solidFill>
                <a:latin typeface="맑은 고딕"/>
                <a:ea typeface="맑은 고딕"/>
              </a:rPr>
              <a:t>GoldenFruit = Pokemon Go와 유사한 위치 기반 AR 과일 수집 게임</a:t>
            </a:r>
          </a:p>
          <a:p xmlns:a="http://schemas.openxmlformats.org/drawingml/2006/main">
            <a:pPr algn="l"/>
            <a:r>
              <a:rPr lang="ko-KR" sz="1800" b="0" dirty="0">
                <a:solidFill>
                  <a:srgbClr val="4FC3F7"/>
                </a:solidFill>
                <a:latin typeface="맑은 고딕"/>
                <a:ea typeface="맑은 고딕"/>
              </a:rPr>
              <a:t>교육 목적으로 설계된 Unity 6 프로젝트</a:t>
            </a:r>
          </a:p>
        </p:txBody>
      </p:sp>
      <p:sp>
        <p:nvSpPr>
          <p:cNvPr id="24" name="TextBox24"/>
          <p:cNvSpPr/>
          <p:nvPr/>
        </p:nvSpPr>
        <p:spPr>
          <a:xfrm xmlns:a="http://schemas.openxmlformats.org/drawingml/2006/main">
            <a:off x="600000" y="2700000"/>
            <a:ext cx="109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FFFFFF"/>
                </a:solidFill>
                <a:latin typeface="맑은 고딕"/>
                <a:ea typeface="맑은 고딕"/>
              </a:rPr>
              <a:t>핵심 게임 루프</a:t>
            </a:r>
          </a:p>
        </p:txBody>
      </p:sp>
      <p:sp>
        <p:nvSpPr>
          <p:cNvPr id="25" name="RoundRect25"/>
          <p:cNvSpPr/>
          <p:nvPr/>
        </p:nvSpPr>
        <p:spPr>
          <a:xfrm xmlns:a="http://schemas.openxmlformats.org/drawingml/2006/main">
            <a:off x="300000" y="3300000"/>
            <a:ext cx="2800000" cy="2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6" name="Rect26"/>
          <p:cNvSpPr/>
          <p:nvPr/>
        </p:nvSpPr>
        <p:spPr>
          <a:xfrm xmlns:a="http://schemas.openxmlformats.org/drawingml/2006/main">
            <a:off x="300000" y="3300000"/>
            <a:ext cx="2800000" cy="35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7" name="Rect27"/>
          <p:cNvSpPr/>
          <p:nvPr/>
        </p:nvSpPr>
        <p:spPr>
          <a:xfrm xmlns:a="http://schemas.openxmlformats.org/drawingml/2006/main">
            <a:off x="300000" y="3300000"/>
            <a:ext cx="28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8" name="TextBox28"/>
          <p:cNvSpPr/>
          <p:nvPr/>
        </p:nvSpPr>
        <p:spPr>
          <a:xfrm xmlns:a="http://schemas.openxmlformats.org/drawingml/2006/main">
            <a:off x="450000" y="350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GPS 지도 탐색</a:t>
            </a:r>
          </a:p>
        </p:txBody>
      </p:sp>
      <p:sp>
        <p:nvSpPr>
          <p:cNvPr id="29" name="TextBox29"/>
          <p:cNvSpPr/>
          <p:nvPr/>
        </p:nvSpPr>
        <p:spPr>
          <a:xfrm xmlns:a="http://schemas.openxmlformats.org/drawingml/2006/main">
            <a:off x="450000" y="4100000"/>
            <a:ext cx="25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3×3 타일 Google Maps 위를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이동하며 과일 탐색</a:t>
            </a:r>
          </a:p>
        </p:txBody>
      </p:sp>
      <p:sp>
        <p:nvSpPr>
          <p:cNvPr id="30" name="RoundRect30"/>
          <p:cNvSpPr/>
          <p:nvPr/>
        </p:nvSpPr>
        <p:spPr>
          <a:xfrm xmlns:a="http://schemas.openxmlformats.org/drawingml/2006/main">
            <a:off x="3250000" y="3300000"/>
            <a:ext cx="2800000" cy="2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1" name="Rect31"/>
          <p:cNvSpPr/>
          <p:nvPr/>
        </p:nvSpPr>
        <p:spPr>
          <a:xfrm xmlns:a="http://schemas.openxmlformats.org/drawingml/2006/main">
            <a:off x="3250000" y="3300000"/>
            <a:ext cx="2800000" cy="35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2" name="Rect32"/>
          <p:cNvSpPr/>
          <p:nvPr/>
        </p:nvSpPr>
        <p:spPr>
          <a:xfrm xmlns:a="http://schemas.openxmlformats.org/drawingml/2006/main">
            <a:off x="3250000" y="3300000"/>
            <a:ext cx="28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3" name="TextBox33"/>
          <p:cNvSpPr/>
          <p:nvPr/>
        </p:nvSpPr>
        <p:spPr>
          <a:xfrm xmlns:a="http://schemas.openxmlformats.org/drawingml/2006/main">
            <a:off x="3400000" y="350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카메라 과일 탐지</a:t>
            </a:r>
          </a:p>
        </p:txBody>
      </p:sp>
      <p:sp>
        <p:nvSpPr>
          <p:cNvPr id="34" name="TextBox34"/>
          <p:cNvSpPr/>
          <p:nvPr/>
        </p:nvSpPr>
        <p:spPr>
          <a:xfrm xmlns:a="http://schemas.openxmlformats.org/drawingml/2006/main">
            <a:off x="3400000" y="4100000"/>
            <a:ext cx="25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YOLO ML 모델로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실시간 과일 인식</a:t>
            </a:r>
          </a:p>
        </p:txBody>
      </p:sp>
      <p:sp>
        <p:nvSpPr>
          <p:cNvPr id="35" name="RoundRect35"/>
          <p:cNvSpPr/>
          <p:nvPr/>
        </p:nvSpPr>
        <p:spPr>
          <a:xfrm xmlns:a="http://schemas.openxmlformats.org/drawingml/2006/main">
            <a:off x="6200000" y="3300000"/>
            <a:ext cx="2800000" cy="2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6" name="Rect36"/>
          <p:cNvSpPr/>
          <p:nvPr/>
        </p:nvSpPr>
        <p:spPr>
          <a:xfrm xmlns:a="http://schemas.openxmlformats.org/drawingml/2006/main">
            <a:off x="6200000" y="3300000"/>
            <a:ext cx="2800000" cy="35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7" name="Rect37"/>
          <p:cNvSpPr/>
          <p:nvPr/>
        </p:nvSpPr>
        <p:spPr>
          <a:xfrm xmlns:a="http://schemas.openxmlformats.org/drawingml/2006/main">
            <a:off x="6200000" y="3300000"/>
            <a:ext cx="28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8" name="TextBox38"/>
          <p:cNvSpPr/>
          <p:nvPr/>
        </p:nvSpPr>
        <p:spPr>
          <a:xfrm xmlns:a="http://schemas.openxmlformats.org/drawingml/2006/main">
            <a:off x="6350000" y="350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A726"/>
                </a:solidFill>
                <a:latin typeface="맑은 고딕"/>
                <a:ea typeface="맑은 고딕"/>
              </a:rPr>
              <a:t>AR 수집 &amp; 배치</a:t>
            </a:r>
          </a:p>
        </p:txBody>
      </p:sp>
      <p:sp>
        <p:nvSpPr>
          <p:cNvPr id="39" name="TextBox39"/>
          <p:cNvSpPr/>
          <p:nvPr/>
        </p:nvSpPr>
        <p:spPr>
          <a:xfrm xmlns:a="http://schemas.openxmlformats.org/drawingml/2006/main">
            <a:off x="6350000" y="4100000"/>
            <a:ext cx="25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탐지된 과일을 AR 공간에서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수집하고 배치</a:t>
            </a:r>
          </a:p>
        </p:txBody>
      </p:sp>
      <p:sp>
        <p:nvSpPr>
          <p:cNvPr id="40" name="RoundRect40"/>
          <p:cNvSpPr/>
          <p:nvPr/>
        </p:nvSpPr>
        <p:spPr>
          <a:xfrm xmlns:a="http://schemas.openxmlformats.org/drawingml/2006/main">
            <a:off x="9150000" y="3300000"/>
            <a:ext cx="2800000" cy="2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1" name="Rect41"/>
          <p:cNvSpPr/>
          <p:nvPr/>
        </p:nvSpPr>
        <p:spPr>
          <a:xfrm xmlns:a="http://schemas.openxmlformats.org/drawingml/2006/main">
            <a:off x="9150000" y="3300000"/>
            <a:ext cx="2800000" cy="35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2" name="Rect42"/>
          <p:cNvSpPr/>
          <p:nvPr/>
        </p:nvSpPr>
        <p:spPr>
          <a:xfrm xmlns:a="http://schemas.openxmlformats.org/drawingml/2006/main">
            <a:off x="9150000" y="3300000"/>
            <a:ext cx="28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3" name="TextBox43"/>
          <p:cNvSpPr/>
          <p:nvPr/>
        </p:nvSpPr>
        <p:spPr>
          <a:xfrm xmlns:a="http://schemas.openxmlformats.org/drawingml/2006/main">
            <a:off x="9300000" y="350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EE58"/>
                </a:solidFill>
                <a:latin typeface="맑은 고딕"/>
                <a:ea typeface="맑은 고딕"/>
              </a:rPr>
              <a:t>인벤토리 관리</a:t>
            </a:r>
          </a:p>
        </p:txBody>
      </p:sp>
      <p:sp>
        <p:nvSpPr>
          <p:cNvPr id="44" name="TextBox44"/>
          <p:cNvSpPr/>
          <p:nvPr/>
        </p:nvSpPr>
        <p:spPr>
          <a:xfrm xmlns:a="http://schemas.openxmlformats.org/drawingml/2006/main">
            <a:off x="9300000" y="4100000"/>
            <a:ext cx="25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수집한 과일을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영구 저장 및 관리</a:t>
            </a:r>
          </a:p>
        </p:txBody>
      </p:sp>
      <p:sp>
        <p:nvSpPr>
          <p:cNvPr id="45" name="TextBox45"/>
          <p:cNvSpPr/>
          <p:nvPr/>
        </p:nvSpPr>
        <p:spPr>
          <a:xfrm xmlns:a="http://schemas.openxmlformats.org/drawingml/2006/main">
            <a:off x="600000" y="57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B0BEC5"/>
                </a:solidFill>
                <a:latin typeface="맑은 고딕"/>
                <a:ea typeface="맑은 고딕"/>
              </a:rPr>
              <a:t>각 시스템은 독립 Assembly로 분리되어 모듈화와 테스트 용이성을 보장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Rect46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7" name="Rect47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8" name="TextBox48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2. 기술 스택</a:t>
            </a:r>
          </a:p>
        </p:txBody>
      </p:sp>
      <p:sp>
        <p:nvSpPr>
          <p:cNvPr id="49" name="RoundRect49"/>
          <p:cNvSpPr/>
          <p:nvPr/>
        </p:nvSpPr>
        <p:spPr>
          <a:xfrm xmlns:a="http://schemas.openxmlformats.org/drawingml/2006/main">
            <a:off x="600000" y="150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0" name="TextBox50"/>
          <p:cNvSpPr/>
          <p:nvPr/>
        </p:nvSpPr>
        <p:spPr>
          <a:xfrm xmlns:a="http://schemas.openxmlformats.org/drawingml/2006/main">
            <a:off x="800000" y="1580000"/>
            <a:ext cx="3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엔진</a:t>
            </a:r>
          </a:p>
        </p:txBody>
      </p:sp>
      <p:sp>
        <p:nvSpPr>
          <p:cNvPr id="51" name="TextBox51"/>
          <p:cNvSpPr/>
          <p:nvPr/>
        </p:nvSpPr>
        <p:spPr>
          <a:xfrm xmlns:a="http://schemas.openxmlformats.org/drawingml/2006/main">
            <a:off x="3800000" y="1580000"/>
            <a:ext cx="7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0" dirty="0">
                <a:solidFill>
                  <a:srgbClr val="FFFFFF"/>
                </a:solidFill>
                <a:latin typeface="맑은 고딕"/>
                <a:ea typeface="맑은 고딕"/>
              </a:rPr>
              <a:t>Unity 6 (6000.3.2f1)</a:t>
            </a:r>
          </a:p>
        </p:txBody>
      </p:sp>
      <p:sp>
        <p:nvSpPr>
          <p:cNvPr id="52" name="RoundRect52"/>
          <p:cNvSpPr/>
          <p:nvPr/>
        </p:nvSpPr>
        <p:spPr>
          <a:xfrm xmlns:a="http://schemas.openxmlformats.org/drawingml/2006/main">
            <a:off x="600000" y="213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3" name="TextBox53"/>
          <p:cNvSpPr/>
          <p:nvPr/>
        </p:nvSpPr>
        <p:spPr>
          <a:xfrm xmlns:a="http://schemas.openxmlformats.org/drawingml/2006/main">
            <a:off x="800000" y="2210000"/>
            <a:ext cx="3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66BB6A"/>
                </a:solidFill>
                <a:latin typeface="맑은 고딕"/>
                <a:ea typeface="맑은 고딕"/>
              </a:rPr>
              <a:t>AR</a:t>
            </a:r>
          </a:p>
        </p:txBody>
      </p:sp>
      <p:sp>
        <p:nvSpPr>
          <p:cNvPr id="54" name="TextBox54"/>
          <p:cNvSpPr/>
          <p:nvPr/>
        </p:nvSpPr>
        <p:spPr>
          <a:xfrm xmlns:a="http://schemas.openxmlformats.org/drawingml/2006/main">
            <a:off x="3800000" y="2210000"/>
            <a:ext cx="7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0" dirty="0">
                <a:solidFill>
                  <a:srgbClr val="FFFFFF"/>
                </a:solidFill>
                <a:latin typeface="맑은 고딕"/>
                <a:ea typeface="맑은 고딕"/>
              </a:rPr>
              <a:t>ARFoundation + ARCore/ARKit 6.3.1</a:t>
            </a:r>
          </a:p>
        </p:txBody>
      </p:sp>
      <p:sp>
        <p:nvSpPr>
          <p:cNvPr id="55" name="RoundRect55"/>
          <p:cNvSpPr/>
          <p:nvPr/>
        </p:nvSpPr>
        <p:spPr>
          <a:xfrm xmlns:a="http://schemas.openxmlformats.org/drawingml/2006/main">
            <a:off x="600000" y="276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6" name="TextBox56"/>
          <p:cNvSpPr/>
          <p:nvPr/>
        </p:nvSpPr>
        <p:spPr>
          <a:xfrm xmlns:a="http://schemas.openxmlformats.org/drawingml/2006/main">
            <a:off x="800000" y="2840000"/>
            <a:ext cx="3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FFA726"/>
                </a:solidFill>
                <a:latin typeface="맑은 고딕"/>
                <a:ea typeface="맑은 고딕"/>
              </a:rPr>
              <a:t>렌더링</a:t>
            </a:r>
          </a:p>
        </p:txBody>
      </p:sp>
      <p:sp>
        <p:nvSpPr>
          <p:cNvPr id="57" name="TextBox57"/>
          <p:cNvSpPr/>
          <p:nvPr/>
        </p:nvSpPr>
        <p:spPr>
          <a:xfrm xmlns:a="http://schemas.openxmlformats.org/drawingml/2006/main">
            <a:off x="3800000" y="2840000"/>
            <a:ext cx="7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0" dirty="0">
                <a:solidFill>
                  <a:srgbClr val="FFFFFF"/>
                </a:solidFill>
                <a:latin typeface="맑은 고딕"/>
                <a:ea typeface="맑은 고딕"/>
              </a:rPr>
              <a:t>Universal Render Pipeline (URP)</a:t>
            </a:r>
          </a:p>
        </p:txBody>
      </p:sp>
      <p:sp>
        <p:nvSpPr>
          <p:cNvPr id="58" name="RoundRect58"/>
          <p:cNvSpPr/>
          <p:nvPr/>
        </p:nvSpPr>
        <p:spPr>
          <a:xfrm xmlns:a="http://schemas.openxmlformats.org/drawingml/2006/main">
            <a:off x="600000" y="339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9" name="TextBox59"/>
          <p:cNvSpPr/>
          <p:nvPr/>
        </p:nvSpPr>
        <p:spPr>
          <a:xfrm xmlns:a="http://schemas.openxmlformats.org/drawingml/2006/main">
            <a:off x="800000" y="3470000"/>
            <a:ext cx="3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FFEE58"/>
                </a:solidFill>
                <a:latin typeface="맑은 고딕"/>
                <a:ea typeface="맑은 고딕"/>
              </a:rPr>
              <a:t>ML 추론</a:t>
            </a:r>
          </a:p>
        </p:txBody>
      </p:sp>
      <p:sp>
        <p:nvSpPr>
          <p:cNvPr id="60" name="TextBox60"/>
          <p:cNvSpPr/>
          <p:nvPr/>
        </p:nvSpPr>
        <p:spPr>
          <a:xfrm xmlns:a="http://schemas.openxmlformats.org/drawingml/2006/main">
            <a:off x="3800000" y="3470000"/>
            <a:ext cx="7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0" dirty="0">
                <a:solidFill>
                  <a:srgbClr val="FFFFFF"/>
                </a:solidFill>
                <a:latin typeface="맑은 고딕"/>
                <a:ea typeface="맑은 고딕"/>
              </a:rPr>
              <a:t>Unity Sentis (YOLOv8n 모델)</a:t>
            </a:r>
          </a:p>
        </p:txBody>
      </p:sp>
      <p:sp>
        <p:nvSpPr>
          <p:cNvPr id="61" name="RoundRect61"/>
          <p:cNvSpPr/>
          <p:nvPr/>
        </p:nvSpPr>
        <p:spPr>
          <a:xfrm xmlns:a="http://schemas.openxmlformats.org/drawingml/2006/main">
            <a:off x="600000" y="402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2" name="TextBox62"/>
          <p:cNvSpPr/>
          <p:nvPr/>
        </p:nvSpPr>
        <p:spPr>
          <a:xfrm xmlns:a="http://schemas.openxmlformats.org/drawingml/2006/main">
            <a:off x="800000" y="4100000"/>
            <a:ext cx="3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DI 프레임워크</a:t>
            </a:r>
          </a:p>
        </p:txBody>
      </p:sp>
      <p:sp>
        <p:nvSpPr>
          <p:cNvPr id="63" name="TextBox63"/>
          <p:cNvSpPr/>
          <p:nvPr/>
        </p:nvSpPr>
        <p:spPr>
          <a:xfrm xmlns:a="http://schemas.openxmlformats.org/drawingml/2006/main">
            <a:off x="3800000" y="4100000"/>
            <a:ext cx="7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0" dirty="0">
                <a:solidFill>
                  <a:srgbClr val="FFFFFF"/>
                </a:solidFill>
                <a:latin typeface="맑은 고딕"/>
                <a:ea typeface="맑은 고딕"/>
              </a:rPr>
              <a:t>VContainer (소스 포함)</a:t>
            </a:r>
          </a:p>
        </p:txBody>
      </p:sp>
      <p:sp>
        <p:nvSpPr>
          <p:cNvPr id="64" name="RoundRect64"/>
          <p:cNvSpPr/>
          <p:nvPr/>
        </p:nvSpPr>
        <p:spPr>
          <a:xfrm xmlns:a="http://schemas.openxmlformats.org/drawingml/2006/main">
            <a:off x="600000" y="465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5" name="TextBox65"/>
          <p:cNvSpPr/>
          <p:nvPr/>
        </p:nvSpPr>
        <p:spPr>
          <a:xfrm xmlns:a="http://schemas.openxmlformats.org/drawingml/2006/main">
            <a:off x="800000" y="4730000"/>
            <a:ext cx="3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66BB6A"/>
                </a:solidFill>
                <a:latin typeface="맑은 고딕"/>
                <a:ea typeface="맑은 고딕"/>
              </a:rPr>
              <a:t>입력</a:t>
            </a:r>
          </a:p>
        </p:txBody>
      </p:sp>
      <p:sp>
        <p:nvSpPr>
          <p:cNvPr id="66" name="TextBox66"/>
          <p:cNvSpPr/>
          <p:nvPr/>
        </p:nvSpPr>
        <p:spPr>
          <a:xfrm xmlns:a="http://schemas.openxmlformats.org/drawingml/2006/main">
            <a:off x="3800000" y="4730000"/>
            <a:ext cx="7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0" dirty="0">
                <a:solidFill>
                  <a:srgbClr val="FFFFFF"/>
                </a:solidFill>
                <a:latin typeface="맑은 고딕"/>
                <a:ea typeface="맑은 고딕"/>
              </a:rPr>
              <a:t>Input System 1.17 + XR Interaction Toolkit</a:t>
            </a:r>
          </a:p>
        </p:txBody>
      </p:sp>
      <p:sp>
        <p:nvSpPr>
          <p:cNvPr id="67" name="RoundRect67"/>
          <p:cNvSpPr/>
          <p:nvPr/>
        </p:nvSpPr>
        <p:spPr>
          <a:xfrm xmlns:a="http://schemas.openxmlformats.org/drawingml/2006/main">
            <a:off x="600000" y="528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8" name="TextBox68"/>
          <p:cNvSpPr/>
          <p:nvPr/>
        </p:nvSpPr>
        <p:spPr>
          <a:xfrm xmlns:a="http://schemas.openxmlformats.org/drawingml/2006/main">
            <a:off x="800000" y="5360000"/>
            <a:ext cx="3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FFA726"/>
                </a:solidFill>
                <a:latin typeface="맑은 고딕"/>
                <a:ea typeface="맑은 고딕"/>
              </a:rPr>
              <a:t>직렬화</a:t>
            </a:r>
          </a:p>
        </p:txBody>
      </p:sp>
      <p:sp>
        <p:nvSpPr>
          <p:cNvPr id="69" name="TextBox69"/>
          <p:cNvSpPr/>
          <p:nvPr/>
        </p:nvSpPr>
        <p:spPr>
          <a:xfrm xmlns:a="http://schemas.openxmlformats.org/drawingml/2006/main">
            <a:off x="3800000" y="5360000"/>
            <a:ext cx="7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0" dirty="0">
                <a:solidFill>
                  <a:srgbClr val="FFFFFF"/>
                </a:solidFill>
                <a:latin typeface="맑은 고딕"/>
                <a:ea typeface="맑은 고딕"/>
              </a:rPr>
              <a:t>Newtonsoft.Json</a:t>
            </a:r>
          </a:p>
        </p:txBody>
      </p:sp>
      <p:sp>
        <p:nvSpPr>
          <p:cNvPr id="70" name="TextBox70"/>
          <p:cNvSpPr/>
          <p:nvPr/>
        </p:nvSpPr>
        <p:spPr>
          <a:xfrm xmlns:a="http://schemas.openxmlformats.org/drawingml/2006/main">
            <a:off x="600000" y="61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Unity Sentis = Unity에서 ML 모델을 GPU로 직접 실행하는 추론 엔진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Rect71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2" name="Rect72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3" name="TextBox73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3. 게임플레이 흐름</a:t>
            </a:r>
          </a:p>
        </p:txBody>
      </p:sp>
      <p:sp>
        <p:nvSpPr>
          <p:cNvPr id="74" name="RoundRect74"/>
          <p:cNvSpPr/>
          <p:nvPr/>
        </p:nvSpPr>
        <p:spPr>
          <a:xfrm xmlns:a="http://schemas.openxmlformats.org/drawingml/2006/main">
            <a:off x="400000" y="1500000"/>
            <a:ext cx="3400000" cy="2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5" name="Rect75"/>
          <p:cNvSpPr/>
          <p:nvPr/>
        </p:nvSpPr>
        <p:spPr>
          <a:xfrm xmlns:a="http://schemas.openxmlformats.org/drawingml/2006/main">
            <a:off x="400000" y="1500000"/>
            <a:ext cx="3400000" cy="4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6" name="Rect76"/>
          <p:cNvSpPr/>
          <p:nvPr/>
        </p:nvSpPr>
        <p:spPr>
          <a:xfrm xmlns:a="http://schemas.openxmlformats.org/drawingml/2006/main">
            <a:off x="400000" y="1500000"/>
            <a:ext cx="34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7" name="TextBox77"/>
          <p:cNvSpPr/>
          <p:nvPr/>
        </p:nvSpPr>
        <p:spPr>
          <a:xfrm xmlns:a="http://schemas.openxmlformats.org/drawingml/2006/main">
            <a:off x="600000" y="1700000"/>
            <a:ext cx="3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4FC3F7"/>
                </a:solidFill>
                <a:latin typeface="맑은 고딕"/>
                <a:ea typeface="맑은 고딕"/>
              </a:rPr>
              <a:t>Main 씬</a:t>
            </a:r>
          </a:p>
        </p:txBody>
      </p:sp>
      <p:sp>
        <p:nvSpPr>
          <p:cNvPr id="78" name="TextBox78"/>
          <p:cNvSpPr/>
          <p:nvPr/>
        </p:nvSpPr>
        <p:spPr>
          <a:xfrm xmlns:a="http://schemas.openxmlformats.org/drawingml/2006/main">
            <a:off x="600000" y="2300000"/>
            <a:ext cx="30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앱 시작</a:t>
            </a:r>
          </a:p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인터넷 확인</a:t>
            </a:r>
          </a:p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전역 DI 초기화</a:t>
            </a:r>
          </a:p>
        </p:txBody>
      </p:sp>
      <p:sp>
        <p:nvSpPr>
          <p:cNvPr id="79" name="TextBox79"/>
          <p:cNvSpPr/>
          <p:nvPr/>
        </p:nvSpPr>
        <p:spPr>
          <a:xfrm xmlns:a="http://schemas.openxmlformats.org/drawingml/2006/main">
            <a:off x="3800000" y="2300000"/>
            <a:ext cx="4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4FC3F7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80" name="RoundRect80"/>
          <p:cNvSpPr/>
          <p:nvPr/>
        </p:nvSpPr>
        <p:spPr>
          <a:xfrm xmlns:a="http://schemas.openxmlformats.org/drawingml/2006/main">
            <a:off x="4200000" y="1500000"/>
            <a:ext cx="3400000" cy="2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1" name="Rect81"/>
          <p:cNvSpPr/>
          <p:nvPr/>
        </p:nvSpPr>
        <p:spPr>
          <a:xfrm xmlns:a="http://schemas.openxmlformats.org/drawingml/2006/main">
            <a:off x="4200000" y="1500000"/>
            <a:ext cx="3400000" cy="4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2" name="Rect82"/>
          <p:cNvSpPr/>
          <p:nvPr/>
        </p:nvSpPr>
        <p:spPr>
          <a:xfrm xmlns:a="http://schemas.openxmlformats.org/drawingml/2006/main">
            <a:off x="4200000" y="1500000"/>
            <a:ext cx="34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3" name="TextBox83"/>
          <p:cNvSpPr/>
          <p:nvPr/>
        </p:nvSpPr>
        <p:spPr>
          <a:xfrm xmlns:a="http://schemas.openxmlformats.org/drawingml/2006/main">
            <a:off x="4400000" y="1700000"/>
            <a:ext cx="3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66BB6A"/>
                </a:solidFill>
                <a:latin typeface="맑은 고딕"/>
                <a:ea typeface="맑은 고딕"/>
              </a:rPr>
              <a:t>Map 씬</a:t>
            </a:r>
          </a:p>
        </p:txBody>
      </p:sp>
      <p:sp>
        <p:nvSpPr>
          <p:cNvPr id="84" name="TextBox84"/>
          <p:cNvSpPr/>
          <p:nvPr/>
        </p:nvSpPr>
        <p:spPr>
          <a:xfrm xmlns:a="http://schemas.openxmlformats.org/drawingml/2006/main">
            <a:off x="4400000" y="2300000"/>
            <a:ext cx="30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GPS로 지도 위 이동</a:t>
            </a:r>
          </a:p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3×3 타일 스트리밍</a:t>
            </a:r>
          </a:p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과일 스폰 포인트 생성</a:t>
            </a:r>
          </a:p>
        </p:txBody>
      </p:sp>
      <p:sp>
        <p:nvSpPr>
          <p:cNvPr id="85" name="TextBox85"/>
          <p:cNvSpPr/>
          <p:nvPr/>
        </p:nvSpPr>
        <p:spPr>
          <a:xfrm xmlns:a="http://schemas.openxmlformats.org/drawingml/2006/main">
            <a:off x="7600000" y="2300000"/>
            <a:ext cx="4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4FC3F7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86" name="RoundRect86"/>
          <p:cNvSpPr/>
          <p:nvPr/>
        </p:nvSpPr>
        <p:spPr>
          <a:xfrm xmlns:a="http://schemas.openxmlformats.org/drawingml/2006/main">
            <a:off x="8000000" y="1500000"/>
            <a:ext cx="3400000" cy="2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7" name="Rect87"/>
          <p:cNvSpPr/>
          <p:nvPr/>
        </p:nvSpPr>
        <p:spPr>
          <a:xfrm xmlns:a="http://schemas.openxmlformats.org/drawingml/2006/main">
            <a:off x="8000000" y="1500000"/>
            <a:ext cx="3400000" cy="4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8" name="Rect88"/>
          <p:cNvSpPr/>
          <p:nvPr/>
        </p:nvSpPr>
        <p:spPr>
          <a:xfrm xmlns:a="http://schemas.openxmlformats.org/drawingml/2006/main">
            <a:off x="8000000" y="1500000"/>
            <a:ext cx="34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9" name="TextBox89"/>
          <p:cNvSpPr/>
          <p:nvPr/>
        </p:nvSpPr>
        <p:spPr>
          <a:xfrm xmlns:a="http://schemas.openxmlformats.org/drawingml/2006/main">
            <a:off x="8200000" y="1700000"/>
            <a:ext cx="3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FFA726"/>
                </a:solidFill>
                <a:latin typeface="맑은 고딕"/>
                <a:ea typeface="맑은 고딕"/>
              </a:rPr>
              <a:t>AR 씬</a:t>
            </a:r>
          </a:p>
        </p:txBody>
      </p:sp>
      <p:sp>
        <p:nvSpPr>
          <p:cNvPr id="90" name="TextBox90"/>
          <p:cNvSpPr/>
          <p:nvPr/>
        </p:nvSpPr>
        <p:spPr>
          <a:xfrm xmlns:a="http://schemas.openxmlformats.org/drawingml/2006/main">
            <a:off x="8200000" y="2300000"/>
            <a:ext cx="30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카메라로 과일 탐지</a:t>
            </a:r>
          </a:p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AR 평면에 과일 배치</a:t>
            </a:r>
          </a:p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수집 → 인벤토리 저장</a:t>
            </a:r>
          </a:p>
        </p:txBody>
      </p:sp>
      <p:sp>
        <p:nvSpPr>
          <p:cNvPr id="91" name="RoundRect91"/>
          <p:cNvSpPr/>
          <p:nvPr/>
        </p:nvSpPr>
        <p:spPr>
          <a:xfrm xmlns:a="http://schemas.openxmlformats.org/drawingml/2006/main">
            <a:off x="400000" y="4400000"/>
            <a:ext cx="11300000" cy="2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2" name="TextBox92"/>
          <p:cNvSpPr/>
          <p:nvPr/>
        </p:nvSpPr>
        <p:spPr>
          <a:xfrm xmlns:a="http://schemas.openxmlformats.org/drawingml/2006/main">
            <a:off x="600000" y="4500000"/>
            <a:ext cx="109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4FC3F7"/>
                </a:solidFill>
                <a:latin typeface="맑은 고딕"/>
                <a:ea typeface="맑은 고딕"/>
              </a:rPr>
              <a:t>씬 전환 시 동작</a:t>
            </a:r>
          </a:p>
        </p:txBody>
      </p:sp>
      <p:sp>
        <p:nvSpPr>
          <p:cNvPr id="93" name="TextBox93"/>
          <p:cNvSpPr/>
          <p:nvPr/>
        </p:nvSpPr>
        <p:spPr>
          <a:xfrm xmlns:a="http://schemas.openxmlformats.org/drawingml/2006/main">
            <a:off x="600000" y="50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●  Main → Map: SceneTransitionService가 페이드 효과와 함께 씬 로드</a:t>
            </a:r>
          </a:p>
        </p:txBody>
      </p:sp>
      <p:sp>
        <p:nvSpPr>
          <p:cNvPr id="94" name="TextBox94"/>
          <p:cNvSpPr/>
          <p:nvPr/>
        </p:nvSpPr>
        <p:spPr>
          <a:xfrm xmlns:a="http://schemas.openxmlformats.org/drawingml/2006/main">
            <a:off x="600000" y="538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●  Map에서 과일 스폰 포인트에 접근 → Scan 버튼 → AR 씬으로 전환</a:t>
            </a:r>
          </a:p>
        </p:txBody>
      </p:sp>
      <p:sp>
        <p:nvSpPr>
          <p:cNvPr id="95" name="TextBox95"/>
          <p:cNvSpPr/>
          <p:nvPr/>
        </p:nvSpPr>
        <p:spPr>
          <a:xfrm xmlns:a="http://schemas.openxmlformats.org/drawingml/2006/main">
            <a:off x="600000" y="576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●  AR에서 과일 수집 완료 → Map 씬으로 복귀</a:t>
            </a:r>
          </a:p>
        </p:txBody>
      </p:sp>
      <p:sp>
        <p:nvSpPr>
          <p:cNvPr id="96" name="TextBox96"/>
          <p:cNvSpPr/>
          <p:nvPr/>
        </p:nvSpPr>
        <p:spPr>
          <a:xfrm xmlns:a="http://schemas.openxmlformats.org/drawingml/2006/main">
            <a:off x="600000" y="614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●  각 씬은 독립 VContainer Scope를 가져 필요한 서비스만 등록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Rect97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8" name="Rect98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9" name="TextBox99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4. 폴더 구조</a:t>
            </a:r>
          </a:p>
        </p:txBody>
      </p:sp>
      <p:sp>
        <p:nvSpPr>
          <p:cNvPr id="100" name="RoundRect100"/>
          <p:cNvSpPr/>
          <p:nvPr/>
        </p:nvSpPr>
        <p:spPr>
          <a:xfrm xmlns:a="http://schemas.openxmlformats.org/drawingml/2006/main">
            <a:off x="400000" y="1400000"/>
            <a:ext cx="5600000" cy="5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1" name="Rect101"/>
          <p:cNvSpPr/>
          <p:nvPr/>
        </p:nvSpPr>
        <p:spPr>
          <a:xfrm xmlns:a="http://schemas.openxmlformats.org/drawingml/2006/main">
            <a:off x="400000" y="1400000"/>
            <a:ext cx="884000" cy="8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2" name="Code102"/>
          <p:cNvSpPr/>
          <p:nvPr/>
        </p:nvSpPr>
        <p:spPr>
          <a:xfrm xmlns:a="http://schemas.openxmlformats.org/drawingml/2006/main">
            <a:off x="400000" y="1400000"/>
            <a:ext cx="5600000" cy="5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Assets/Scripts/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├── Core/           </a:t>
            </a:r>
            <a:r>
              <a:rPr lang="ko-KR" sz="1300" b="0" dirty="0">
                <a:solidFill>
                  <a:srgbClr val="608B4E"/>
                </a:solidFill>
                <a:latin typeface="Consolas"/>
                <a:ea typeface="맑은 고딕"/>
              </a:rPr>
              <a:t>// 모델, 인터페이스, 상수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│   ├── Constants/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│   ├── Interfaces/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│   ├── Models/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│   ├── ScriptableObjects/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│   └── Utils/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├── GPS/            </a:t>
            </a:r>
            <a:r>
              <a:rPr lang="ko-KR" sz="1300" b="0" dirty="0">
                <a:solidFill>
                  <a:srgbClr val="608B4E"/>
                </a:solidFill>
                <a:latin typeface="Consolas"/>
                <a:ea typeface="맑은 고딕"/>
              </a:rPr>
              <a:t>// 위치 서비스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├── Map/            </a:t>
            </a:r>
            <a:r>
              <a:rPr lang="ko-KR" sz="1300" b="0" dirty="0">
                <a:solidFill>
                  <a:srgbClr val="608B4E"/>
                </a:solidFill>
                <a:latin typeface="Consolas"/>
                <a:ea typeface="맑은 고딕"/>
              </a:rPr>
              <a:t>// 지도 타일, 스폰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├── Detection/      </a:t>
            </a:r>
            <a:r>
              <a:rPr lang="ko-KR" sz="1300" b="0" dirty="0">
                <a:solidFill>
                  <a:srgbClr val="608B4E"/>
                </a:solidFill>
                <a:latin typeface="Consolas"/>
                <a:ea typeface="맑은 고딕"/>
              </a:rPr>
              <a:t>// YOLO 탐지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├── Inventory/      </a:t>
            </a:r>
            <a:r>
              <a:rPr lang="ko-KR" sz="1300" b="0" dirty="0">
                <a:solidFill>
                  <a:srgbClr val="608B4E"/>
                </a:solidFill>
                <a:latin typeface="Consolas"/>
                <a:ea typeface="맑은 고딕"/>
              </a:rPr>
              <a:t>// 저장소 패턴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├── AR/             </a:t>
            </a:r>
            <a:r>
              <a:rPr lang="ko-KR" sz="1300" b="0" dirty="0">
                <a:solidFill>
                  <a:srgbClr val="608B4E"/>
                </a:solidFill>
                <a:latin typeface="Consolas"/>
                <a:ea typeface="맑은 고딕"/>
              </a:rPr>
              <a:t>// AR 상호작용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├── UI/             </a:t>
            </a:r>
            <a:r>
              <a:rPr lang="ko-KR" sz="1300" b="0" dirty="0">
                <a:solidFill>
                  <a:srgbClr val="608B4E"/>
                </a:solidFill>
                <a:latin typeface="Consolas"/>
                <a:ea typeface="맑은 고딕"/>
              </a:rPr>
              <a:t>// MVP 패턴 UI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└── App/            </a:t>
            </a:r>
            <a:r>
              <a:rPr lang="ko-KR" sz="1300" b="0" dirty="0">
                <a:solidFill>
                  <a:srgbClr val="608B4E"/>
                </a:solidFill>
                <a:latin typeface="Consolas"/>
                <a:ea typeface="맑은 고딕"/>
              </a:rPr>
              <a:t>// 조합 루트, DI</a:t>
            </a:r>
          </a:p>
        </p:txBody>
      </p:sp>
      <p:sp>
        <p:nvSpPr>
          <p:cNvPr id="103" name="RoundRect103"/>
          <p:cNvSpPr/>
          <p:nvPr/>
        </p:nvSpPr>
        <p:spPr>
          <a:xfrm xmlns:a="http://schemas.openxmlformats.org/drawingml/2006/main">
            <a:off x="6300000" y="1400000"/>
            <a:ext cx="5500000" cy="5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4" name="Rect104"/>
          <p:cNvSpPr/>
          <p:nvPr/>
        </p:nvSpPr>
        <p:spPr>
          <a:xfrm xmlns:a="http://schemas.openxmlformats.org/drawingml/2006/main">
            <a:off x="6300000" y="1400000"/>
            <a:ext cx="884000" cy="8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5" name="TextBox105"/>
          <p:cNvSpPr/>
          <p:nvPr/>
        </p:nvSpPr>
        <p:spPr>
          <a:xfrm xmlns:a="http://schemas.openxmlformats.org/drawingml/2006/main">
            <a:off x="6500000" y="1500000"/>
            <a:ext cx="51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4FC3F7"/>
                </a:solidFill>
                <a:latin typeface="맑은 고딕"/>
                <a:ea typeface="맑은 고딕"/>
              </a:rPr>
              <a:t>폴더 = Assembly 단위</a:t>
            </a:r>
          </a:p>
        </p:txBody>
      </p:sp>
      <p:sp>
        <p:nvSpPr>
          <p:cNvPr id="106" name="RoundRect106"/>
          <p:cNvSpPr/>
          <p:nvPr/>
        </p:nvSpPr>
        <p:spPr>
          <a:xfrm xmlns:a="http://schemas.openxmlformats.org/drawingml/2006/main">
            <a:off x="6500000" y="2200000"/>
            <a:ext cx="51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7" name="TextBox107"/>
          <p:cNvSpPr/>
          <p:nvPr/>
        </p:nvSpPr>
        <p:spPr>
          <a:xfrm xmlns:a="http://schemas.openxmlformats.org/drawingml/2006/main">
            <a:off x="6700000" y="2250000"/>
            <a:ext cx="4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4FC3F7"/>
                </a:solidFill>
                <a:latin typeface="맑은 고딕"/>
                <a:ea typeface="맑은 고딕"/>
              </a:rPr>
              <a:t>Core</a:t>
            </a:r>
          </a:p>
        </p:txBody>
      </p:sp>
      <p:sp>
        <p:nvSpPr>
          <p:cNvPr id="108" name="TextBox108"/>
          <p:cNvSpPr/>
          <p:nvPr/>
        </p:nvSpPr>
        <p:spPr>
          <a:xfrm xmlns:a="http://schemas.openxmlformats.org/drawingml/2006/main">
            <a:off x="6700000" y="2620000"/>
            <a:ext cx="47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Tier 0 - 의존성 없음</a:t>
            </a:r>
          </a:p>
        </p:txBody>
      </p:sp>
      <p:sp>
        <p:nvSpPr>
          <p:cNvPr id="109" name="RoundRect109"/>
          <p:cNvSpPr/>
          <p:nvPr/>
        </p:nvSpPr>
        <p:spPr>
          <a:xfrm xmlns:a="http://schemas.openxmlformats.org/drawingml/2006/main">
            <a:off x="6500000" y="3100000"/>
            <a:ext cx="51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0" name="TextBox110"/>
          <p:cNvSpPr/>
          <p:nvPr/>
        </p:nvSpPr>
        <p:spPr>
          <a:xfrm xmlns:a="http://schemas.openxmlformats.org/drawingml/2006/main">
            <a:off x="6700000" y="3150000"/>
            <a:ext cx="4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66BB6A"/>
                </a:solidFill>
                <a:latin typeface="맑은 고딕"/>
                <a:ea typeface="맑은 고딕"/>
              </a:rPr>
              <a:t>GPS / Map / Detection / Inventory</a:t>
            </a:r>
          </a:p>
        </p:txBody>
      </p:sp>
      <p:sp>
        <p:nvSpPr>
          <p:cNvPr id="111" name="TextBox111"/>
          <p:cNvSpPr/>
          <p:nvPr/>
        </p:nvSpPr>
        <p:spPr>
          <a:xfrm xmlns:a="http://schemas.openxmlformats.org/drawingml/2006/main">
            <a:off x="6700000" y="3520000"/>
            <a:ext cx="47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Tier 1 - Core만 참조</a:t>
            </a:r>
          </a:p>
        </p:txBody>
      </p:sp>
      <p:sp>
        <p:nvSpPr>
          <p:cNvPr id="112" name="RoundRect112"/>
          <p:cNvSpPr/>
          <p:nvPr/>
        </p:nvSpPr>
        <p:spPr>
          <a:xfrm xmlns:a="http://schemas.openxmlformats.org/drawingml/2006/main">
            <a:off x="6500000" y="4000000"/>
            <a:ext cx="51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3" name="TextBox113"/>
          <p:cNvSpPr/>
          <p:nvPr/>
        </p:nvSpPr>
        <p:spPr>
          <a:xfrm xmlns:a="http://schemas.openxmlformats.org/drawingml/2006/main">
            <a:off x="6700000" y="4050000"/>
            <a:ext cx="4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FFA726"/>
                </a:solidFill>
                <a:latin typeface="맑은 고딕"/>
                <a:ea typeface="맑은 고딕"/>
              </a:rPr>
              <a:t>AR / UI</a:t>
            </a:r>
          </a:p>
        </p:txBody>
      </p:sp>
      <p:sp>
        <p:nvSpPr>
          <p:cNvPr id="114" name="TextBox114"/>
          <p:cNvSpPr/>
          <p:nvPr/>
        </p:nvSpPr>
        <p:spPr>
          <a:xfrm xmlns:a="http://schemas.openxmlformats.org/drawingml/2006/main">
            <a:off x="6700000" y="4420000"/>
            <a:ext cx="47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Tier 2 - Core + Tier 1 참조</a:t>
            </a:r>
          </a:p>
        </p:txBody>
      </p:sp>
      <p:sp>
        <p:nvSpPr>
          <p:cNvPr id="115" name="RoundRect115"/>
          <p:cNvSpPr/>
          <p:nvPr/>
        </p:nvSpPr>
        <p:spPr>
          <a:xfrm xmlns:a="http://schemas.openxmlformats.org/drawingml/2006/main">
            <a:off x="6500000" y="4900000"/>
            <a:ext cx="51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6" name="TextBox116"/>
          <p:cNvSpPr/>
          <p:nvPr/>
        </p:nvSpPr>
        <p:spPr>
          <a:xfrm xmlns:a="http://schemas.openxmlformats.org/drawingml/2006/main">
            <a:off x="6700000" y="4950000"/>
            <a:ext cx="4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FFEE58"/>
                </a:solidFill>
                <a:latin typeface="맑은 고딕"/>
                <a:ea typeface="맑은 고딕"/>
              </a:rPr>
              <a:t>App</a:t>
            </a:r>
          </a:p>
        </p:txBody>
      </p:sp>
      <p:sp>
        <p:nvSpPr>
          <p:cNvPr id="117" name="TextBox117"/>
          <p:cNvSpPr/>
          <p:nvPr/>
        </p:nvSpPr>
        <p:spPr>
          <a:xfrm xmlns:a="http://schemas.openxmlformats.org/drawingml/2006/main">
            <a:off x="6700000" y="5320000"/>
            <a:ext cx="47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Tier 3 - 모든 Assembly 참조</a:t>
            </a:r>
          </a:p>
        </p:txBody>
      </p:sp>
      <p:sp>
        <p:nvSpPr>
          <p:cNvPr id="118" name="TextBox118"/>
          <p:cNvSpPr/>
          <p:nvPr/>
        </p:nvSpPr>
        <p:spPr>
          <a:xfrm xmlns:a="http://schemas.openxmlformats.org/drawingml/2006/main">
            <a:off x="6500000" y="5900000"/>
            <a:ext cx="51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각 폴더에 .asmdef 파일로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Assembly 경계를 정의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Rect11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0" name="Rect12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1" name="TextBox12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5. Assembly 기반 계층 구조</a:t>
            </a:r>
          </a:p>
        </p:txBody>
      </p:sp>
      <p:sp>
        <p:nvSpPr>
          <p:cNvPr id="122" name="RoundRect122"/>
          <p:cNvSpPr/>
          <p:nvPr/>
        </p:nvSpPr>
        <p:spPr>
          <a:xfrm xmlns:a="http://schemas.openxmlformats.org/drawingml/2006/main">
            <a:off x="3800000" y="1500000"/>
            <a:ext cx="45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3" name="TextBox123"/>
          <p:cNvSpPr/>
          <p:nvPr/>
        </p:nvSpPr>
        <p:spPr>
          <a:xfrm xmlns:a="http://schemas.openxmlformats.org/drawingml/2006/main">
            <a:off x="3800000" y="1550000"/>
            <a:ext cx="4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GoldenFruit.Core (Tier 0)</a:t>
            </a:r>
          </a:p>
        </p:txBody>
      </p:sp>
      <p:sp>
        <p:nvSpPr>
          <p:cNvPr id="124" name="TextBox124"/>
          <p:cNvSpPr/>
          <p:nvPr/>
        </p:nvSpPr>
        <p:spPr>
          <a:xfrm xmlns:a="http://schemas.openxmlformats.org/drawingml/2006/main">
            <a:off x="5600000" y="2100000"/>
            <a:ext cx="1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800" b="1" dirty="0">
                <a:solidFill>
                  <a:srgbClr val="B0BEC5"/>
                </a:solidFill>
                <a:latin typeface="맑은 고딕"/>
                <a:ea typeface="맑은 고딕"/>
              </a:rPr>
              <a:t>▲</a:t>
            </a:r>
          </a:p>
        </p:txBody>
      </p:sp>
      <p:sp>
        <p:nvSpPr>
          <p:cNvPr id="125" name="RoundRect125"/>
          <p:cNvSpPr/>
          <p:nvPr/>
        </p:nvSpPr>
        <p:spPr>
          <a:xfrm xmlns:a="http://schemas.openxmlformats.org/drawingml/2006/main">
            <a:off x="800000" y="2500000"/>
            <a:ext cx="26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6" name="TextBox126"/>
          <p:cNvSpPr/>
          <p:nvPr/>
        </p:nvSpPr>
        <p:spPr>
          <a:xfrm xmlns:a="http://schemas.openxmlformats.org/drawingml/2006/main">
            <a:off x="800000" y="2550000"/>
            <a:ext cx="26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 dirty="0">
                <a:solidFill>
                  <a:srgbClr val="66BB6A"/>
                </a:solidFill>
                <a:latin typeface="맑은 고딕"/>
                <a:ea typeface="맑은 고딕"/>
              </a:rPr>
              <a:t>GoldenFruit.GPS</a:t>
            </a:r>
          </a:p>
        </p:txBody>
      </p:sp>
      <p:sp>
        <p:nvSpPr>
          <p:cNvPr id="127" name="RoundRect127"/>
          <p:cNvSpPr/>
          <p:nvPr/>
        </p:nvSpPr>
        <p:spPr>
          <a:xfrm xmlns:a="http://schemas.openxmlformats.org/drawingml/2006/main">
            <a:off x="3550000" y="2500000"/>
            <a:ext cx="26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8" name="TextBox128"/>
          <p:cNvSpPr/>
          <p:nvPr/>
        </p:nvSpPr>
        <p:spPr>
          <a:xfrm xmlns:a="http://schemas.openxmlformats.org/drawingml/2006/main">
            <a:off x="3550000" y="2550000"/>
            <a:ext cx="26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 dirty="0">
                <a:solidFill>
                  <a:srgbClr val="66BB6A"/>
                </a:solidFill>
                <a:latin typeface="맑은 고딕"/>
                <a:ea typeface="맑은 고딕"/>
              </a:rPr>
              <a:t>GoldenFruit.Map</a:t>
            </a:r>
          </a:p>
        </p:txBody>
      </p:sp>
      <p:sp>
        <p:nvSpPr>
          <p:cNvPr id="129" name="RoundRect129"/>
          <p:cNvSpPr/>
          <p:nvPr/>
        </p:nvSpPr>
        <p:spPr>
          <a:xfrm xmlns:a="http://schemas.openxmlformats.org/drawingml/2006/main">
            <a:off x="6300000" y="2500000"/>
            <a:ext cx="26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0" name="TextBox130"/>
          <p:cNvSpPr/>
          <p:nvPr/>
        </p:nvSpPr>
        <p:spPr>
          <a:xfrm xmlns:a="http://schemas.openxmlformats.org/drawingml/2006/main">
            <a:off x="6300000" y="2550000"/>
            <a:ext cx="26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 dirty="0">
                <a:solidFill>
                  <a:srgbClr val="66BB6A"/>
                </a:solidFill>
                <a:latin typeface="맑은 고딕"/>
                <a:ea typeface="맑은 고딕"/>
              </a:rPr>
              <a:t>GoldenFruit.Detection</a:t>
            </a:r>
          </a:p>
        </p:txBody>
      </p:sp>
      <p:sp>
        <p:nvSpPr>
          <p:cNvPr id="131" name="RoundRect131"/>
          <p:cNvSpPr/>
          <p:nvPr/>
        </p:nvSpPr>
        <p:spPr>
          <a:xfrm xmlns:a="http://schemas.openxmlformats.org/drawingml/2006/main">
            <a:off x="9050000" y="2500000"/>
            <a:ext cx="26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2" name="TextBox132"/>
          <p:cNvSpPr/>
          <p:nvPr/>
        </p:nvSpPr>
        <p:spPr>
          <a:xfrm xmlns:a="http://schemas.openxmlformats.org/drawingml/2006/main">
            <a:off x="9050000" y="2550000"/>
            <a:ext cx="26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 dirty="0">
                <a:solidFill>
                  <a:srgbClr val="66BB6A"/>
                </a:solidFill>
                <a:latin typeface="맑은 고딕"/>
                <a:ea typeface="맑은 고딕"/>
              </a:rPr>
              <a:t>GoldenFruit.Inventory</a:t>
            </a:r>
          </a:p>
        </p:txBody>
      </p:sp>
      <p:sp>
        <p:nvSpPr>
          <p:cNvPr id="133" name="TextBox133"/>
          <p:cNvSpPr/>
          <p:nvPr/>
        </p:nvSpPr>
        <p:spPr>
          <a:xfrm xmlns:a="http://schemas.openxmlformats.org/drawingml/2006/main">
            <a:off x="5600000" y="3100000"/>
            <a:ext cx="1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800" b="1" dirty="0">
                <a:solidFill>
                  <a:srgbClr val="B0BEC5"/>
                </a:solidFill>
                <a:latin typeface="맑은 고딕"/>
                <a:ea typeface="맑은 고딕"/>
              </a:rPr>
              <a:t>▲</a:t>
            </a:r>
          </a:p>
        </p:txBody>
      </p:sp>
      <p:sp>
        <p:nvSpPr>
          <p:cNvPr id="134" name="RoundRect134"/>
          <p:cNvSpPr/>
          <p:nvPr/>
        </p:nvSpPr>
        <p:spPr>
          <a:xfrm xmlns:a="http://schemas.openxmlformats.org/drawingml/2006/main">
            <a:off x="2000000" y="3500000"/>
            <a:ext cx="37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5" name="TextBox135"/>
          <p:cNvSpPr/>
          <p:nvPr/>
        </p:nvSpPr>
        <p:spPr>
          <a:xfrm xmlns:a="http://schemas.openxmlformats.org/drawingml/2006/main">
            <a:off x="2000000" y="3550000"/>
            <a:ext cx="3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 dirty="0">
                <a:solidFill>
                  <a:srgbClr val="FFA726"/>
                </a:solidFill>
                <a:latin typeface="맑은 고딕"/>
                <a:ea typeface="맑은 고딕"/>
              </a:rPr>
              <a:t>GoldenFruit.AR (Tier 2)</a:t>
            </a:r>
          </a:p>
        </p:txBody>
      </p:sp>
      <p:sp>
        <p:nvSpPr>
          <p:cNvPr id="136" name="RoundRect136"/>
          <p:cNvSpPr/>
          <p:nvPr/>
        </p:nvSpPr>
        <p:spPr>
          <a:xfrm xmlns:a="http://schemas.openxmlformats.org/drawingml/2006/main">
            <a:off x="6300000" y="3500000"/>
            <a:ext cx="37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7" name="TextBox137"/>
          <p:cNvSpPr/>
          <p:nvPr/>
        </p:nvSpPr>
        <p:spPr>
          <a:xfrm xmlns:a="http://schemas.openxmlformats.org/drawingml/2006/main">
            <a:off x="6300000" y="3550000"/>
            <a:ext cx="3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 dirty="0">
                <a:solidFill>
                  <a:srgbClr val="FFA726"/>
                </a:solidFill>
                <a:latin typeface="맑은 고딕"/>
                <a:ea typeface="맑은 고딕"/>
              </a:rPr>
              <a:t>GoldenFruit.UI (Tier 2)</a:t>
            </a:r>
          </a:p>
        </p:txBody>
      </p:sp>
      <p:sp>
        <p:nvSpPr>
          <p:cNvPr id="138" name="TextBox138"/>
          <p:cNvSpPr/>
          <p:nvPr/>
        </p:nvSpPr>
        <p:spPr>
          <a:xfrm xmlns:a="http://schemas.openxmlformats.org/drawingml/2006/main">
            <a:off x="5600000" y="4100000"/>
            <a:ext cx="1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800" b="1" dirty="0">
                <a:solidFill>
                  <a:srgbClr val="B0BEC5"/>
                </a:solidFill>
                <a:latin typeface="맑은 고딕"/>
                <a:ea typeface="맑은 고딕"/>
              </a:rPr>
              <a:t>▲</a:t>
            </a:r>
          </a:p>
        </p:txBody>
      </p:sp>
      <p:sp>
        <p:nvSpPr>
          <p:cNvPr id="139" name="RoundRect139"/>
          <p:cNvSpPr/>
          <p:nvPr/>
        </p:nvSpPr>
        <p:spPr>
          <a:xfrm xmlns:a="http://schemas.openxmlformats.org/drawingml/2006/main">
            <a:off x="3800000" y="4500000"/>
            <a:ext cx="45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0" name="TextBox140"/>
          <p:cNvSpPr/>
          <p:nvPr/>
        </p:nvSpPr>
        <p:spPr>
          <a:xfrm xmlns:a="http://schemas.openxmlformats.org/drawingml/2006/main">
            <a:off x="3800000" y="4550000"/>
            <a:ext cx="4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600" b="1" dirty="0">
                <a:solidFill>
                  <a:srgbClr val="FFEE58"/>
                </a:solidFill>
                <a:latin typeface="맑은 고딕"/>
                <a:ea typeface="맑은 고딕"/>
              </a:rPr>
              <a:t>GoldenFruit.App (Tier 3)</a:t>
            </a:r>
          </a:p>
        </p:txBody>
      </p:sp>
      <p:sp>
        <p:nvSpPr>
          <p:cNvPr id="141" name="TextBox141"/>
          <p:cNvSpPr/>
          <p:nvPr/>
        </p:nvSpPr>
        <p:spPr>
          <a:xfrm xmlns:a="http://schemas.openxmlformats.org/drawingml/2006/main">
            <a:off x="600000" y="5400000"/>
            <a:ext cx="109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B0BEC5"/>
                </a:solidFill>
                <a:latin typeface="맑은 고딕"/>
                <a:ea typeface="맑은 고딕"/>
              </a:rPr>
              <a:t>화살표 방향 = 의존 방향 (위를 참조)  |  같은 Tier 간 참조 금지  |  상위 → 하위만 참조 가능</a:t>
            </a:r>
          </a:p>
        </p:txBody>
      </p:sp>
      <p:sp>
        <p:nvSpPr>
          <p:cNvPr id="142" name="TextBox142"/>
          <p:cNvSpPr/>
          <p:nvPr/>
        </p:nvSpPr>
        <p:spPr>
          <a:xfrm xmlns:a="http://schemas.openxmlformats.org/drawingml/2006/main">
            <a:off x="600000" y="59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4FC3F7"/>
                </a:solidFill>
                <a:latin typeface="맑은 고딕"/>
                <a:ea typeface="맑은 고딕"/>
              </a:rPr>
              <a:t>총 8개 Assembly: .asmdef 파일로 경계를 정의하고, 순환 참조를 컴파일 타임에 방지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Rect143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4" name="Rect144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5" name="TextBox145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6. Assembly 의존성 규칙</a:t>
            </a:r>
          </a:p>
        </p:txBody>
      </p:sp>
      <p:sp>
        <p:nvSpPr>
          <p:cNvPr id="146" name="RoundRect146"/>
          <p:cNvSpPr/>
          <p:nvPr/>
        </p:nvSpPr>
        <p:spPr>
          <a:xfrm xmlns:a="http://schemas.openxmlformats.org/drawingml/2006/main">
            <a:off x="300000" y="1450000"/>
            <a:ext cx="11500000" cy="4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7" name="TextBox147"/>
          <p:cNvSpPr/>
          <p:nvPr/>
        </p:nvSpPr>
        <p:spPr>
          <a:xfrm xmlns:a="http://schemas.openxmlformats.org/drawingml/2006/main">
            <a:off x="500000" y="1500000"/>
            <a:ext cx="30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FFFFFF"/>
                </a:solidFill>
                <a:latin typeface="맑은 고딕"/>
                <a:ea typeface="맑은 고딕"/>
              </a:rPr>
              <a:t>Assembly</a:t>
            </a:r>
          </a:p>
        </p:txBody>
      </p:sp>
      <p:sp>
        <p:nvSpPr>
          <p:cNvPr id="148" name="TextBox148"/>
          <p:cNvSpPr/>
          <p:nvPr/>
        </p:nvSpPr>
        <p:spPr>
          <a:xfrm xmlns:a="http://schemas.openxmlformats.org/drawingml/2006/main">
            <a:off x="3500000" y="1500000"/>
            <a:ext cx="12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FFFFFF"/>
                </a:solidFill>
                <a:latin typeface="맑은 고딕"/>
                <a:ea typeface="맑은 고딕"/>
              </a:rPr>
              <a:t>Tier</a:t>
            </a:r>
          </a:p>
        </p:txBody>
      </p:sp>
      <p:sp>
        <p:nvSpPr>
          <p:cNvPr id="149" name="TextBox149"/>
          <p:cNvSpPr/>
          <p:nvPr/>
        </p:nvSpPr>
        <p:spPr>
          <a:xfrm xmlns:a="http://schemas.openxmlformats.org/drawingml/2006/main">
            <a:off x="4700000" y="1500000"/>
            <a:ext cx="32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FFFFFF"/>
                </a:solidFill>
                <a:latin typeface="맑은 고딕"/>
                <a:ea typeface="맑은 고딕"/>
              </a:rPr>
              <a:t>참조</a:t>
            </a:r>
          </a:p>
        </p:txBody>
      </p:sp>
      <p:sp>
        <p:nvSpPr>
          <p:cNvPr id="150" name="TextBox150"/>
          <p:cNvSpPr/>
          <p:nvPr/>
        </p:nvSpPr>
        <p:spPr>
          <a:xfrm xmlns:a="http://schemas.openxmlformats.org/drawingml/2006/main">
            <a:off x="7900000" y="1500000"/>
            <a:ext cx="37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FFFFFF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151" name="TextBox151"/>
          <p:cNvSpPr/>
          <p:nvPr/>
        </p:nvSpPr>
        <p:spPr>
          <a:xfrm xmlns:a="http://schemas.openxmlformats.org/drawingml/2006/main">
            <a:off x="500000" y="1950000"/>
            <a:ext cx="30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4FC3F7"/>
                </a:solidFill>
                <a:latin typeface="맑은 고딕"/>
                <a:ea typeface="맑은 고딕"/>
              </a:rPr>
              <a:t>GoldenFruit.Core</a:t>
            </a:r>
          </a:p>
        </p:txBody>
      </p:sp>
      <p:sp>
        <p:nvSpPr>
          <p:cNvPr id="152" name="TextBox152"/>
          <p:cNvSpPr/>
          <p:nvPr/>
        </p:nvSpPr>
        <p:spPr>
          <a:xfrm xmlns:a="http://schemas.openxmlformats.org/drawingml/2006/main">
            <a:off x="3500000" y="1950000"/>
            <a:ext cx="1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Tier 0</a:t>
            </a:r>
          </a:p>
        </p:txBody>
      </p:sp>
      <p:sp>
        <p:nvSpPr>
          <p:cNvPr id="153" name="TextBox153"/>
          <p:cNvSpPr/>
          <p:nvPr/>
        </p:nvSpPr>
        <p:spPr>
          <a:xfrm xmlns:a="http://schemas.openxmlformats.org/drawingml/2006/main">
            <a:off x="4700000" y="1950000"/>
            <a:ext cx="3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없음</a:t>
            </a:r>
          </a:p>
        </p:txBody>
      </p:sp>
      <p:sp>
        <p:nvSpPr>
          <p:cNvPr id="154" name="TextBox154"/>
          <p:cNvSpPr/>
          <p:nvPr/>
        </p:nvSpPr>
        <p:spPr>
          <a:xfrm xmlns:a="http://schemas.openxmlformats.org/drawingml/2006/main">
            <a:off x="7900000" y="1950000"/>
            <a:ext cx="37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모델, 인터페이스, 상수, 유틸리티</a:t>
            </a:r>
          </a:p>
        </p:txBody>
      </p:sp>
      <p:sp>
        <p:nvSpPr>
          <p:cNvPr id="155" name="TextBox155"/>
          <p:cNvSpPr/>
          <p:nvPr/>
        </p:nvSpPr>
        <p:spPr>
          <a:xfrm xmlns:a="http://schemas.openxmlformats.org/drawingml/2006/main">
            <a:off x="500000" y="2380000"/>
            <a:ext cx="30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GoldenFruit.GPS</a:t>
            </a:r>
          </a:p>
        </p:txBody>
      </p:sp>
      <p:sp>
        <p:nvSpPr>
          <p:cNvPr id="156" name="TextBox156"/>
          <p:cNvSpPr/>
          <p:nvPr/>
        </p:nvSpPr>
        <p:spPr>
          <a:xfrm xmlns:a="http://schemas.openxmlformats.org/drawingml/2006/main">
            <a:off x="3500000" y="2380000"/>
            <a:ext cx="1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Tier 1</a:t>
            </a:r>
          </a:p>
        </p:txBody>
      </p:sp>
      <p:sp>
        <p:nvSpPr>
          <p:cNvPr id="157" name="TextBox157"/>
          <p:cNvSpPr/>
          <p:nvPr/>
        </p:nvSpPr>
        <p:spPr>
          <a:xfrm xmlns:a="http://schemas.openxmlformats.org/drawingml/2006/main">
            <a:off x="4700000" y="2380000"/>
            <a:ext cx="3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Core, VContainer</a:t>
            </a:r>
          </a:p>
        </p:txBody>
      </p:sp>
      <p:sp>
        <p:nvSpPr>
          <p:cNvPr id="158" name="TextBox158"/>
          <p:cNvSpPr/>
          <p:nvPr/>
        </p:nvSpPr>
        <p:spPr>
          <a:xfrm xmlns:a="http://schemas.openxmlformats.org/drawingml/2006/main">
            <a:off x="7900000" y="2380000"/>
            <a:ext cx="37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GPS 서비스, 위치 제공자</a:t>
            </a:r>
          </a:p>
        </p:txBody>
      </p:sp>
      <p:sp>
        <p:nvSpPr>
          <p:cNvPr id="159" name="TextBox159"/>
          <p:cNvSpPr/>
          <p:nvPr/>
        </p:nvSpPr>
        <p:spPr>
          <a:xfrm xmlns:a="http://schemas.openxmlformats.org/drawingml/2006/main">
            <a:off x="500000" y="2810000"/>
            <a:ext cx="30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GoldenFruit.Map</a:t>
            </a:r>
          </a:p>
        </p:txBody>
      </p:sp>
      <p:sp>
        <p:nvSpPr>
          <p:cNvPr id="160" name="TextBox160"/>
          <p:cNvSpPr/>
          <p:nvPr/>
        </p:nvSpPr>
        <p:spPr>
          <a:xfrm xmlns:a="http://schemas.openxmlformats.org/drawingml/2006/main">
            <a:off x="3500000" y="2810000"/>
            <a:ext cx="1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Tier 1</a:t>
            </a:r>
          </a:p>
        </p:txBody>
      </p:sp>
      <p:sp>
        <p:nvSpPr>
          <p:cNvPr id="161" name="TextBox161"/>
          <p:cNvSpPr/>
          <p:nvPr/>
        </p:nvSpPr>
        <p:spPr>
          <a:xfrm xmlns:a="http://schemas.openxmlformats.org/drawingml/2006/main">
            <a:off x="4700000" y="2810000"/>
            <a:ext cx="3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Core, GPS, VContainer</a:t>
            </a:r>
          </a:p>
        </p:txBody>
      </p:sp>
      <p:sp>
        <p:nvSpPr>
          <p:cNvPr id="162" name="TextBox162"/>
          <p:cNvSpPr/>
          <p:nvPr/>
        </p:nvSpPr>
        <p:spPr>
          <a:xfrm xmlns:a="http://schemas.openxmlformats.org/drawingml/2006/main">
            <a:off x="7900000" y="2810000"/>
            <a:ext cx="37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지도 타일, 스폰 시스템</a:t>
            </a:r>
          </a:p>
        </p:txBody>
      </p:sp>
      <p:sp>
        <p:nvSpPr>
          <p:cNvPr id="163" name="TextBox163"/>
          <p:cNvSpPr/>
          <p:nvPr/>
        </p:nvSpPr>
        <p:spPr>
          <a:xfrm xmlns:a="http://schemas.openxmlformats.org/drawingml/2006/main">
            <a:off x="500000" y="3240000"/>
            <a:ext cx="30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GoldenFruit.Detection</a:t>
            </a:r>
          </a:p>
        </p:txBody>
      </p:sp>
      <p:sp>
        <p:nvSpPr>
          <p:cNvPr id="164" name="TextBox164"/>
          <p:cNvSpPr/>
          <p:nvPr/>
        </p:nvSpPr>
        <p:spPr>
          <a:xfrm xmlns:a="http://schemas.openxmlformats.org/drawingml/2006/main">
            <a:off x="3500000" y="3240000"/>
            <a:ext cx="1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Tier 1</a:t>
            </a:r>
          </a:p>
        </p:txBody>
      </p:sp>
      <p:sp>
        <p:nvSpPr>
          <p:cNvPr id="165" name="TextBox165"/>
          <p:cNvSpPr/>
          <p:nvPr/>
        </p:nvSpPr>
        <p:spPr>
          <a:xfrm xmlns:a="http://schemas.openxmlformats.org/drawingml/2006/main">
            <a:off x="4700000" y="3240000"/>
            <a:ext cx="3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Core, Sentis, XR</a:t>
            </a:r>
          </a:p>
        </p:txBody>
      </p:sp>
      <p:sp>
        <p:nvSpPr>
          <p:cNvPr id="166" name="TextBox166"/>
          <p:cNvSpPr/>
          <p:nvPr/>
        </p:nvSpPr>
        <p:spPr>
          <a:xfrm xmlns:a="http://schemas.openxmlformats.org/drawingml/2006/main">
            <a:off x="7900000" y="3240000"/>
            <a:ext cx="37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YOLO 탐지, 전·후처리</a:t>
            </a:r>
          </a:p>
        </p:txBody>
      </p:sp>
      <p:sp>
        <p:nvSpPr>
          <p:cNvPr id="167" name="TextBox167"/>
          <p:cNvSpPr/>
          <p:nvPr/>
        </p:nvSpPr>
        <p:spPr>
          <a:xfrm xmlns:a="http://schemas.openxmlformats.org/drawingml/2006/main">
            <a:off x="500000" y="3670000"/>
            <a:ext cx="30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GoldenFruit.Inventory</a:t>
            </a:r>
          </a:p>
        </p:txBody>
      </p:sp>
      <p:sp>
        <p:nvSpPr>
          <p:cNvPr id="168" name="TextBox168"/>
          <p:cNvSpPr/>
          <p:nvPr/>
        </p:nvSpPr>
        <p:spPr>
          <a:xfrm xmlns:a="http://schemas.openxmlformats.org/drawingml/2006/main">
            <a:off x="3500000" y="3670000"/>
            <a:ext cx="1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Tier 1</a:t>
            </a:r>
          </a:p>
        </p:txBody>
      </p:sp>
      <p:sp>
        <p:nvSpPr>
          <p:cNvPr id="169" name="TextBox169"/>
          <p:cNvSpPr/>
          <p:nvPr/>
        </p:nvSpPr>
        <p:spPr>
          <a:xfrm xmlns:a="http://schemas.openxmlformats.org/drawingml/2006/main">
            <a:off x="4700000" y="3670000"/>
            <a:ext cx="3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Core</a:t>
            </a:r>
          </a:p>
        </p:txBody>
      </p:sp>
      <p:sp>
        <p:nvSpPr>
          <p:cNvPr id="170" name="TextBox170"/>
          <p:cNvSpPr/>
          <p:nvPr/>
        </p:nvSpPr>
        <p:spPr>
          <a:xfrm xmlns:a="http://schemas.openxmlformats.org/drawingml/2006/main">
            <a:off x="7900000" y="3670000"/>
            <a:ext cx="37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Repository 패턴 저장소</a:t>
            </a:r>
          </a:p>
        </p:txBody>
      </p:sp>
      <p:sp>
        <p:nvSpPr>
          <p:cNvPr id="171" name="TextBox171"/>
          <p:cNvSpPr/>
          <p:nvPr/>
        </p:nvSpPr>
        <p:spPr>
          <a:xfrm xmlns:a="http://schemas.openxmlformats.org/drawingml/2006/main">
            <a:off x="500000" y="4100000"/>
            <a:ext cx="30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GoldenFruit.AR</a:t>
            </a:r>
          </a:p>
        </p:txBody>
      </p:sp>
      <p:sp>
        <p:nvSpPr>
          <p:cNvPr id="172" name="TextBox172"/>
          <p:cNvSpPr/>
          <p:nvPr/>
        </p:nvSpPr>
        <p:spPr>
          <a:xfrm xmlns:a="http://schemas.openxmlformats.org/drawingml/2006/main">
            <a:off x="3500000" y="4100000"/>
            <a:ext cx="1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Tier 2</a:t>
            </a:r>
          </a:p>
        </p:txBody>
      </p:sp>
      <p:sp>
        <p:nvSpPr>
          <p:cNvPr id="173" name="TextBox173"/>
          <p:cNvSpPr/>
          <p:nvPr/>
        </p:nvSpPr>
        <p:spPr>
          <a:xfrm xmlns:a="http://schemas.openxmlformats.org/drawingml/2006/main">
            <a:off x="4700000" y="4100000"/>
            <a:ext cx="3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Core, Detection, Inventory</a:t>
            </a:r>
          </a:p>
        </p:txBody>
      </p:sp>
      <p:sp>
        <p:nvSpPr>
          <p:cNvPr id="174" name="TextBox174"/>
          <p:cNvSpPr/>
          <p:nvPr/>
        </p:nvSpPr>
        <p:spPr>
          <a:xfrm xmlns:a="http://schemas.openxmlformats.org/drawingml/2006/main">
            <a:off x="7900000" y="4100000"/>
            <a:ext cx="37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AR 수집/배치/던지기</a:t>
            </a:r>
          </a:p>
        </p:txBody>
      </p:sp>
      <p:sp>
        <p:nvSpPr>
          <p:cNvPr id="175" name="TextBox175"/>
          <p:cNvSpPr/>
          <p:nvPr/>
        </p:nvSpPr>
        <p:spPr>
          <a:xfrm xmlns:a="http://schemas.openxmlformats.org/drawingml/2006/main">
            <a:off x="500000" y="4530000"/>
            <a:ext cx="30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GoldenFruit.UI</a:t>
            </a:r>
          </a:p>
        </p:txBody>
      </p:sp>
      <p:sp>
        <p:nvSpPr>
          <p:cNvPr id="176" name="TextBox176"/>
          <p:cNvSpPr/>
          <p:nvPr/>
        </p:nvSpPr>
        <p:spPr>
          <a:xfrm xmlns:a="http://schemas.openxmlformats.org/drawingml/2006/main">
            <a:off x="3500000" y="4530000"/>
            <a:ext cx="1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Tier 2</a:t>
            </a:r>
          </a:p>
        </p:txBody>
      </p:sp>
      <p:sp>
        <p:nvSpPr>
          <p:cNvPr id="177" name="TextBox177"/>
          <p:cNvSpPr/>
          <p:nvPr/>
        </p:nvSpPr>
        <p:spPr>
          <a:xfrm xmlns:a="http://schemas.openxmlformats.org/drawingml/2006/main">
            <a:off x="4700000" y="4530000"/>
            <a:ext cx="3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Core, Inventory, TMP</a:t>
            </a:r>
          </a:p>
        </p:txBody>
      </p:sp>
      <p:sp>
        <p:nvSpPr>
          <p:cNvPr id="178" name="TextBox178"/>
          <p:cNvSpPr/>
          <p:nvPr/>
        </p:nvSpPr>
        <p:spPr>
          <a:xfrm xmlns:a="http://schemas.openxmlformats.org/drawingml/2006/main">
            <a:off x="7900000" y="4530000"/>
            <a:ext cx="37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인벤토리·탐지·HUD UI</a:t>
            </a:r>
          </a:p>
        </p:txBody>
      </p:sp>
      <p:sp>
        <p:nvSpPr>
          <p:cNvPr id="179" name="TextBox179"/>
          <p:cNvSpPr/>
          <p:nvPr/>
        </p:nvSpPr>
        <p:spPr>
          <a:xfrm xmlns:a="http://schemas.openxmlformats.org/drawingml/2006/main">
            <a:off x="500000" y="4960000"/>
            <a:ext cx="30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GoldenFruit.App</a:t>
            </a:r>
          </a:p>
        </p:txBody>
      </p:sp>
      <p:sp>
        <p:nvSpPr>
          <p:cNvPr id="180" name="TextBox180"/>
          <p:cNvSpPr/>
          <p:nvPr/>
        </p:nvSpPr>
        <p:spPr>
          <a:xfrm xmlns:a="http://schemas.openxmlformats.org/drawingml/2006/main">
            <a:off x="3500000" y="4960000"/>
            <a:ext cx="1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Tier 3</a:t>
            </a:r>
          </a:p>
        </p:txBody>
      </p:sp>
      <p:sp>
        <p:nvSpPr>
          <p:cNvPr id="181" name="TextBox181"/>
          <p:cNvSpPr/>
          <p:nvPr/>
        </p:nvSpPr>
        <p:spPr>
          <a:xfrm xmlns:a="http://schemas.openxmlformats.org/drawingml/2006/main">
            <a:off x="4700000" y="4960000"/>
            <a:ext cx="3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모든 Assembly</a:t>
            </a:r>
          </a:p>
        </p:txBody>
      </p:sp>
      <p:sp>
        <p:nvSpPr>
          <p:cNvPr id="182" name="TextBox182"/>
          <p:cNvSpPr/>
          <p:nvPr/>
        </p:nvSpPr>
        <p:spPr>
          <a:xfrm xmlns:a="http://schemas.openxmlformats.org/drawingml/2006/main">
            <a:off x="7900000" y="4960000"/>
            <a:ext cx="37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조합 루트, DI, Workflow</a:t>
            </a:r>
          </a:p>
        </p:txBody>
      </p:sp>
      <p:sp>
        <p:nvSpPr>
          <p:cNvPr id="183" name="RoundRect183"/>
          <p:cNvSpPr/>
          <p:nvPr/>
        </p:nvSpPr>
        <p:spPr>
          <a:xfrm xmlns:a="http://schemas.openxmlformats.org/drawingml/2006/main">
            <a:off x="300000" y="5600000"/>
            <a:ext cx="115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4" name="TextBox184"/>
          <p:cNvSpPr/>
          <p:nvPr/>
        </p:nvSpPr>
        <p:spPr>
          <a:xfrm xmlns:a="http://schemas.openxmlformats.org/drawingml/2006/main">
            <a:off x="500000" y="5650000"/>
            <a:ext cx="11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핵심 규칙</a:t>
            </a:r>
          </a:p>
        </p:txBody>
      </p:sp>
      <p:sp>
        <p:nvSpPr>
          <p:cNvPr id="185" name="TextBox185"/>
          <p:cNvSpPr/>
          <p:nvPr/>
        </p:nvSpPr>
        <p:spPr>
          <a:xfrm xmlns:a="http://schemas.openxmlformats.org/drawingml/2006/main">
            <a:off x="500000" y="6050000"/>
            <a:ext cx="11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상위 Tier는 하위 Tier만 참조  |  같은 Tier 간 참조 금지  |  순환 참조 시 컴파일 에러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Rect186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7" name="Rect187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8" name="TextBox188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7. 3개 씬 구조</a:t>
            </a:r>
          </a:p>
        </p:txBody>
      </p:sp>
      <p:sp>
        <p:nvSpPr>
          <p:cNvPr id="189" name="RoundRect189"/>
          <p:cNvSpPr/>
          <p:nvPr/>
        </p:nvSpPr>
        <p:spPr>
          <a:xfrm xmlns:a="http://schemas.openxmlformats.org/drawingml/2006/main">
            <a:off x="300000" y="1500000"/>
            <a:ext cx="3700000" cy="5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0" name="Rect190"/>
          <p:cNvSpPr/>
          <p:nvPr/>
        </p:nvSpPr>
        <p:spPr>
          <a:xfrm xmlns:a="http://schemas.openxmlformats.org/drawingml/2006/main">
            <a:off x="300000" y="1500000"/>
            <a:ext cx="3700000" cy="6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1" name="Rect191"/>
          <p:cNvSpPr/>
          <p:nvPr/>
        </p:nvSpPr>
        <p:spPr>
          <a:xfrm xmlns:a="http://schemas.openxmlformats.org/drawingml/2006/main">
            <a:off x="300000" y="1500000"/>
            <a:ext cx="37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2" name="TextBox192"/>
          <p:cNvSpPr/>
          <p:nvPr/>
        </p:nvSpPr>
        <p:spPr>
          <a:xfrm xmlns:a="http://schemas.openxmlformats.org/drawingml/2006/main">
            <a:off x="500000" y="1700000"/>
            <a:ext cx="3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Main.unity</a:t>
            </a:r>
          </a:p>
        </p:txBody>
      </p:sp>
      <p:sp>
        <p:nvSpPr>
          <p:cNvPr id="193" name="TextBox193"/>
          <p:cNvSpPr/>
          <p:nvPr/>
        </p:nvSpPr>
        <p:spPr>
          <a:xfrm xmlns:a="http://schemas.openxmlformats.org/drawingml/2006/main">
            <a:off x="500000" y="2100000"/>
            <a:ext cx="3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부트스트랩 씬</a:t>
            </a:r>
          </a:p>
        </p:txBody>
      </p:sp>
      <p:sp>
        <p:nvSpPr>
          <p:cNvPr id="194" name="RoundRect194"/>
          <p:cNvSpPr/>
          <p:nvPr/>
        </p:nvSpPr>
        <p:spPr>
          <a:xfrm xmlns:a="http://schemas.openxmlformats.org/drawingml/2006/main">
            <a:off x="450000" y="2600000"/>
            <a:ext cx="34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5" name="TextBox195"/>
          <p:cNvSpPr/>
          <p:nvPr/>
        </p:nvSpPr>
        <p:spPr>
          <a:xfrm xmlns:a="http://schemas.openxmlformats.org/drawingml/2006/main">
            <a:off x="600000" y="2650000"/>
            <a:ext cx="31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ApplicationScope</a:t>
            </a:r>
          </a:p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(DontDestroyOnLoad)</a:t>
            </a:r>
          </a:p>
        </p:txBody>
      </p:sp>
      <p:sp>
        <p:nvSpPr>
          <p:cNvPr id="196" name="TextBox196"/>
          <p:cNvSpPr/>
          <p:nvPr/>
        </p:nvSpPr>
        <p:spPr>
          <a:xfrm xmlns:a="http://schemas.openxmlformats.org/drawingml/2006/main">
            <a:off x="500000" y="3400000"/>
            <a:ext cx="3300000" cy="2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●  전역 DI 컨테이너 초기화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●  인터넷 연결 확인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●  FruitRepository 등록</a:t>
            </a:r>
          </a:p>
        </p:txBody>
      </p:sp>
      <p:sp>
        <p:nvSpPr>
          <p:cNvPr id="197" name="RoundRect197"/>
          <p:cNvSpPr/>
          <p:nvPr/>
        </p:nvSpPr>
        <p:spPr>
          <a:xfrm xmlns:a="http://schemas.openxmlformats.org/drawingml/2006/main">
            <a:off x="4200000" y="1500000"/>
            <a:ext cx="3700000" cy="5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8" name="Rect198"/>
          <p:cNvSpPr/>
          <p:nvPr/>
        </p:nvSpPr>
        <p:spPr>
          <a:xfrm xmlns:a="http://schemas.openxmlformats.org/drawingml/2006/main">
            <a:off x="4200000" y="1500000"/>
            <a:ext cx="3700000" cy="6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9" name="Rect199"/>
          <p:cNvSpPr/>
          <p:nvPr/>
        </p:nvSpPr>
        <p:spPr>
          <a:xfrm xmlns:a="http://schemas.openxmlformats.org/drawingml/2006/main">
            <a:off x="4200000" y="1500000"/>
            <a:ext cx="37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0" name="TextBox200"/>
          <p:cNvSpPr/>
          <p:nvPr/>
        </p:nvSpPr>
        <p:spPr>
          <a:xfrm xmlns:a="http://schemas.openxmlformats.org/drawingml/2006/main">
            <a:off x="4400000" y="1700000"/>
            <a:ext cx="3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Map.unity</a:t>
            </a:r>
          </a:p>
        </p:txBody>
      </p:sp>
      <p:sp>
        <p:nvSpPr>
          <p:cNvPr id="201" name="TextBox201"/>
          <p:cNvSpPr/>
          <p:nvPr/>
        </p:nvSpPr>
        <p:spPr>
          <a:xfrm xmlns:a="http://schemas.openxmlformats.org/drawingml/2006/main">
            <a:off x="4400000" y="2100000"/>
            <a:ext cx="3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지도 탐색 씬</a:t>
            </a:r>
          </a:p>
        </p:txBody>
      </p:sp>
      <p:sp>
        <p:nvSpPr>
          <p:cNvPr id="202" name="RoundRect202"/>
          <p:cNvSpPr/>
          <p:nvPr/>
        </p:nvSpPr>
        <p:spPr>
          <a:xfrm xmlns:a="http://schemas.openxmlformats.org/drawingml/2006/main">
            <a:off x="4350000" y="2600000"/>
            <a:ext cx="34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3" name="TextBox203"/>
          <p:cNvSpPr/>
          <p:nvPr/>
        </p:nvSpPr>
        <p:spPr>
          <a:xfrm xmlns:a="http://schemas.openxmlformats.org/drawingml/2006/main">
            <a:off x="4500000" y="2650000"/>
            <a:ext cx="31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MapScope</a:t>
            </a:r>
          </a:p>
        </p:txBody>
      </p:sp>
      <p:sp>
        <p:nvSpPr>
          <p:cNvPr id="204" name="TextBox204"/>
          <p:cNvSpPr/>
          <p:nvPr/>
        </p:nvSpPr>
        <p:spPr>
          <a:xfrm xmlns:a="http://schemas.openxmlformats.org/drawingml/2006/main">
            <a:off x="4400000" y="3400000"/>
            <a:ext cx="3300000" cy="2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●  GPS 서비스 + LocationProvider 등록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●  3×3 타일 지도 스트리밍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●  과일 스폰 포인트 관리</a:t>
            </a:r>
          </a:p>
        </p:txBody>
      </p:sp>
      <p:sp>
        <p:nvSpPr>
          <p:cNvPr id="205" name="RoundRect205"/>
          <p:cNvSpPr/>
          <p:nvPr/>
        </p:nvSpPr>
        <p:spPr>
          <a:xfrm xmlns:a="http://schemas.openxmlformats.org/drawingml/2006/main">
            <a:off x="8100000" y="1500000"/>
            <a:ext cx="3700000" cy="5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6" name="Rect206"/>
          <p:cNvSpPr/>
          <p:nvPr/>
        </p:nvSpPr>
        <p:spPr>
          <a:xfrm xmlns:a="http://schemas.openxmlformats.org/drawingml/2006/main">
            <a:off x="8100000" y="1500000"/>
            <a:ext cx="3700000" cy="6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7" name="Rect207"/>
          <p:cNvSpPr/>
          <p:nvPr/>
        </p:nvSpPr>
        <p:spPr>
          <a:xfrm xmlns:a="http://schemas.openxmlformats.org/drawingml/2006/main">
            <a:off x="8100000" y="1500000"/>
            <a:ext cx="37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8" name="TextBox208"/>
          <p:cNvSpPr/>
          <p:nvPr/>
        </p:nvSpPr>
        <p:spPr>
          <a:xfrm xmlns:a="http://schemas.openxmlformats.org/drawingml/2006/main">
            <a:off x="8300000" y="1700000"/>
            <a:ext cx="3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A726"/>
                </a:solidFill>
                <a:latin typeface="맑은 고딕"/>
                <a:ea typeface="맑은 고딕"/>
              </a:rPr>
              <a:t>ARCollection.unity</a:t>
            </a:r>
          </a:p>
        </p:txBody>
      </p:sp>
      <p:sp>
        <p:nvSpPr>
          <p:cNvPr id="209" name="TextBox209"/>
          <p:cNvSpPr/>
          <p:nvPr/>
        </p:nvSpPr>
        <p:spPr>
          <a:xfrm xmlns:a="http://schemas.openxmlformats.org/drawingml/2006/main">
            <a:off x="8300000" y="2100000"/>
            <a:ext cx="3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AR 수집 씬</a:t>
            </a:r>
          </a:p>
        </p:txBody>
      </p:sp>
      <p:sp>
        <p:nvSpPr>
          <p:cNvPr id="210" name="RoundRect210"/>
          <p:cNvSpPr/>
          <p:nvPr/>
        </p:nvSpPr>
        <p:spPr>
          <a:xfrm xmlns:a="http://schemas.openxmlformats.org/drawingml/2006/main">
            <a:off x="8250000" y="2600000"/>
            <a:ext cx="34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1" name="TextBox211"/>
          <p:cNvSpPr/>
          <p:nvPr/>
        </p:nvSpPr>
        <p:spPr>
          <a:xfrm xmlns:a="http://schemas.openxmlformats.org/drawingml/2006/main">
            <a:off x="8400000" y="2650000"/>
            <a:ext cx="31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ARScope</a:t>
            </a:r>
          </a:p>
        </p:txBody>
      </p:sp>
      <p:sp>
        <p:nvSpPr>
          <p:cNvPr id="212" name="TextBox212"/>
          <p:cNvSpPr/>
          <p:nvPr/>
        </p:nvSpPr>
        <p:spPr>
          <a:xfrm xmlns:a="http://schemas.openxmlformats.org/drawingml/2006/main">
            <a:off x="8300000" y="3400000"/>
            <a:ext cx="3300000" cy="2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●  FruitDetector (Mock/YOLO) 등록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●  카메라 과일 탐지 루프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●  AR Raycast로 수집/배치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Rect213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4" name="Rect214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5" name="TextBox215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8. 요약</a:t>
            </a:r>
          </a:p>
        </p:txBody>
      </p:sp>
      <p:sp>
        <p:nvSpPr>
          <p:cNvPr id="216" name="RoundRect216"/>
          <p:cNvSpPr/>
          <p:nvPr/>
        </p:nvSpPr>
        <p:spPr>
          <a:xfrm xmlns:a="http://schemas.openxmlformats.org/drawingml/2006/main">
            <a:off x="600000" y="16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7" name="Rect217"/>
          <p:cNvSpPr/>
          <p:nvPr/>
        </p:nvSpPr>
        <p:spPr>
          <a:xfrm xmlns:a="http://schemas.openxmlformats.org/drawingml/2006/main">
            <a:off x="600000" y="16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8" name="Rect218"/>
          <p:cNvSpPr/>
          <p:nvPr/>
        </p:nvSpPr>
        <p:spPr>
          <a:xfrm xmlns:a="http://schemas.openxmlformats.org/drawingml/2006/main">
            <a:off x="600000" y="16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9" name="TextBox219"/>
          <p:cNvSpPr/>
          <p:nvPr/>
        </p:nvSpPr>
        <p:spPr>
          <a:xfrm xmlns:a="http://schemas.openxmlformats.org/drawingml/2006/main">
            <a:off x="900000" y="16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위치 기반 AR 게임</a:t>
            </a:r>
          </a:p>
        </p:txBody>
      </p:sp>
      <p:sp>
        <p:nvSpPr>
          <p:cNvPr id="220" name="TextBox220"/>
          <p:cNvSpPr/>
          <p:nvPr/>
        </p:nvSpPr>
        <p:spPr>
          <a:xfrm xmlns:a="http://schemas.openxmlformats.org/drawingml/2006/main">
            <a:off x="900000" y="20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GPS 지도 탐색 → 카메라 과일 탐지 → AR 수집의 게임 루프</a:t>
            </a:r>
          </a:p>
        </p:txBody>
      </p:sp>
      <p:sp>
        <p:nvSpPr>
          <p:cNvPr id="221" name="RoundRect221"/>
          <p:cNvSpPr/>
          <p:nvPr/>
        </p:nvSpPr>
        <p:spPr>
          <a:xfrm xmlns:a="http://schemas.openxmlformats.org/drawingml/2006/main">
            <a:off x="600000" y="245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2" name="Rect222"/>
          <p:cNvSpPr/>
          <p:nvPr/>
        </p:nvSpPr>
        <p:spPr>
          <a:xfrm xmlns:a="http://schemas.openxmlformats.org/drawingml/2006/main">
            <a:off x="600000" y="245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3" name="Rect223"/>
          <p:cNvSpPr/>
          <p:nvPr/>
        </p:nvSpPr>
        <p:spPr>
          <a:xfrm xmlns:a="http://schemas.openxmlformats.org/drawingml/2006/main">
            <a:off x="600000" y="245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4" name="TextBox224"/>
          <p:cNvSpPr/>
          <p:nvPr/>
        </p:nvSpPr>
        <p:spPr>
          <a:xfrm xmlns:a="http://schemas.openxmlformats.org/drawingml/2006/main">
            <a:off x="900000" y="25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8개 독립 Assembly</a:t>
            </a:r>
          </a:p>
        </p:txBody>
      </p:sp>
      <p:sp>
        <p:nvSpPr>
          <p:cNvPr id="225" name="TextBox225"/>
          <p:cNvSpPr/>
          <p:nvPr/>
        </p:nvSpPr>
        <p:spPr>
          <a:xfrm xmlns:a="http://schemas.openxmlformats.org/drawingml/2006/main">
            <a:off x="900000" y="28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.asmdef로 폴더 단위 모듈 분리, 순환 참조 방지</a:t>
            </a:r>
          </a:p>
        </p:txBody>
      </p:sp>
      <p:sp>
        <p:nvSpPr>
          <p:cNvPr id="226" name="RoundRect226"/>
          <p:cNvSpPr/>
          <p:nvPr/>
        </p:nvSpPr>
        <p:spPr>
          <a:xfrm xmlns:a="http://schemas.openxmlformats.org/drawingml/2006/main">
            <a:off x="600000" y="33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7" name="Rect227"/>
          <p:cNvSpPr/>
          <p:nvPr/>
        </p:nvSpPr>
        <p:spPr>
          <a:xfrm xmlns:a="http://schemas.openxmlformats.org/drawingml/2006/main">
            <a:off x="600000" y="33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8" name="Rect228"/>
          <p:cNvSpPr/>
          <p:nvPr/>
        </p:nvSpPr>
        <p:spPr>
          <a:xfrm xmlns:a="http://schemas.openxmlformats.org/drawingml/2006/main">
            <a:off x="600000" y="33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9" name="TextBox229"/>
          <p:cNvSpPr/>
          <p:nvPr/>
        </p:nvSpPr>
        <p:spPr>
          <a:xfrm xmlns:a="http://schemas.openxmlformats.org/drawingml/2006/main">
            <a:off x="900000" y="33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A726"/>
                </a:solidFill>
                <a:latin typeface="맑은 고딕"/>
                <a:ea typeface="맑은 고딕"/>
              </a:rPr>
              <a:t>4단계 계층 구조</a:t>
            </a:r>
          </a:p>
        </p:txBody>
      </p:sp>
      <p:sp>
        <p:nvSpPr>
          <p:cNvPr id="230" name="TextBox230"/>
          <p:cNvSpPr/>
          <p:nvPr/>
        </p:nvSpPr>
        <p:spPr>
          <a:xfrm xmlns:a="http://schemas.openxmlformats.org/drawingml/2006/main">
            <a:off x="900000" y="37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Core(Tier 0) → 기능(Tier 1) → 통합(Tier 2) → App(Tier 3)</a:t>
            </a:r>
          </a:p>
        </p:txBody>
      </p:sp>
      <p:sp>
        <p:nvSpPr>
          <p:cNvPr id="231" name="RoundRect231"/>
          <p:cNvSpPr/>
          <p:nvPr/>
        </p:nvSpPr>
        <p:spPr>
          <a:xfrm xmlns:a="http://schemas.openxmlformats.org/drawingml/2006/main">
            <a:off x="600000" y="415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2" name="Rect232"/>
          <p:cNvSpPr/>
          <p:nvPr/>
        </p:nvSpPr>
        <p:spPr>
          <a:xfrm xmlns:a="http://schemas.openxmlformats.org/drawingml/2006/main">
            <a:off x="600000" y="415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3" name="Rect233"/>
          <p:cNvSpPr/>
          <p:nvPr/>
        </p:nvSpPr>
        <p:spPr>
          <a:xfrm xmlns:a="http://schemas.openxmlformats.org/drawingml/2006/main">
            <a:off x="600000" y="415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4" name="TextBox234"/>
          <p:cNvSpPr/>
          <p:nvPr/>
        </p:nvSpPr>
        <p:spPr>
          <a:xfrm xmlns:a="http://schemas.openxmlformats.org/drawingml/2006/main">
            <a:off x="900000" y="42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EE58"/>
                </a:solidFill>
                <a:latin typeface="맑은 고딕"/>
                <a:ea typeface="맑은 고딕"/>
              </a:rPr>
              <a:t>3개 씬 아키텍처</a:t>
            </a:r>
          </a:p>
        </p:txBody>
      </p:sp>
      <p:sp>
        <p:nvSpPr>
          <p:cNvPr id="235" name="TextBox235"/>
          <p:cNvSpPr/>
          <p:nvPr/>
        </p:nvSpPr>
        <p:spPr>
          <a:xfrm xmlns:a="http://schemas.openxmlformats.org/drawingml/2006/main">
            <a:off x="900000" y="45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Main(부트스트랩) → Map(탐색) → AR(수집), 각각 독립 DI Scope</a:t>
            </a:r>
          </a:p>
        </p:txBody>
      </p:sp>
      <p:sp>
        <p:nvSpPr>
          <p:cNvPr id="236" name="RoundRect236"/>
          <p:cNvSpPr/>
          <p:nvPr/>
        </p:nvSpPr>
        <p:spPr>
          <a:xfrm xmlns:a="http://schemas.openxmlformats.org/drawingml/2006/main">
            <a:off x="600000" y="50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7" name="Rect237"/>
          <p:cNvSpPr/>
          <p:nvPr/>
        </p:nvSpPr>
        <p:spPr>
          <a:xfrm xmlns:a="http://schemas.openxmlformats.org/drawingml/2006/main">
            <a:off x="600000" y="50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8" name="Rect238"/>
          <p:cNvSpPr/>
          <p:nvPr/>
        </p:nvSpPr>
        <p:spPr>
          <a:xfrm xmlns:a="http://schemas.openxmlformats.org/drawingml/2006/main">
            <a:off x="600000" y="50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9" name="TextBox239"/>
          <p:cNvSpPr/>
          <p:nvPr/>
        </p:nvSpPr>
        <p:spPr>
          <a:xfrm xmlns:a="http://schemas.openxmlformats.org/drawingml/2006/main">
            <a:off x="900000" y="50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Mock 기반 테스트</a:t>
            </a:r>
          </a:p>
        </p:txBody>
      </p:sp>
      <p:sp>
        <p:nvSpPr>
          <p:cNvPr id="240" name="TextBox240"/>
          <p:cNvSpPr/>
          <p:nvPr/>
        </p:nvSpPr>
        <p:spPr>
          <a:xfrm xmlns:a="http://schemas.openxmlformats.org/drawingml/2006/main">
            <a:off x="900000" y="54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LocationProvider, FruitDetector, Repository 모두 Mock 구현 제공</a:t>
            </a:r>
          </a:p>
        </p:txBody>
      </p:sp>
      <p:sp>
        <p:nvSpPr>
          <p:cNvPr id="241" name="RoundRect241"/>
          <p:cNvSpPr/>
          <p:nvPr/>
        </p:nvSpPr>
        <p:spPr>
          <a:xfrm xmlns:a="http://schemas.openxmlformats.org/drawingml/2006/main">
            <a:off x="600000" y="5900000"/>
            <a:ext cx="109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42" name="TextBox242"/>
          <p:cNvSpPr/>
          <p:nvPr/>
        </p:nvSpPr>
        <p:spPr>
          <a:xfrm xmlns:a="http://schemas.openxmlformats.org/drawingml/2006/main">
            <a:off x="800000" y="595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다음 챕터에서는 Core 레이어의 데이터 모델과 인터페이스 설계를 살펴봅니다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CustomTheme">
  <a:themeElements>
    <a:clrScheme name="Custom">
      <a:dk1>
        <a:sysClr val="windowText" lastClr="000000"/>
      </a:dk1>
      <a:lt1>
        <a:sysClr val="window" lastClr="FFFFFF"/>
      </a:lt1>
      <a:dk2>
        <a:srgbClr val="1B2A4A"/>
      </a:dk2>
      <a:lt2>
        <a:srgbClr val="E7E6E6"/>
      </a:lt2>
      <a:accent1>
        <a:srgbClr val="4FC3F7"/>
      </a:accent1>
      <a:accent2>
        <a:srgbClr val="66BB6A"/>
      </a:accent2>
      <a:accent3>
        <a:srgbClr val="FFA726"/>
      </a:accent3>
      <a:accent4>
        <a:srgbClr val="FFEE58"/>
      </a:accent4>
      <a:accent5>
        <a:srgbClr val="EF5350"/>
      </a:accent5>
      <a:accent6>
        <a:srgbClr val="B0BEC5"/>
      </a:accent6>
      <a:hlink>
        <a:srgbClr val="4FC3F7"/>
      </a:hlink>
      <a:folHlink>
        <a:srgbClr val="B0BEC5"/>
      </a:folHlink>
    </a:clrScheme>
    <a:fontScheme name="Custom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Cust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