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</Types>
</file>

<file path=_rels/.rels>&#65279;<?xml version="1.0" encoding="utf-8"?>
<Relationships xmlns="http://schemas.openxmlformats.org/package/2006/relationships">
  <Relationship Type="http://schemas.openxmlformats.org/officeDocument/2006/relationships/officeDocument" Target="ppt/presentation.xml" Id="Rc37118ede4444779" />
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  <p:sldId xmlns:r="http://schemas.openxmlformats.org/officeDocument/2006/relationships" id="262" r:id="rId7"/>
    <p:sldId xmlns:r="http://schemas.openxmlformats.org/officeDocument/2006/relationships" id="263" r:id="rId8"/>
    <p:sldId xmlns:r="http://schemas.openxmlformats.org/officeDocument/2006/relationships" id="264" r:id="rId9"/>
    <p:sldId xmlns:r="http://schemas.openxmlformats.org/officeDocument/2006/relationships" id="265" r:id="rId10"/>
  </p:sldIdLst>
  <p:sldSz cx="12192000" cy="6858000" type="custom"/>
  <p:notesSz cx="6858000" cy="9144000"/>
</p:presentation>
</file>

<file path=ppt/_rels/presentation.xml.rels>&#65279;<?xml version="1.0" encoding="utf-8"?>
<Relationships xmlns="http://schemas.openxmlformats.org/package/2006/relationships">
  <Relationship Type="http://schemas.openxmlformats.org/officeDocument/2006/relationships/theme" Target="theme/theme1.xml" Id="rIdTheme" />
  <Relationship Type="http://schemas.openxmlformats.org/officeDocument/2006/relationships/slideMaster" Target="slideMasters/slideMaster1.xml" Id="rIdMaster" />
  <Relationship Type="http://schemas.openxmlformats.org/officeDocument/2006/relationships/slide" Target="slides/slide1.xml" Id="rId1" />
  <Relationship Type="http://schemas.openxmlformats.org/officeDocument/2006/relationships/slide" Target="slides/slide2.xml" Id="rId2" />
  <Relationship Type="http://schemas.openxmlformats.org/officeDocument/2006/relationships/slide" Target="slides/slide3.xml" Id="rId3" />
  <Relationship Type="http://schemas.openxmlformats.org/officeDocument/2006/relationships/slide" Target="slides/slide4.xml" Id="rId4" />
  <Relationship Type="http://schemas.openxmlformats.org/officeDocument/2006/relationships/slide" Target="slides/slide5.xml" Id="rId5" />
  <Relationship Type="http://schemas.openxmlformats.org/officeDocument/2006/relationships/slide" Target="slides/slide6.xml" Id="rId6" />
  <Relationship Type="http://schemas.openxmlformats.org/officeDocument/2006/relationships/slide" Target="slides/slide7.xml" Id="rId7" />
  <Relationship Type="http://schemas.openxmlformats.org/officeDocument/2006/relationships/slide" Target="slides/slide8.xml" Id="rId8" />
  <Relationship Type="http://schemas.openxmlformats.org/officeDocument/2006/relationships/slide" Target="slides/slide9.xml" Id="rId9" />
  <Relationship Type="http://schemas.openxmlformats.org/officeDocument/2006/relationships/slide" Target="slides/slide10.xml" Id="rId10" />
</Relationships>
</file>

<file path=ppt/slideLayouts/_rels/slideLayout1.xml.rels>&#65279;<?xml version="1.0" encoding="utf-8"?>
<Relationships xmlns="http://schemas.openxmlformats.org/package/2006/relationships">
  <Relationship Type="http://schemas.openxmlformats.org/officeDocument/2006/relationships/slideMaster" Target="../slideMasters/slideMaster1.xml" Id="rIdSldMaster" />
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  <Relationship Type="http://schemas.openxmlformats.org/officeDocument/2006/relationships/theme" Target="../theme/theme1.xml" Id="rIdTheme" />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"/>
  </p:sldLayoutIdLst>
  <p:txStyles>
    <p:titleStyle>
      <a:lvl1pPr xmlns:a="http://schemas.openxmlformats.org/drawingml/2006/main">
        <a:defRPr sz="2400"/>
      </a:lvl1pPr>
    </p:titleStyle>
    <p:bodyStyle>
      <a:lvl1pPr xmlns:a="http://schemas.openxmlformats.org/drawingml/2006/main">
        <a:defRPr sz="1800"/>
      </a:lvl1pPr>
    </p:bodyStyle>
    <p:otherStyle>
      <a:lvl1pPr xmlns:a="http://schemas.openxmlformats.org/drawingml/2006/main">
        <a:defRPr sz="1400"/>
      </a:lvl1pPr>
    </p:otherStyle>
  </p:txStyles>
</p:sldMaster>
</file>

<file path=ppt/slides/_rels/slide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2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3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4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5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6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7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8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9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10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2"/>
          <p:cNvSpPr/>
          <p:nvPr/>
        </p:nvSpPr>
        <p:spPr>
          <a:xfrm xmlns:a="http://schemas.openxmlformats.org/drawingml/2006/main">
            <a:off x="0" y="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" name="TextBox3"/>
          <p:cNvSpPr/>
          <p:nvPr/>
        </p:nvSpPr>
        <p:spPr>
          <a:xfrm xmlns:a="http://schemas.openxmlformats.org/drawingml/2006/main">
            <a:off x="800000" y="1800000"/>
            <a:ext cx="10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4400" b="1" dirty="0">
                <a:solidFill>
                  <a:srgbClr val="FFFFFF"/>
                </a:solidFill>
                <a:latin typeface="맑은 고딕"/>
                <a:ea typeface="맑은 고딕"/>
              </a:rPr>
              <a:t>GoldenFruit 프로젝트</a:t>
            </a:r>
          </a:p>
        </p:txBody>
      </p:sp>
      <p:sp>
        <p:nvSpPr>
          <p:cNvPr id="4" name="TextBox4"/>
          <p:cNvSpPr/>
          <p:nvPr/>
        </p:nvSpPr>
        <p:spPr>
          <a:xfrm xmlns:a="http://schemas.openxmlformats.org/drawingml/2006/main">
            <a:off x="800000" y="3000000"/>
            <a:ext cx="10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4FC3F7"/>
                </a:solidFill>
                <a:latin typeface="맑은 고딕"/>
                <a:ea typeface="맑은 고딕"/>
              </a:rPr>
              <a:t>Chapter 7: UI와 MVP 패턴</a:t>
            </a:r>
          </a:p>
        </p:txBody>
      </p:sp>
      <p:sp>
        <p:nvSpPr>
          <p:cNvPr id="5" name="TextBox5"/>
          <p:cNvSpPr/>
          <p:nvPr/>
        </p:nvSpPr>
        <p:spPr>
          <a:xfrm xmlns:a="http://schemas.openxmlformats.org/drawingml/2006/main">
            <a:off x="800000" y="3900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B0BEC5"/>
                </a:solidFill>
                <a:latin typeface="맑은 고딕"/>
                <a:ea typeface="맑은 고딕"/>
              </a:rPr>
              <a:t>인벤토리, 탐지 오버레이, Map HUD 구현</a:t>
            </a:r>
          </a:p>
        </p:txBody>
      </p:sp>
      <p:sp>
        <p:nvSpPr>
          <p:cNvPr id="6" name="Rect6"/>
          <p:cNvSpPr/>
          <p:nvPr/>
        </p:nvSpPr>
        <p:spPr>
          <a:xfrm xmlns:a="http://schemas.openxmlformats.org/drawingml/2006/main">
            <a:off x="4500000" y="4800000"/>
            <a:ext cx="3200000" cy="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" name="TextBox7"/>
          <p:cNvSpPr/>
          <p:nvPr/>
        </p:nvSpPr>
        <p:spPr>
          <a:xfrm xmlns:a="http://schemas.openxmlformats.org/drawingml/2006/main">
            <a:off x="800000" y="51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800" b="0" dirty="0">
                <a:solidFill>
                  <a:srgbClr val="B0BEC5"/>
                </a:solidFill>
                <a:latin typeface="맑은 고딕"/>
                <a:ea typeface="맑은 고딕"/>
              </a:rPr>
              <a:t>조영민 강사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" name="Rect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" name="TextBox1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목 차</a:t>
            </a:r>
          </a:p>
        </p:txBody>
      </p:sp>
      <p:sp>
        <p:nvSpPr>
          <p:cNvPr id="11" name="TextBox11"/>
          <p:cNvSpPr/>
          <p:nvPr/>
        </p:nvSpPr>
        <p:spPr>
          <a:xfrm xmlns:a="http://schemas.openxmlformats.org/drawingml/2006/main">
            <a:off x="1500000" y="16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1.  MVP 패턴 구조</a:t>
            </a:r>
          </a:p>
        </p:txBody>
      </p:sp>
      <p:sp>
        <p:nvSpPr>
          <p:cNvPr id="12" name="TextBox12"/>
          <p:cNvSpPr/>
          <p:nvPr/>
        </p:nvSpPr>
        <p:spPr>
          <a:xfrm xmlns:a="http://schemas.openxmlformats.org/drawingml/2006/main">
            <a:off x="1500000" y="21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2.  InventoryPresenter (프레젠터)</a:t>
            </a:r>
          </a:p>
        </p:txBody>
      </p:sp>
      <p:sp>
        <p:nvSpPr>
          <p:cNvPr id="13" name="TextBox13"/>
          <p:cNvSpPr/>
          <p:nvPr/>
        </p:nvSpPr>
        <p:spPr>
          <a:xfrm xmlns:a="http://schemas.openxmlformats.org/drawingml/2006/main">
            <a:off x="1500000" y="26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3.  InventoryView (뷰)</a:t>
            </a:r>
          </a:p>
        </p:txBody>
      </p:sp>
      <p:sp>
        <p:nvSpPr>
          <p:cNvPr id="14" name="TextBox14"/>
          <p:cNvSpPr/>
          <p:nvPr/>
        </p:nvSpPr>
        <p:spPr>
          <a:xfrm xmlns:a="http://schemas.openxmlformats.org/drawingml/2006/main">
            <a:off x="1500000" y="316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4.  InventoryItemSlot (슬롯 UI)</a:t>
            </a:r>
          </a:p>
        </p:txBody>
      </p:sp>
      <p:sp>
        <p:nvSpPr>
          <p:cNvPr id="15" name="TextBox15"/>
          <p:cNvSpPr/>
          <p:nvPr/>
        </p:nvSpPr>
        <p:spPr>
          <a:xfrm xmlns:a="http://schemas.openxmlformats.org/drawingml/2006/main">
            <a:off x="1500000" y="368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5.  DetectionOverlay (탐지 오버레이)</a:t>
            </a:r>
          </a:p>
        </p:txBody>
      </p:sp>
      <p:sp>
        <p:nvSpPr>
          <p:cNvPr id="16" name="TextBox16"/>
          <p:cNvSpPr/>
          <p:nvPr/>
        </p:nvSpPr>
        <p:spPr>
          <a:xfrm xmlns:a="http://schemas.openxmlformats.org/drawingml/2006/main">
            <a:off x="1500000" y="42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6.  MapHUD &amp; ScreenFader</a:t>
            </a:r>
          </a:p>
        </p:txBody>
      </p:sp>
      <p:sp>
        <p:nvSpPr>
          <p:cNvPr id="17" name="TextBox17"/>
          <p:cNvSpPr/>
          <p:nvPr/>
        </p:nvSpPr>
        <p:spPr>
          <a:xfrm xmlns:a="http://schemas.openxmlformats.org/drawingml/2006/main">
            <a:off x="1500000" y="47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7.  이벤트 기반 UI 갱신 흐름</a:t>
            </a:r>
          </a:p>
        </p:txBody>
      </p:sp>
      <p:sp>
        <p:nvSpPr>
          <p:cNvPr id="18" name="TextBox18"/>
          <p:cNvSpPr/>
          <p:nvPr/>
        </p:nvSpPr>
        <p:spPr>
          <a:xfrm xmlns:a="http://schemas.openxmlformats.org/drawingml/2006/main">
            <a:off x="1500000" y="52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8.  요약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1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" name="Rect2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" name="TextBox2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1. MVP 패턴 구조</a:t>
            </a:r>
          </a:p>
        </p:txBody>
      </p:sp>
      <p:sp>
        <p:nvSpPr>
          <p:cNvPr id="22" name="RoundRect22"/>
          <p:cNvSpPr/>
          <p:nvPr/>
        </p:nvSpPr>
        <p:spPr>
          <a:xfrm xmlns:a="http://schemas.openxmlformats.org/drawingml/2006/main">
            <a:off x="600000" y="145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" name="TextBox23"/>
          <p:cNvSpPr/>
          <p:nvPr/>
        </p:nvSpPr>
        <p:spPr>
          <a:xfrm xmlns:a="http://schemas.openxmlformats.org/drawingml/2006/main">
            <a:off x="800000" y="150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MVP = Model-View-Presenter</a:t>
            </a:r>
          </a:p>
        </p:txBody>
      </p:sp>
      <p:sp>
        <p:nvSpPr>
          <p:cNvPr id="24" name="TextBox24"/>
          <p:cNvSpPr/>
          <p:nvPr/>
        </p:nvSpPr>
        <p:spPr>
          <a:xfrm xmlns:a="http://schemas.openxmlformats.org/drawingml/2006/main">
            <a:off x="800000" y="185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UI 로직(Presenter)과 UI 표시(View)를 분리하여 관심사를 격리</a:t>
            </a:r>
          </a:p>
        </p:txBody>
      </p:sp>
      <p:sp>
        <p:nvSpPr>
          <p:cNvPr id="25" name="RoundRect25"/>
          <p:cNvSpPr/>
          <p:nvPr/>
        </p:nvSpPr>
        <p:spPr>
          <a:xfrm xmlns:a="http://schemas.openxmlformats.org/drawingml/2006/main">
            <a:off x="400000" y="2600000"/>
            <a:ext cx="35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6" name="Rect26"/>
          <p:cNvSpPr/>
          <p:nvPr/>
        </p:nvSpPr>
        <p:spPr>
          <a:xfrm xmlns:a="http://schemas.openxmlformats.org/drawingml/2006/main">
            <a:off x="400000" y="2600000"/>
            <a:ext cx="3500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7" name="Rect27"/>
          <p:cNvSpPr/>
          <p:nvPr/>
        </p:nvSpPr>
        <p:spPr>
          <a:xfrm xmlns:a="http://schemas.openxmlformats.org/drawingml/2006/main">
            <a:off x="400000" y="2600000"/>
            <a:ext cx="35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8" name="TextBox28"/>
          <p:cNvSpPr/>
          <p:nvPr/>
        </p:nvSpPr>
        <p:spPr>
          <a:xfrm xmlns:a="http://schemas.openxmlformats.org/drawingml/2006/main">
            <a:off x="600000" y="2800000"/>
            <a:ext cx="3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4FC3F7"/>
                </a:solidFill>
                <a:latin typeface="맑은 고딕"/>
                <a:ea typeface="맑은 고딕"/>
              </a:rPr>
              <a:t>Model</a:t>
            </a:r>
          </a:p>
        </p:txBody>
      </p:sp>
      <p:sp>
        <p:nvSpPr>
          <p:cNvPr id="29" name="TextBox29"/>
          <p:cNvSpPr/>
          <p:nvPr/>
        </p:nvSpPr>
        <p:spPr>
          <a:xfrm xmlns:a="http://schemas.openxmlformats.org/drawingml/2006/main">
            <a:off x="600000" y="3200000"/>
            <a:ext cx="31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IFruitRepository</a:t>
            </a:r>
          </a:p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(데이터 계층)</a:t>
            </a:r>
          </a:p>
        </p:txBody>
      </p:sp>
      <p:sp>
        <p:nvSpPr>
          <p:cNvPr id="30" name="TextBox30"/>
          <p:cNvSpPr/>
          <p:nvPr/>
        </p:nvSpPr>
        <p:spPr>
          <a:xfrm xmlns:a="http://schemas.openxmlformats.org/drawingml/2006/main">
            <a:off x="600000" y="3700000"/>
            <a:ext cx="31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데이터 저장/조회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OnSaved 이벤트 발생</a:t>
            </a:r>
          </a:p>
        </p:txBody>
      </p:sp>
      <p:sp>
        <p:nvSpPr>
          <p:cNvPr id="31" name="TextBox31"/>
          <p:cNvSpPr/>
          <p:nvPr/>
        </p:nvSpPr>
        <p:spPr>
          <a:xfrm xmlns:a="http://schemas.openxmlformats.org/drawingml/2006/main">
            <a:off x="3900000" y="3200000"/>
            <a:ext cx="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2" name="RoundRect32"/>
          <p:cNvSpPr/>
          <p:nvPr/>
        </p:nvSpPr>
        <p:spPr>
          <a:xfrm xmlns:a="http://schemas.openxmlformats.org/drawingml/2006/main">
            <a:off x="4200000" y="2600000"/>
            <a:ext cx="35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3" name="Rect33"/>
          <p:cNvSpPr/>
          <p:nvPr/>
        </p:nvSpPr>
        <p:spPr>
          <a:xfrm xmlns:a="http://schemas.openxmlformats.org/drawingml/2006/main">
            <a:off x="4200000" y="2600000"/>
            <a:ext cx="3500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4" name="Rect34"/>
          <p:cNvSpPr/>
          <p:nvPr/>
        </p:nvSpPr>
        <p:spPr>
          <a:xfrm xmlns:a="http://schemas.openxmlformats.org/drawingml/2006/main">
            <a:off x="4200000" y="2600000"/>
            <a:ext cx="35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5" name="TextBox35"/>
          <p:cNvSpPr/>
          <p:nvPr/>
        </p:nvSpPr>
        <p:spPr>
          <a:xfrm xmlns:a="http://schemas.openxmlformats.org/drawingml/2006/main">
            <a:off x="4400000" y="2800000"/>
            <a:ext cx="3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66BB6A"/>
                </a:solidFill>
                <a:latin typeface="맑은 고딕"/>
                <a:ea typeface="맑은 고딕"/>
              </a:rPr>
              <a:t>Presenter</a:t>
            </a:r>
          </a:p>
        </p:txBody>
      </p:sp>
      <p:sp>
        <p:nvSpPr>
          <p:cNvPr id="36" name="TextBox36"/>
          <p:cNvSpPr/>
          <p:nvPr/>
        </p:nvSpPr>
        <p:spPr>
          <a:xfrm xmlns:a="http://schemas.openxmlformats.org/drawingml/2006/main">
            <a:off x="4400000" y="3200000"/>
            <a:ext cx="31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InventoryPresenter</a:t>
            </a:r>
          </a:p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(비즈니스 로직)</a:t>
            </a:r>
          </a:p>
        </p:txBody>
      </p:sp>
      <p:sp>
        <p:nvSpPr>
          <p:cNvPr id="37" name="TextBox37"/>
          <p:cNvSpPr/>
          <p:nvPr/>
        </p:nvSpPr>
        <p:spPr>
          <a:xfrm xmlns:a="http://schemas.openxmlformats.org/drawingml/2006/main">
            <a:off x="4400000" y="3700000"/>
            <a:ext cx="31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Repository 구독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View에 데이터 전달</a:t>
            </a:r>
          </a:p>
        </p:txBody>
      </p:sp>
      <p:sp>
        <p:nvSpPr>
          <p:cNvPr id="38" name="TextBox38"/>
          <p:cNvSpPr/>
          <p:nvPr/>
        </p:nvSpPr>
        <p:spPr>
          <a:xfrm xmlns:a="http://schemas.openxmlformats.org/drawingml/2006/main">
            <a:off x="7700000" y="3200000"/>
            <a:ext cx="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9" name="RoundRect39"/>
          <p:cNvSpPr/>
          <p:nvPr/>
        </p:nvSpPr>
        <p:spPr>
          <a:xfrm xmlns:a="http://schemas.openxmlformats.org/drawingml/2006/main">
            <a:off x="8000000" y="2600000"/>
            <a:ext cx="35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0" name="Rect40"/>
          <p:cNvSpPr/>
          <p:nvPr/>
        </p:nvSpPr>
        <p:spPr>
          <a:xfrm xmlns:a="http://schemas.openxmlformats.org/drawingml/2006/main">
            <a:off x="8000000" y="2600000"/>
            <a:ext cx="3500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1" name="Rect41"/>
          <p:cNvSpPr/>
          <p:nvPr/>
        </p:nvSpPr>
        <p:spPr>
          <a:xfrm xmlns:a="http://schemas.openxmlformats.org/drawingml/2006/main">
            <a:off x="8000000" y="2600000"/>
            <a:ext cx="35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2" name="TextBox42"/>
          <p:cNvSpPr/>
          <p:nvPr/>
        </p:nvSpPr>
        <p:spPr>
          <a:xfrm xmlns:a="http://schemas.openxmlformats.org/drawingml/2006/main">
            <a:off x="8200000" y="2800000"/>
            <a:ext cx="3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FFA726"/>
                </a:solidFill>
                <a:latin typeface="맑은 고딕"/>
                <a:ea typeface="맑은 고딕"/>
              </a:rPr>
              <a:t>View</a:t>
            </a:r>
          </a:p>
        </p:txBody>
      </p:sp>
      <p:sp>
        <p:nvSpPr>
          <p:cNvPr id="43" name="TextBox43"/>
          <p:cNvSpPr/>
          <p:nvPr/>
        </p:nvSpPr>
        <p:spPr>
          <a:xfrm xmlns:a="http://schemas.openxmlformats.org/drawingml/2006/main">
            <a:off x="8200000" y="3200000"/>
            <a:ext cx="31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InventoryView</a:t>
            </a:r>
          </a:p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(UI 표시)</a:t>
            </a:r>
          </a:p>
        </p:txBody>
      </p:sp>
      <p:sp>
        <p:nvSpPr>
          <p:cNvPr id="44" name="TextBox44"/>
          <p:cNvSpPr/>
          <p:nvPr/>
        </p:nvSpPr>
        <p:spPr>
          <a:xfrm xmlns:a="http://schemas.openxmlformats.org/drawingml/2006/main">
            <a:off x="8200000" y="3700000"/>
            <a:ext cx="31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슬롯 갱신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사용자 입력 콜백</a:t>
            </a:r>
          </a:p>
        </p:txBody>
      </p:sp>
      <p:sp>
        <p:nvSpPr>
          <p:cNvPr id="45" name="RoundRect45"/>
          <p:cNvSpPr/>
          <p:nvPr/>
        </p:nvSpPr>
        <p:spPr>
          <a:xfrm xmlns:a="http://schemas.openxmlformats.org/drawingml/2006/main">
            <a:off x="600000" y="5200000"/>
            <a:ext cx="109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6" name="TextBox46"/>
          <p:cNvSpPr/>
          <p:nvPr/>
        </p:nvSpPr>
        <p:spPr>
          <a:xfrm xmlns:a="http://schemas.openxmlformats.org/drawingml/2006/main">
            <a:off x="800000" y="53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GoldenFruit의 3가지 UI 시스템</a:t>
            </a:r>
          </a:p>
        </p:txBody>
      </p:sp>
      <p:sp>
        <p:nvSpPr>
          <p:cNvPr id="47" name="TextBox47"/>
          <p:cNvSpPr/>
          <p:nvPr/>
        </p:nvSpPr>
        <p:spPr>
          <a:xfrm xmlns:a="http://schemas.openxmlformats.org/drawingml/2006/main">
            <a:off x="800000" y="5800000"/>
            <a:ext cx="30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66BB6A"/>
                </a:solidFill>
                <a:latin typeface="맑은 고딕"/>
                <a:ea typeface="맑은 고딕"/>
              </a:rPr>
              <a:t>Inventory UI</a:t>
            </a:r>
          </a:p>
        </p:txBody>
      </p:sp>
      <p:sp>
        <p:nvSpPr>
          <p:cNvPr id="48" name="TextBox48"/>
          <p:cNvSpPr/>
          <p:nvPr/>
        </p:nvSpPr>
        <p:spPr>
          <a:xfrm xmlns:a="http://schemas.openxmlformats.org/drawingml/2006/main">
            <a:off x="3800000" y="5800000"/>
            <a:ext cx="74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인벤토리 열기/닫기, 과일 슬롯 표시</a:t>
            </a:r>
          </a:p>
        </p:txBody>
      </p:sp>
      <p:sp>
        <p:nvSpPr>
          <p:cNvPr id="49" name="TextBox49"/>
          <p:cNvSpPr/>
          <p:nvPr/>
        </p:nvSpPr>
        <p:spPr>
          <a:xfrm xmlns:a="http://schemas.openxmlformats.org/drawingml/2006/main">
            <a:off x="800000" y="6110000"/>
            <a:ext cx="30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A726"/>
                </a:solidFill>
                <a:latin typeface="맑은 고딕"/>
                <a:ea typeface="맑은 고딕"/>
              </a:rPr>
              <a:t>Detection Overlay</a:t>
            </a:r>
          </a:p>
        </p:txBody>
      </p:sp>
      <p:sp>
        <p:nvSpPr>
          <p:cNvPr id="50" name="TextBox50"/>
          <p:cNvSpPr/>
          <p:nvPr/>
        </p:nvSpPr>
        <p:spPr>
          <a:xfrm xmlns:a="http://schemas.openxmlformats.org/drawingml/2006/main">
            <a:off x="3800000" y="6110000"/>
            <a:ext cx="74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카메라 화면 위 바운딩 박스 표시</a:t>
            </a:r>
          </a:p>
        </p:txBody>
      </p:sp>
      <p:sp>
        <p:nvSpPr>
          <p:cNvPr id="51" name="TextBox51"/>
          <p:cNvSpPr/>
          <p:nvPr/>
        </p:nvSpPr>
        <p:spPr>
          <a:xfrm xmlns:a="http://schemas.openxmlformats.org/drawingml/2006/main">
            <a:off x="800000" y="6420000"/>
            <a:ext cx="30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EE58"/>
                </a:solidFill>
                <a:latin typeface="맑은 고딕"/>
                <a:ea typeface="맑은 고딕"/>
              </a:rPr>
              <a:t>Map HUD</a:t>
            </a:r>
          </a:p>
        </p:txBody>
      </p:sp>
      <p:sp>
        <p:nvSpPr>
          <p:cNvPr id="52" name="TextBox52"/>
          <p:cNvSpPr/>
          <p:nvPr/>
        </p:nvSpPr>
        <p:spPr>
          <a:xfrm xmlns:a="http://schemas.openxmlformats.org/drawingml/2006/main">
            <a:off x="3800000" y="6420000"/>
            <a:ext cx="74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GPS 좌표, 과일 수 표시 + 화면 전환 페이드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Rect53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4" name="Rect54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5" name="TextBox55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2. InventoryPresenter (프레젠터)</a:t>
            </a:r>
          </a:p>
        </p:txBody>
      </p:sp>
      <p:sp>
        <p:nvSpPr>
          <p:cNvPr id="56" name="RoundRect56"/>
          <p:cNvSpPr/>
          <p:nvPr/>
        </p:nvSpPr>
        <p:spPr>
          <a:xfrm xmlns:a="http://schemas.openxmlformats.org/drawingml/2006/main">
            <a:off x="400000" y="1400000"/>
            <a:ext cx="7000000" cy="4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7" name="Rect57"/>
          <p:cNvSpPr/>
          <p:nvPr/>
        </p:nvSpPr>
        <p:spPr>
          <a:xfrm xmlns:a="http://schemas.openxmlformats.org/drawingml/2006/main">
            <a:off x="400000" y="1400000"/>
            <a:ext cx="714000" cy="71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8" name="Code58"/>
          <p:cNvSpPr/>
          <p:nvPr/>
        </p:nvSpPr>
        <p:spPr>
          <a:xfrm xmlns:a="http://schemas.openxmlformats.org/drawingml/2006/main">
            <a:off x="400000" y="1400000"/>
            <a:ext cx="70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InventoryPresenter : MonoBehaviour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[Inject] IFruitRepository _fruitRepository;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InventoryView _view;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Start()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608B4E"/>
                </a:solidFill>
                <a:latin typeface="Consolas"/>
                <a:ea typeface="맑은 고딕"/>
              </a:rPr>
              <a:t>// Repository의 OnSaved 이벤트 구독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_fruitRepository.OnSaved += OnItemsSaved;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OnItemsSaved(</a:t>
            </a:r>
            <a:r>
              <a:rPr lang="ko-KR" sz="1150" b="0" dirty="0">
                <a:solidFill>
                  <a:srgbClr val="4EC9B0"/>
                </a:solidFill>
                <a:latin typeface="Consolas"/>
                <a:ea typeface="맑은 고딕"/>
              </a:rPr>
              <a:t>IEnumerable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&lt;FruitItem&gt; items)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608B4E"/>
                </a:solidFill>
                <a:latin typeface="Consolas"/>
                <a:ea typeface="맑은 고딕"/>
              </a:rPr>
              <a:t>// 데이터 변경 시 View 갱신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_view.RefreshSlots(items);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OnDestroy()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608B4E"/>
                </a:solidFill>
                <a:latin typeface="Consolas"/>
                <a:ea typeface="맑은 고딕"/>
              </a:rPr>
              <a:t>// 구독 해제 (메모리 누수 방지)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_fruitRepository.OnSaved -= OnItemsSaved;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59" name="RoundRect59"/>
          <p:cNvSpPr/>
          <p:nvPr/>
        </p:nvSpPr>
        <p:spPr>
          <a:xfrm xmlns:a="http://schemas.openxmlformats.org/drawingml/2006/main">
            <a:off x="7700000" y="1400000"/>
            <a:ext cx="4200000" cy="4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0" name="Rect60"/>
          <p:cNvSpPr/>
          <p:nvPr/>
        </p:nvSpPr>
        <p:spPr>
          <a:xfrm xmlns:a="http://schemas.openxmlformats.org/drawingml/2006/main">
            <a:off x="7700000" y="1400000"/>
            <a:ext cx="714000" cy="71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1" name="TextBox61"/>
          <p:cNvSpPr/>
          <p:nvPr/>
        </p:nvSpPr>
        <p:spPr>
          <a:xfrm xmlns:a="http://schemas.openxmlformats.org/drawingml/2006/main">
            <a:off x="7900000" y="1500000"/>
            <a:ext cx="3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Presenter의 역할</a:t>
            </a:r>
          </a:p>
        </p:txBody>
      </p:sp>
      <p:sp>
        <p:nvSpPr>
          <p:cNvPr id="62" name="TextBox62"/>
          <p:cNvSpPr/>
          <p:nvPr/>
        </p:nvSpPr>
        <p:spPr>
          <a:xfrm xmlns:a="http://schemas.openxmlformats.org/drawingml/2006/main">
            <a:off x="7900000" y="210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DI 수신</a:t>
            </a:r>
          </a:p>
        </p:txBody>
      </p:sp>
      <p:sp>
        <p:nvSpPr>
          <p:cNvPr id="63" name="TextBox63"/>
          <p:cNvSpPr/>
          <p:nvPr/>
        </p:nvSpPr>
        <p:spPr>
          <a:xfrm xmlns:a="http://schemas.openxmlformats.org/drawingml/2006/main">
            <a:off x="7900000" y="2380000"/>
            <a:ext cx="38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[Inject]로 IFruitRepository를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VContainer에서 주입받음</a:t>
            </a:r>
          </a:p>
        </p:txBody>
      </p:sp>
      <p:sp>
        <p:nvSpPr>
          <p:cNvPr id="64" name="TextBox64"/>
          <p:cNvSpPr/>
          <p:nvPr/>
        </p:nvSpPr>
        <p:spPr>
          <a:xfrm xmlns:a="http://schemas.openxmlformats.org/drawingml/2006/main">
            <a:off x="7900000" y="285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이벤트 구독</a:t>
            </a:r>
          </a:p>
        </p:txBody>
      </p:sp>
      <p:sp>
        <p:nvSpPr>
          <p:cNvPr id="65" name="TextBox65"/>
          <p:cNvSpPr/>
          <p:nvPr/>
        </p:nvSpPr>
        <p:spPr>
          <a:xfrm xmlns:a="http://schemas.openxmlformats.org/drawingml/2006/main">
            <a:off x="7900000" y="3130000"/>
            <a:ext cx="38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Repository.OnSaved 이벤트를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구독하여 데이터 변경 감지</a:t>
            </a:r>
          </a:p>
        </p:txBody>
      </p:sp>
      <p:sp>
        <p:nvSpPr>
          <p:cNvPr id="66" name="TextBox66"/>
          <p:cNvSpPr/>
          <p:nvPr/>
        </p:nvSpPr>
        <p:spPr>
          <a:xfrm xmlns:a="http://schemas.openxmlformats.org/drawingml/2006/main">
            <a:off x="7900000" y="360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View 갱신</a:t>
            </a:r>
          </a:p>
        </p:txBody>
      </p:sp>
      <p:sp>
        <p:nvSpPr>
          <p:cNvPr id="67" name="TextBox67"/>
          <p:cNvSpPr/>
          <p:nvPr/>
        </p:nvSpPr>
        <p:spPr>
          <a:xfrm xmlns:a="http://schemas.openxmlformats.org/drawingml/2006/main">
            <a:off x="7900000" y="3880000"/>
            <a:ext cx="38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변경된 데이터를 View에 전달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→ View가 UI를 업데이트</a:t>
            </a:r>
          </a:p>
        </p:txBody>
      </p:sp>
      <p:sp>
        <p:nvSpPr>
          <p:cNvPr id="68" name="TextBox68"/>
          <p:cNvSpPr/>
          <p:nvPr/>
        </p:nvSpPr>
        <p:spPr>
          <a:xfrm xmlns:a="http://schemas.openxmlformats.org/drawingml/2006/main">
            <a:off x="7900000" y="435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EF5350"/>
                </a:solidFill>
                <a:latin typeface="맑은 고딕"/>
                <a:ea typeface="맑은 고딕"/>
              </a:rPr>
              <a:t>구독 해제</a:t>
            </a:r>
          </a:p>
        </p:txBody>
      </p:sp>
      <p:sp>
        <p:nvSpPr>
          <p:cNvPr id="69" name="TextBox69"/>
          <p:cNvSpPr/>
          <p:nvPr/>
        </p:nvSpPr>
        <p:spPr>
          <a:xfrm xmlns:a="http://schemas.openxmlformats.org/drawingml/2006/main">
            <a:off x="7900000" y="4630000"/>
            <a:ext cx="38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OnDestroy에서 이벤트 해제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→ 씬 전환 시 메모리 누수 방지</a:t>
            </a:r>
          </a:p>
        </p:txBody>
      </p:sp>
      <p:sp>
        <p:nvSpPr>
          <p:cNvPr id="70" name="TextBox70"/>
          <p:cNvSpPr/>
          <p:nvPr/>
        </p:nvSpPr>
        <p:spPr>
          <a:xfrm xmlns:a="http://schemas.openxmlformats.org/drawingml/2006/main">
            <a:off x="600000" y="5900000"/>
            <a:ext cx="109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Presenter는 View를 직접 조작하지 않고 데이터만 전달 → View의 교체가 자유로움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Rect71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2" name="Rect72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3" name="TextBox73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3. InventoryView (뷰)</a:t>
            </a:r>
          </a:p>
        </p:txBody>
      </p:sp>
      <p:sp>
        <p:nvSpPr>
          <p:cNvPr id="74" name="RoundRect74"/>
          <p:cNvSpPr/>
          <p:nvPr/>
        </p:nvSpPr>
        <p:spPr>
          <a:xfrm xmlns:a="http://schemas.openxmlformats.org/drawingml/2006/main">
            <a:off x="400000" y="1400000"/>
            <a:ext cx="700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5" name="Rect75"/>
          <p:cNvSpPr/>
          <p:nvPr/>
        </p:nvSpPr>
        <p:spPr>
          <a:xfrm xmlns:a="http://schemas.openxmlformats.org/drawingml/2006/main">
            <a:off x="400000" y="1400000"/>
            <a:ext cx="612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6" name="Code76"/>
          <p:cNvSpPr/>
          <p:nvPr/>
        </p:nvSpPr>
        <p:spPr>
          <a:xfrm xmlns:a="http://schemas.openxmlformats.org/drawingml/2006/main">
            <a:off x="400000" y="1400000"/>
            <a:ext cx="700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InventoryView : MonoBehaviour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InventoryItemSlot _slotPrefab;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Transform _slotParent;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_maxSlots =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32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Button _openBagButton;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Button _closeBagButton;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GameObject _bagPanel;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InventoryItemSlot[] _slots;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Awake()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32개 슬롯 미리 생성 (풀링)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_slots =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InventoryItemSlot[_maxSlots];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for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(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 =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; i &lt; _maxSlots; i++)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_slots[i] = Instantiate(_slotPrefab, _slotParent);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_openBagButton.onClick.AddListener(OpenBag);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_closeBagButton.onClick.AddListener(CloseBag);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77" name="RoundRect77"/>
          <p:cNvSpPr/>
          <p:nvPr/>
        </p:nvSpPr>
        <p:spPr>
          <a:xfrm xmlns:a="http://schemas.openxmlformats.org/drawingml/2006/main">
            <a:off x="7700000" y="1400000"/>
            <a:ext cx="420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8" name="Rect78"/>
          <p:cNvSpPr/>
          <p:nvPr/>
        </p:nvSpPr>
        <p:spPr>
          <a:xfrm xmlns:a="http://schemas.openxmlformats.org/drawingml/2006/main">
            <a:off x="7700000" y="1400000"/>
            <a:ext cx="612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9" name="TextBox79"/>
          <p:cNvSpPr/>
          <p:nvPr/>
        </p:nvSpPr>
        <p:spPr>
          <a:xfrm xmlns:a="http://schemas.openxmlformats.org/drawingml/2006/main">
            <a:off x="7900000" y="1500000"/>
            <a:ext cx="3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View의 설계 포인트</a:t>
            </a:r>
          </a:p>
        </p:txBody>
      </p:sp>
      <p:sp>
        <p:nvSpPr>
          <p:cNvPr id="80" name="TextBox80"/>
          <p:cNvSpPr/>
          <p:nvPr/>
        </p:nvSpPr>
        <p:spPr>
          <a:xfrm xmlns:a="http://schemas.openxmlformats.org/drawingml/2006/main">
            <a:off x="7900000" y="210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슬롯 풀링</a:t>
            </a:r>
          </a:p>
        </p:txBody>
      </p:sp>
      <p:sp>
        <p:nvSpPr>
          <p:cNvPr id="81" name="TextBox81"/>
          <p:cNvSpPr/>
          <p:nvPr/>
        </p:nvSpPr>
        <p:spPr>
          <a:xfrm xmlns:a="http://schemas.openxmlformats.org/drawingml/2006/main">
            <a:off x="7900000" y="2380000"/>
            <a:ext cx="38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32개 슬롯을 Awake에서 미리 생성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→ 런타임 Instantiate 비용 제거</a:t>
            </a:r>
          </a:p>
        </p:txBody>
      </p:sp>
      <p:sp>
        <p:nvSpPr>
          <p:cNvPr id="82" name="TextBox82"/>
          <p:cNvSpPr/>
          <p:nvPr/>
        </p:nvSpPr>
        <p:spPr>
          <a:xfrm xmlns:a="http://schemas.openxmlformats.org/drawingml/2006/main">
            <a:off x="7900000" y="285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열기/닫기</a:t>
            </a:r>
          </a:p>
        </p:txBody>
      </p:sp>
      <p:sp>
        <p:nvSpPr>
          <p:cNvPr id="83" name="TextBox83"/>
          <p:cNvSpPr/>
          <p:nvPr/>
        </p:nvSpPr>
        <p:spPr>
          <a:xfrm xmlns:a="http://schemas.openxmlformats.org/drawingml/2006/main">
            <a:off x="7900000" y="3130000"/>
            <a:ext cx="38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Button.onClick으로 가방 패널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활성화/비활성화 전환</a:t>
            </a:r>
          </a:p>
        </p:txBody>
      </p:sp>
      <p:sp>
        <p:nvSpPr>
          <p:cNvPr id="84" name="TextBox84"/>
          <p:cNvSpPr/>
          <p:nvPr/>
        </p:nvSpPr>
        <p:spPr>
          <a:xfrm xmlns:a="http://schemas.openxmlformats.org/drawingml/2006/main">
            <a:off x="7900000" y="360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데이터 무관</a:t>
            </a:r>
          </a:p>
        </p:txBody>
      </p:sp>
      <p:sp>
        <p:nvSpPr>
          <p:cNvPr id="85" name="TextBox85"/>
          <p:cNvSpPr/>
          <p:nvPr/>
        </p:nvSpPr>
        <p:spPr>
          <a:xfrm xmlns:a="http://schemas.openxmlformats.org/drawingml/2006/main">
            <a:off x="7900000" y="3880000"/>
            <a:ext cx="38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View는 데이터를 직접 조회하지 않음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Presenter가 전달한 데이터만 표시</a:t>
            </a:r>
          </a:p>
        </p:txBody>
      </p:sp>
      <p:sp>
        <p:nvSpPr>
          <p:cNvPr id="86" name="RoundRect86"/>
          <p:cNvSpPr/>
          <p:nvPr/>
        </p:nvSpPr>
        <p:spPr>
          <a:xfrm xmlns:a="http://schemas.openxmlformats.org/drawingml/2006/main">
            <a:off x="400000" y="5300000"/>
            <a:ext cx="113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7" name="TextBox87"/>
          <p:cNvSpPr/>
          <p:nvPr/>
        </p:nvSpPr>
        <p:spPr>
          <a:xfrm xmlns:a="http://schemas.openxmlformats.org/drawingml/2006/main">
            <a:off x="600000" y="535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RefreshSlots() — 슬롯 갱신 메서드</a:t>
            </a:r>
          </a:p>
        </p:txBody>
      </p:sp>
      <p:sp>
        <p:nvSpPr>
          <p:cNvPr id="88" name="RoundRect88"/>
          <p:cNvSpPr/>
          <p:nvPr/>
        </p:nvSpPr>
        <p:spPr>
          <a:xfrm xmlns:a="http://schemas.openxmlformats.org/drawingml/2006/main">
            <a:off x="600000" y="5750000"/>
            <a:ext cx="10900000" cy="8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9" name="Rect89"/>
          <p:cNvSpPr/>
          <p:nvPr/>
        </p:nvSpPr>
        <p:spPr>
          <a:xfrm xmlns:a="http://schemas.openxmlformats.org/drawingml/2006/main">
            <a:off x="600000" y="5750000"/>
            <a:ext cx="144500" cy="1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0" name="Code90"/>
          <p:cNvSpPr/>
          <p:nvPr/>
        </p:nvSpPr>
        <p:spPr>
          <a:xfrm xmlns:a="http://schemas.openxmlformats.org/drawingml/2006/main">
            <a:off x="600000" y="5750000"/>
            <a:ext cx="10900000" cy="8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RefreshSlots(</a:t>
            </a:r>
            <a:r>
              <a:rPr lang="ko-KR" sz="1050" b="0" dirty="0">
                <a:solidFill>
                  <a:srgbClr val="4EC9B0"/>
                </a:solidFill>
                <a:latin typeface="Consolas"/>
                <a:ea typeface="맑은 고딕"/>
              </a:rPr>
              <a:t>IEnumerable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&lt;FruitItem&gt; items)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 =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foreach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(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var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item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in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items)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_slots[i++].SetItem(item.Icon, item.Quantity);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아이콘 + 수량 표시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for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(; i &lt; _maxSlots; i++)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_slots[i].Clear();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나머지 슬롯 비우기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Rect91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2" name="Rect92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3" name="TextBox93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4. InventoryItemSlot (슬롯 UI)</a:t>
            </a:r>
          </a:p>
        </p:txBody>
      </p:sp>
      <p:sp>
        <p:nvSpPr>
          <p:cNvPr id="94" name="RoundRect94"/>
          <p:cNvSpPr/>
          <p:nvPr/>
        </p:nvSpPr>
        <p:spPr>
          <a:xfrm xmlns:a="http://schemas.openxmlformats.org/drawingml/2006/main">
            <a:off x="600000" y="1400000"/>
            <a:ext cx="54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5" name="Rect95"/>
          <p:cNvSpPr/>
          <p:nvPr/>
        </p:nvSpPr>
        <p:spPr>
          <a:xfrm xmlns:a="http://schemas.openxmlformats.org/drawingml/2006/main">
            <a:off x="600000" y="1400000"/>
            <a:ext cx="340000" cy="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6" name="Code96"/>
          <p:cNvSpPr/>
          <p:nvPr/>
        </p:nvSpPr>
        <p:spPr>
          <a:xfrm xmlns:a="http://schemas.openxmlformats.org/drawingml/2006/main">
            <a:off x="600000" y="1400000"/>
            <a:ext cx="5400000" cy="2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InventoryItemSlot : MonoBehaviour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Image _icon;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TextMeshProUGUI _quantityText;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SetItem(Sprite icon,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quantity)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_icon.sprite = icon;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_quantityText.text = quantity.ToString();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gameObject.SetActive(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true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Clear()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=&gt; gameObject.SetActive(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false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97" name="RoundRect97"/>
          <p:cNvSpPr/>
          <p:nvPr/>
        </p:nvSpPr>
        <p:spPr>
          <a:xfrm xmlns:a="http://schemas.openxmlformats.org/drawingml/2006/main">
            <a:off x="6300000" y="1400000"/>
            <a:ext cx="55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8" name="Rect98"/>
          <p:cNvSpPr/>
          <p:nvPr/>
        </p:nvSpPr>
        <p:spPr>
          <a:xfrm xmlns:a="http://schemas.openxmlformats.org/drawingml/2006/main">
            <a:off x="6300000" y="1400000"/>
            <a:ext cx="340000" cy="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9" name="TextBox99"/>
          <p:cNvSpPr/>
          <p:nvPr/>
        </p:nvSpPr>
        <p:spPr>
          <a:xfrm xmlns:a="http://schemas.openxmlformats.org/drawingml/2006/main">
            <a:off x="6500000" y="1500000"/>
            <a:ext cx="5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슬롯 구성 요소</a:t>
            </a:r>
          </a:p>
        </p:txBody>
      </p:sp>
      <p:sp>
        <p:nvSpPr>
          <p:cNvPr id="100" name="TextBox100"/>
          <p:cNvSpPr/>
          <p:nvPr/>
        </p:nvSpPr>
        <p:spPr>
          <a:xfrm xmlns:a="http://schemas.openxmlformats.org/drawingml/2006/main">
            <a:off x="6500000" y="2100000"/>
            <a:ext cx="5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66BB6A"/>
                </a:solidFill>
                <a:latin typeface="맑은 고딕"/>
                <a:ea typeface="맑은 고딕"/>
              </a:rPr>
              <a:t>Image</a:t>
            </a:r>
          </a:p>
        </p:txBody>
      </p:sp>
      <p:sp>
        <p:nvSpPr>
          <p:cNvPr id="101" name="TextBox101"/>
          <p:cNvSpPr/>
          <p:nvPr/>
        </p:nvSpPr>
        <p:spPr>
          <a:xfrm xmlns:a="http://schemas.openxmlformats.org/drawingml/2006/main">
            <a:off x="6500000" y="2380000"/>
            <a:ext cx="51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과일 아이콘(Sprite) 표시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FruitSpec.Icon과 연결</a:t>
            </a:r>
          </a:p>
        </p:txBody>
      </p:sp>
      <p:sp>
        <p:nvSpPr>
          <p:cNvPr id="102" name="TextBox102"/>
          <p:cNvSpPr/>
          <p:nvPr/>
        </p:nvSpPr>
        <p:spPr>
          <a:xfrm xmlns:a="http://schemas.openxmlformats.org/drawingml/2006/main">
            <a:off x="6500000" y="2750000"/>
            <a:ext cx="5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A726"/>
                </a:solidFill>
                <a:latin typeface="맑은 고딕"/>
                <a:ea typeface="맑은 고딕"/>
              </a:rPr>
              <a:t>TextMeshProUGUI</a:t>
            </a:r>
          </a:p>
        </p:txBody>
      </p:sp>
      <p:sp>
        <p:nvSpPr>
          <p:cNvPr id="103" name="TextBox103"/>
          <p:cNvSpPr/>
          <p:nvPr/>
        </p:nvSpPr>
        <p:spPr>
          <a:xfrm xmlns:a="http://schemas.openxmlformats.org/drawingml/2006/main">
            <a:off x="6500000" y="3030000"/>
            <a:ext cx="51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보유 수량 텍스트 표시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"×3" 형태로 표시</a:t>
            </a:r>
          </a:p>
        </p:txBody>
      </p:sp>
      <p:sp>
        <p:nvSpPr>
          <p:cNvPr id="104" name="RoundRect104"/>
          <p:cNvSpPr/>
          <p:nvPr/>
        </p:nvSpPr>
        <p:spPr>
          <a:xfrm xmlns:a="http://schemas.openxmlformats.org/drawingml/2006/main">
            <a:off x="600000" y="3700000"/>
            <a:ext cx="109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5" name="TextBox105"/>
          <p:cNvSpPr/>
          <p:nvPr/>
        </p:nvSpPr>
        <p:spPr>
          <a:xfrm xmlns:a="http://schemas.openxmlformats.org/drawingml/2006/main">
            <a:off x="800000" y="38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인벤토리 MVP 전체 흐름</a:t>
            </a:r>
          </a:p>
        </p:txBody>
      </p:sp>
      <p:sp>
        <p:nvSpPr>
          <p:cNvPr id="106" name="RoundRect106"/>
          <p:cNvSpPr/>
          <p:nvPr/>
        </p:nvSpPr>
        <p:spPr>
          <a:xfrm xmlns:a="http://schemas.openxmlformats.org/drawingml/2006/main">
            <a:off x="800000" y="4300000"/>
            <a:ext cx="600000" cy="3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7" name="TextBox107"/>
          <p:cNvSpPr/>
          <p:nvPr/>
        </p:nvSpPr>
        <p:spPr>
          <a:xfrm xmlns:a="http://schemas.openxmlformats.org/drawingml/2006/main">
            <a:off x="800000" y="4330000"/>
            <a:ext cx="6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8" name="TextBox108"/>
          <p:cNvSpPr/>
          <p:nvPr/>
        </p:nvSpPr>
        <p:spPr>
          <a:xfrm xmlns:a="http://schemas.openxmlformats.org/drawingml/2006/main">
            <a:off x="1500000" y="4330000"/>
            <a:ext cx="2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</a:rPr>
              <a:t>과일 수집</a:t>
            </a:r>
          </a:p>
        </p:txBody>
      </p:sp>
      <p:sp>
        <p:nvSpPr>
          <p:cNvPr id="109" name="TextBox109"/>
          <p:cNvSpPr/>
          <p:nvPr/>
        </p:nvSpPr>
        <p:spPr>
          <a:xfrm xmlns:a="http://schemas.openxmlformats.org/drawingml/2006/main">
            <a:off x="3700000" y="4330000"/>
            <a:ext cx="76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CollectFruit() → Repository.InsertItem() → Save()</a:t>
            </a:r>
          </a:p>
        </p:txBody>
      </p:sp>
      <p:sp>
        <p:nvSpPr>
          <p:cNvPr id="110" name="RoundRect110"/>
          <p:cNvSpPr/>
          <p:nvPr/>
        </p:nvSpPr>
        <p:spPr>
          <a:xfrm xmlns:a="http://schemas.openxmlformats.org/drawingml/2006/main">
            <a:off x="800000" y="4720000"/>
            <a:ext cx="600000" cy="3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1" name="TextBox111"/>
          <p:cNvSpPr/>
          <p:nvPr/>
        </p:nvSpPr>
        <p:spPr>
          <a:xfrm xmlns:a="http://schemas.openxmlformats.org/drawingml/2006/main">
            <a:off x="800000" y="4750000"/>
            <a:ext cx="6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12" name="TextBox112"/>
          <p:cNvSpPr/>
          <p:nvPr/>
        </p:nvSpPr>
        <p:spPr>
          <a:xfrm xmlns:a="http://schemas.openxmlformats.org/drawingml/2006/main">
            <a:off x="1500000" y="4750000"/>
            <a:ext cx="2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</a:rPr>
              <a:t>이벤트 발생</a:t>
            </a:r>
          </a:p>
        </p:txBody>
      </p:sp>
      <p:sp>
        <p:nvSpPr>
          <p:cNvPr id="113" name="TextBox113"/>
          <p:cNvSpPr/>
          <p:nvPr/>
        </p:nvSpPr>
        <p:spPr>
          <a:xfrm xmlns:a="http://schemas.openxmlformats.org/drawingml/2006/main">
            <a:off x="3700000" y="4750000"/>
            <a:ext cx="76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Repository.OnSaved 이벤트 발생</a:t>
            </a:r>
          </a:p>
        </p:txBody>
      </p:sp>
      <p:sp>
        <p:nvSpPr>
          <p:cNvPr id="114" name="RoundRect114"/>
          <p:cNvSpPr/>
          <p:nvPr/>
        </p:nvSpPr>
        <p:spPr>
          <a:xfrm xmlns:a="http://schemas.openxmlformats.org/drawingml/2006/main">
            <a:off x="800000" y="5140000"/>
            <a:ext cx="600000" cy="3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5" name="TextBox115"/>
          <p:cNvSpPr/>
          <p:nvPr/>
        </p:nvSpPr>
        <p:spPr>
          <a:xfrm xmlns:a="http://schemas.openxmlformats.org/drawingml/2006/main">
            <a:off x="800000" y="5170000"/>
            <a:ext cx="6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6" name="TextBox116"/>
          <p:cNvSpPr/>
          <p:nvPr/>
        </p:nvSpPr>
        <p:spPr>
          <a:xfrm xmlns:a="http://schemas.openxmlformats.org/drawingml/2006/main">
            <a:off x="1500000" y="5170000"/>
            <a:ext cx="2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</a:rPr>
              <a:t>Presenter 수신</a:t>
            </a:r>
          </a:p>
        </p:txBody>
      </p:sp>
      <p:sp>
        <p:nvSpPr>
          <p:cNvPr id="117" name="TextBox117"/>
          <p:cNvSpPr/>
          <p:nvPr/>
        </p:nvSpPr>
        <p:spPr>
          <a:xfrm xmlns:a="http://schemas.openxmlformats.org/drawingml/2006/main">
            <a:off x="3700000" y="5170000"/>
            <a:ext cx="76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InventoryPresenter.OnItemsSaved() 호출</a:t>
            </a:r>
          </a:p>
        </p:txBody>
      </p:sp>
      <p:sp>
        <p:nvSpPr>
          <p:cNvPr id="118" name="RoundRect118"/>
          <p:cNvSpPr/>
          <p:nvPr/>
        </p:nvSpPr>
        <p:spPr>
          <a:xfrm xmlns:a="http://schemas.openxmlformats.org/drawingml/2006/main">
            <a:off x="800000" y="5560000"/>
            <a:ext cx="600000" cy="3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9" name="TextBox119"/>
          <p:cNvSpPr/>
          <p:nvPr/>
        </p:nvSpPr>
        <p:spPr>
          <a:xfrm xmlns:a="http://schemas.openxmlformats.org/drawingml/2006/main">
            <a:off x="800000" y="5590000"/>
            <a:ext cx="6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20" name="TextBox120"/>
          <p:cNvSpPr/>
          <p:nvPr/>
        </p:nvSpPr>
        <p:spPr>
          <a:xfrm xmlns:a="http://schemas.openxmlformats.org/drawingml/2006/main">
            <a:off x="1500000" y="5590000"/>
            <a:ext cx="2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</a:rPr>
              <a:t>View 갱신</a:t>
            </a:r>
          </a:p>
        </p:txBody>
      </p:sp>
      <p:sp>
        <p:nvSpPr>
          <p:cNvPr id="121" name="TextBox121"/>
          <p:cNvSpPr/>
          <p:nvPr/>
        </p:nvSpPr>
        <p:spPr>
          <a:xfrm xmlns:a="http://schemas.openxmlformats.org/drawingml/2006/main">
            <a:off x="3700000" y="5590000"/>
            <a:ext cx="76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InventoryView.RefreshSlots() 호출</a:t>
            </a:r>
          </a:p>
        </p:txBody>
      </p:sp>
      <p:sp>
        <p:nvSpPr>
          <p:cNvPr id="122" name="RoundRect122"/>
          <p:cNvSpPr/>
          <p:nvPr/>
        </p:nvSpPr>
        <p:spPr>
          <a:xfrm xmlns:a="http://schemas.openxmlformats.org/drawingml/2006/main">
            <a:off x="800000" y="5980000"/>
            <a:ext cx="600000" cy="3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3" name="TextBox123"/>
          <p:cNvSpPr/>
          <p:nvPr/>
        </p:nvSpPr>
        <p:spPr>
          <a:xfrm xmlns:a="http://schemas.openxmlformats.org/drawingml/2006/main">
            <a:off x="800000" y="6010000"/>
            <a:ext cx="6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24" name="TextBox124"/>
          <p:cNvSpPr/>
          <p:nvPr/>
        </p:nvSpPr>
        <p:spPr>
          <a:xfrm xmlns:a="http://schemas.openxmlformats.org/drawingml/2006/main">
            <a:off x="1500000" y="6010000"/>
            <a:ext cx="2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</a:rPr>
              <a:t>슬롯 업데이트</a:t>
            </a:r>
          </a:p>
        </p:txBody>
      </p:sp>
      <p:sp>
        <p:nvSpPr>
          <p:cNvPr id="125" name="TextBox125"/>
          <p:cNvSpPr/>
          <p:nvPr/>
        </p:nvSpPr>
        <p:spPr>
          <a:xfrm xmlns:a="http://schemas.openxmlformats.org/drawingml/2006/main">
            <a:off x="3700000" y="6010000"/>
            <a:ext cx="76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각 InventoryItemSlot.SetItem() 실행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Rect126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7" name="Rect127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8" name="TextBox128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5. DetectionOverlay (탐지 오버레이)</a:t>
            </a:r>
          </a:p>
        </p:txBody>
      </p:sp>
      <p:sp>
        <p:nvSpPr>
          <p:cNvPr id="129" name="TextBox129"/>
          <p:cNvSpPr/>
          <p:nvPr/>
        </p:nvSpPr>
        <p:spPr>
          <a:xfrm xmlns:a="http://schemas.openxmlformats.org/drawingml/2006/main">
            <a:off x="600000" y="1400000"/>
            <a:ext cx="5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DetectionOverlayPresenter</a:t>
            </a:r>
          </a:p>
        </p:txBody>
      </p:sp>
      <p:sp>
        <p:nvSpPr>
          <p:cNvPr id="130" name="RoundRect130"/>
          <p:cNvSpPr/>
          <p:nvPr/>
        </p:nvSpPr>
        <p:spPr>
          <a:xfrm xmlns:a="http://schemas.openxmlformats.org/drawingml/2006/main">
            <a:off x="600000" y="1850000"/>
            <a:ext cx="54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1" name="Rect131"/>
          <p:cNvSpPr/>
          <p:nvPr/>
        </p:nvSpPr>
        <p:spPr>
          <a:xfrm xmlns:a="http://schemas.openxmlformats.org/drawingml/2006/main">
            <a:off x="600000" y="1850000"/>
            <a:ext cx="408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2" name="Code132"/>
          <p:cNvSpPr/>
          <p:nvPr/>
        </p:nvSpPr>
        <p:spPr>
          <a:xfrm xmlns:a="http://schemas.openxmlformats.org/drawingml/2006/main">
            <a:off x="600000" y="1850000"/>
            <a:ext cx="5400000" cy="2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DetectionOverlayPresenter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: MonoBehaviour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DetectionOverlayView _view;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정규화 좌표 → 화면 좌표 변환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ShowDetections(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DetectionResult[] results)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var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screenRects = results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.Select(r =&gt;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ScreenDetection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label = r.Label,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confidence = r.Confidence,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rect = NormalizedToScreen(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    r.BoundingBox)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});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_view.UpdateBoxes(screenRects);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33" name="TextBox133"/>
          <p:cNvSpPr/>
          <p:nvPr/>
        </p:nvSpPr>
        <p:spPr>
          <a:xfrm xmlns:a="http://schemas.openxmlformats.org/drawingml/2006/main">
            <a:off x="6300000" y="140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DetectionOverlayView</a:t>
            </a:r>
          </a:p>
        </p:txBody>
      </p:sp>
      <p:sp>
        <p:nvSpPr>
          <p:cNvPr id="134" name="RoundRect134"/>
          <p:cNvSpPr/>
          <p:nvPr/>
        </p:nvSpPr>
        <p:spPr>
          <a:xfrm xmlns:a="http://schemas.openxmlformats.org/drawingml/2006/main">
            <a:off x="6300000" y="1850000"/>
            <a:ext cx="55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5" name="Rect135"/>
          <p:cNvSpPr/>
          <p:nvPr/>
        </p:nvSpPr>
        <p:spPr>
          <a:xfrm xmlns:a="http://schemas.openxmlformats.org/drawingml/2006/main">
            <a:off x="6300000" y="1850000"/>
            <a:ext cx="408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6" name="Code136"/>
          <p:cNvSpPr/>
          <p:nvPr/>
        </p:nvSpPr>
        <p:spPr>
          <a:xfrm xmlns:a="http://schemas.openxmlformats.org/drawingml/2006/main">
            <a:off x="6300000" y="1850000"/>
            <a:ext cx="5500000" cy="2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DetectionOverlayView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: MonoBehaviour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바운딩 박스 오브젝트 풀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4EC9B0"/>
                </a:solidFill>
                <a:latin typeface="Consolas"/>
                <a:ea typeface="맑은 고딕"/>
              </a:rPr>
              <a:t>List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&lt;GameObject&gt; _boxPool;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UpdateBoxes(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4EC9B0"/>
                </a:solidFill>
                <a:latin typeface="Consolas"/>
                <a:ea typeface="맑은 고딕"/>
              </a:rPr>
              <a:t>IEnumerable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&lt;ScreenDetection&gt; dets)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 =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foreach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(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var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det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in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dets)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var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box = GetPooledBox(i++);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box.SetRect(det.rect);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box.SetLabel(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$</a:t>
            </a:r>
            <a:r>
              <a:rPr lang="ko-KR" sz="1050" b="0" dirty="0">
                <a:solidFill>
                  <a:srgbClr val="CE9178"/>
                </a:solidFill>
                <a:latin typeface="Consolas"/>
                <a:ea typeface="맑은 고딕"/>
              </a:rPr>
              <a:t>"{det.label} {det.confidence:P0}"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HideRemainingBoxes(i);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37" name="RoundRect137"/>
          <p:cNvSpPr/>
          <p:nvPr/>
        </p:nvSpPr>
        <p:spPr>
          <a:xfrm xmlns:a="http://schemas.openxmlformats.org/drawingml/2006/main">
            <a:off x="600000" y="4600000"/>
            <a:ext cx="109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8" name="TextBox138"/>
          <p:cNvSpPr/>
          <p:nvPr/>
        </p:nvSpPr>
        <p:spPr>
          <a:xfrm xmlns:a="http://schemas.openxmlformats.org/drawingml/2006/main">
            <a:off x="800000" y="47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오버레이 동작 원리</a:t>
            </a:r>
          </a:p>
        </p:txBody>
      </p:sp>
      <p:sp>
        <p:nvSpPr>
          <p:cNvPr id="139" name="TextBox139"/>
          <p:cNvSpPr/>
          <p:nvPr/>
        </p:nvSpPr>
        <p:spPr>
          <a:xfrm xmlns:a="http://schemas.openxmlformats.org/drawingml/2006/main">
            <a:off x="800000" y="520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탐지 결과의 정규화 좌표(0~1)를 실제 화면 픽셀 좌표로 변환</a:t>
            </a:r>
          </a:p>
        </p:txBody>
      </p:sp>
      <p:sp>
        <p:nvSpPr>
          <p:cNvPr id="140" name="TextBox140"/>
          <p:cNvSpPr/>
          <p:nvPr/>
        </p:nvSpPr>
        <p:spPr>
          <a:xfrm xmlns:a="http://schemas.openxmlformats.org/drawingml/2006/main">
            <a:off x="800000" y="557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변환된 좌표로 RectTransform을 조정하여 카메라 화면 위에 박스 표시</a:t>
            </a:r>
          </a:p>
        </p:txBody>
      </p:sp>
      <p:sp>
        <p:nvSpPr>
          <p:cNvPr id="141" name="TextBox141"/>
          <p:cNvSpPr/>
          <p:nvPr/>
        </p:nvSpPr>
        <p:spPr>
          <a:xfrm xmlns:a="http://schemas.openxmlformats.org/drawingml/2006/main">
            <a:off x="800000" y="594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라벨 텍스트에 과일 이름과 신뢰도를 백분율로 표시 (예: "Apple 95%")</a:t>
            </a:r>
          </a:p>
        </p:txBody>
      </p:sp>
      <p:sp>
        <p:nvSpPr>
          <p:cNvPr id="142" name="TextBox142"/>
          <p:cNvSpPr/>
          <p:nvPr/>
        </p:nvSpPr>
        <p:spPr>
          <a:xfrm xmlns:a="http://schemas.openxmlformats.org/drawingml/2006/main">
            <a:off x="800000" y="631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바운딩 박스 오브젝트를 풀링하여 매 프레임 생성/삭제 비용 제거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Rect143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4" name="Rect144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5" name="TextBox145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6. MapHUD &amp; ScreenFader</a:t>
            </a:r>
          </a:p>
        </p:txBody>
      </p:sp>
      <p:sp>
        <p:nvSpPr>
          <p:cNvPr id="146" name="RoundRect146"/>
          <p:cNvSpPr/>
          <p:nvPr/>
        </p:nvSpPr>
        <p:spPr>
          <a:xfrm xmlns:a="http://schemas.openxmlformats.org/drawingml/2006/main">
            <a:off x="300000" y="1400000"/>
            <a:ext cx="56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7" name="Rect147"/>
          <p:cNvSpPr/>
          <p:nvPr/>
        </p:nvSpPr>
        <p:spPr>
          <a:xfrm xmlns:a="http://schemas.openxmlformats.org/drawingml/2006/main">
            <a:off x="300000" y="1400000"/>
            <a:ext cx="5600000" cy="4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8" name="Rect148"/>
          <p:cNvSpPr/>
          <p:nvPr/>
        </p:nvSpPr>
        <p:spPr>
          <a:xfrm xmlns:a="http://schemas.openxmlformats.org/drawingml/2006/main">
            <a:off x="300000" y="1400000"/>
            <a:ext cx="56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9" name="TextBox149"/>
          <p:cNvSpPr/>
          <p:nvPr/>
        </p:nvSpPr>
        <p:spPr>
          <a:xfrm xmlns:a="http://schemas.openxmlformats.org/drawingml/2006/main">
            <a:off x="500000" y="160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MapHUDPresenter</a:t>
            </a:r>
          </a:p>
        </p:txBody>
      </p:sp>
      <p:sp>
        <p:nvSpPr>
          <p:cNvPr id="150" name="TextBox150"/>
          <p:cNvSpPr/>
          <p:nvPr/>
        </p:nvSpPr>
        <p:spPr>
          <a:xfrm xmlns:a="http://schemas.openxmlformats.org/drawingml/2006/main">
            <a:off x="500000" y="2100000"/>
            <a:ext cx="52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지도 씬에서 플레이어에게 실시간 정보를 표시하는 HUD</a:t>
            </a:r>
          </a:p>
        </p:txBody>
      </p:sp>
      <p:sp>
        <p:nvSpPr>
          <p:cNvPr id="151" name="TextBox151"/>
          <p:cNvSpPr/>
          <p:nvPr/>
        </p:nvSpPr>
        <p:spPr>
          <a:xfrm xmlns:a="http://schemas.openxmlformats.org/drawingml/2006/main">
            <a:off x="500000" y="2700000"/>
            <a:ext cx="52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GPS 좌표 표시</a:t>
            </a:r>
          </a:p>
        </p:txBody>
      </p:sp>
      <p:sp>
        <p:nvSpPr>
          <p:cNvPr id="152" name="TextBox152"/>
          <p:cNvSpPr/>
          <p:nvPr/>
        </p:nvSpPr>
        <p:spPr>
          <a:xfrm xmlns:a="http://schemas.openxmlformats.org/drawingml/2006/main">
            <a:off x="500000" y="295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위도/경도를 소수점 6자리까지 표시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(예: 37.494600, 127.027606)</a:t>
            </a:r>
          </a:p>
        </p:txBody>
      </p:sp>
      <p:sp>
        <p:nvSpPr>
          <p:cNvPr id="153" name="TextBox153"/>
          <p:cNvSpPr/>
          <p:nvPr/>
        </p:nvSpPr>
        <p:spPr>
          <a:xfrm xmlns:a="http://schemas.openxmlformats.org/drawingml/2006/main">
            <a:off x="500000" y="3350000"/>
            <a:ext cx="52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과일 수 표시</a:t>
            </a:r>
          </a:p>
        </p:txBody>
      </p:sp>
      <p:sp>
        <p:nvSpPr>
          <p:cNvPr id="154" name="TextBox154"/>
          <p:cNvSpPr/>
          <p:nvPr/>
        </p:nvSpPr>
        <p:spPr>
          <a:xfrm xmlns:a="http://schemas.openxmlformats.org/drawingml/2006/main">
            <a:off x="500000" y="360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현재 인벤토리의 총 과일 수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(FruitRepository 데이터 조회)</a:t>
            </a:r>
          </a:p>
        </p:txBody>
      </p:sp>
      <p:sp>
        <p:nvSpPr>
          <p:cNvPr id="155" name="RoundRect155"/>
          <p:cNvSpPr/>
          <p:nvPr/>
        </p:nvSpPr>
        <p:spPr>
          <a:xfrm xmlns:a="http://schemas.openxmlformats.org/drawingml/2006/main">
            <a:off x="6200000" y="1400000"/>
            <a:ext cx="56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6" name="Rect156"/>
          <p:cNvSpPr/>
          <p:nvPr/>
        </p:nvSpPr>
        <p:spPr>
          <a:xfrm xmlns:a="http://schemas.openxmlformats.org/drawingml/2006/main">
            <a:off x="6200000" y="1400000"/>
            <a:ext cx="5600000" cy="4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7" name="Rect157"/>
          <p:cNvSpPr/>
          <p:nvPr/>
        </p:nvSpPr>
        <p:spPr>
          <a:xfrm xmlns:a="http://schemas.openxmlformats.org/drawingml/2006/main">
            <a:off x="6200000" y="1400000"/>
            <a:ext cx="56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8" name="TextBox158"/>
          <p:cNvSpPr/>
          <p:nvPr/>
        </p:nvSpPr>
        <p:spPr>
          <a:xfrm xmlns:a="http://schemas.openxmlformats.org/drawingml/2006/main">
            <a:off x="6400000" y="160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ScreenFader</a:t>
            </a:r>
          </a:p>
        </p:txBody>
      </p:sp>
      <p:sp>
        <p:nvSpPr>
          <p:cNvPr id="159" name="RoundRect159"/>
          <p:cNvSpPr/>
          <p:nvPr/>
        </p:nvSpPr>
        <p:spPr>
          <a:xfrm xmlns:a="http://schemas.openxmlformats.org/drawingml/2006/main">
            <a:off x="6400000" y="2100000"/>
            <a:ext cx="52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0" name="Rect160"/>
          <p:cNvSpPr/>
          <p:nvPr/>
        </p:nvSpPr>
        <p:spPr>
          <a:xfrm xmlns:a="http://schemas.openxmlformats.org/drawingml/2006/main">
            <a:off x="6400000" y="2100000"/>
            <a:ext cx="306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1" name="Code161"/>
          <p:cNvSpPr/>
          <p:nvPr/>
        </p:nvSpPr>
        <p:spPr>
          <a:xfrm xmlns:a="http://schemas.openxmlformats.org/drawingml/2006/main">
            <a:off x="6400000" y="2100000"/>
            <a:ext cx="52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ScreenFader : MonoBehaviour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Image _fadeImage;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_fadeDuration;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IEnumerator C_FadeOut()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_fadeImage.gameObject.SetActive(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true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alpha 0 → 1 (검은 화면으로)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IEnumerator C_FadeIn()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alpha 1 → 0 (화면 보이기)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_fadeImage.gameObject.SetActive(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false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62" name="RoundRect162"/>
          <p:cNvSpPr/>
          <p:nvPr/>
        </p:nvSpPr>
        <p:spPr>
          <a:xfrm xmlns:a="http://schemas.openxmlformats.org/drawingml/2006/main">
            <a:off x="300000" y="4600000"/>
            <a:ext cx="115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3" name="TextBox163"/>
          <p:cNvSpPr/>
          <p:nvPr/>
        </p:nvSpPr>
        <p:spPr>
          <a:xfrm xmlns:a="http://schemas.openxmlformats.org/drawingml/2006/main">
            <a:off x="500000" y="4700000"/>
            <a:ext cx="11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A726"/>
                </a:solidFill>
                <a:latin typeface="맑은 고딕"/>
                <a:ea typeface="맑은 고딕"/>
              </a:rPr>
              <a:t>ScreenFader + SceneTransitionService 연동</a:t>
            </a:r>
          </a:p>
        </p:txBody>
      </p:sp>
      <p:sp>
        <p:nvSpPr>
          <p:cNvPr id="164" name="RoundRect164"/>
          <p:cNvSpPr/>
          <p:nvPr/>
        </p:nvSpPr>
        <p:spPr>
          <a:xfrm xmlns:a="http://schemas.openxmlformats.org/drawingml/2006/main">
            <a:off x="500000" y="5100000"/>
            <a:ext cx="11100000" cy="13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5" name="Rect165"/>
          <p:cNvSpPr/>
          <p:nvPr/>
        </p:nvSpPr>
        <p:spPr>
          <a:xfrm xmlns:a="http://schemas.openxmlformats.org/drawingml/2006/main">
            <a:off x="500000" y="5100000"/>
            <a:ext cx="221000" cy="2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6" name="Code166"/>
          <p:cNvSpPr/>
          <p:nvPr/>
        </p:nvSpPr>
        <p:spPr>
          <a:xfrm xmlns:a="http://schemas.openxmlformats.org/drawingml/2006/main">
            <a:off x="500000" y="5100000"/>
            <a:ext cx="11100000" cy="1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SceneTransitionService에서 사용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IEnumerator C_TransitionTo(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string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sceneName)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_screenFader.C_FadeOut();       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화면 어둡게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SceneManager.LoadSceneAsync(sceneName);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씬 로드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_screenFader.C_FadeIn();        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화면 밝게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Rect167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8" name="Rect168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9" name="TextBox169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7. 이벤트 기반 UI 갱신 흐름</a:t>
            </a:r>
          </a:p>
        </p:txBody>
      </p:sp>
      <p:sp>
        <p:nvSpPr>
          <p:cNvPr id="170" name="RoundRect170"/>
          <p:cNvSpPr/>
          <p:nvPr/>
        </p:nvSpPr>
        <p:spPr>
          <a:xfrm xmlns:a="http://schemas.openxmlformats.org/drawingml/2006/main">
            <a:off x="600000" y="1450000"/>
            <a:ext cx="109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1" name="TextBox171"/>
          <p:cNvSpPr/>
          <p:nvPr/>
        </p:nvSpPr>
        <p:spPr>
          <a:xfrm xmlns:a="http://schemas.openxmlformats.org/drawingml/2006/main">
            <a:off x="800000" y="15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GoldenFruit의 UI는 직접 폴링 대신 이벤트 구독 방식으로 갱신</a:t>
            </a:r>
          </a:p>
        </p:txBody>
      </p:sp>
      <p:sp>
        <p:nvSpPr>
          <p:cNvPr id="172" name="TextBox172"/>
          <p:cNvSpPr/>
          <p:nvPr/>
        </p:nvSpPr>
        <p:spPr>
          <a:xfrm xmlns:a="http://schemas.openxmlformats.org/drawingml/2006/main">
            <a:off x="800000" y="18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데이터가 변경될 때만 UI를 업데이트 → 불필요한 Update() 호출 제거</a:t>
            </a:r>
          </a:p>
        </p:txBody>
      </p:sp>
      <p:sp>
        <p:nvSpPr>
          <p:cNvPr id="173" name="RoundRect173"/>
          <p:cNvSpPr/>
          <p:nvPr/>
        </p:nvSpPr>
        <p:spPr>
          <a:xfrm xmlns:a="http://schemas.openxmlformats.org/drawingml/2006/main">
            <a:off x="200000" y="2500000"/>
            <a:ext cx="21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4" name="Rect174"/>
          <p:cNvSpPr/>
          <p:nvPr/>
        </p:nvSpPr>
        <p:spPr>
          <a:xfrm xmlns:a="http://schemas.openxmlformats.org/drawingml/2006/main">
            <a:off x="200000" y="2500000"/>
            <a:ext cx="2100000" cy="2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5" name="Rect175"/>
          <p:cNvSpPr/>
          <p:nvPr/>
        </p:nvSpPr>
        <p:spPr>
          <a:xfrm xmlns:a="http://schemas.openxmlformats.org/drawingml/2006/main">
            <a:off x="200000" y="2500000"/>
            <a:ext cx="21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6" name="TextBox176"/>
          <p:cNvSpPr/>
          <p:nvPr/>
        </p:nvSpPr>
        <p:spPr>
          <a:xfrm xmlns:a="http://schemas.openxmlformats.org/drawingml/2006/main">
            <a:off x="300000" y="2700000"/>
            <a:ext cx="1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4FC3F7"/>
                </a:solidFill>
                <a:latin typeface="맑은 고딕"/>
                <a:ea typeface="맑은 고딕"/>
              </a:rPr>
              <a:t>과일 수집</a:t>
            </a:r>
          </a:p>
        </p:txBody>
      </p:sp>
      <p:sp>
        <p:nvSpPr>
          <p:cNvPr id="177" name="TextBox177"/>
          <p:cNvSpPr/>
          <p:nvPr/>
        </p:nvSpPr>
        <p:spPr>
          <a:xfrm xmlns:a="http://schemas.openxmlformats.org/drawingml/2006/main">
            <a:off x="300000" y="3100000"/>
            <a:ext cx="19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CollectFruit()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호출</a:t>
            </a:r>
          </a:p>
        </p:txBody>
      </p:sp>
      <p:sp>
        <p:nvSpPr>
          <p:cNvPr id="178" name="TextBox178"/>
          <p:cNvSpPr/>
          <p:nvPr/>
        </p:nvSpPr>
        <p:spPr>
          <a:xfrm xmlns:a="http://schemas.openxmlformats.org/drawingml/2006/main">
            <a:off x="2300000" y="30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9" name="RoundRect179"/>
          <p:cNvSpPr/>
          <p:nvPr/>
        </p:nvSpPr>
        <p:spPr>
          <a:xfrm xmlns:a="http://schemas.openxmlformats.org/drawingml/2006/main">
            <a:off x="2600000" y="2500000"/>
            <a:ext cx="21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0" name="Rect180"/>
          <p:cNvSpPr/>
          <p:nvPr/>
        </p:nvSpPr>
        <p:spPr>
          <a:xfrm xmlns:a="http://schemas.openxmlformats.org/drawingml/2006/main">
            <a:off x="2600000" y="2500000"/>
            <a:ext cx="2100000" cy="2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1" name="Rect181"/>
          <p:cNvSpPr/>
          <p:nvPr/>
        </p:nvSpPr>
        <p:spPr>
          <a:xfrm xmlns:a="http://schemas.openxmlformats.org/drawingml/2006/main">
            <a:off x="2600000" y="2500000"/>
            <a:ext cx="21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2" name="TextBox182"/>
          <p:cNvSpPr/>
          <p:nvPr/>
        </p:nvSpPr>
        <p:spPr>
          <a:xfrm xmlns:a="http://schemas.openxmlformats.org/drawingml/2006/main">
            <a:off x="2700000" y="2700000"/>
            <a:ext cx="1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66BB6A"/>
                </a:solidFill>
                <a:latin typeface="맑은 고딕"/>
                <a:ea typeface="맑은 고딕"/>
              </a:rPr>
              <a:t>Repository 저장</a:t>
            </a:r>
          </a:p>
        </p:txBody>
      </p:sp>
      <p:sp>
        <p:nvSpPr>
          <p:cNvPr id="183" name="TextBox183"/>
          <p:cNvSpPr/>
          <p:nvPr/>
        </p:nvSpPr>
        <p:spPr>
          <a:xfrm xmlns:a="http://schemas.openxmlformats.org/drawingml/2006/main">
            <a:off x="2700000" y="3100000"/>
            <a:ext cx="19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InsertItem()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Save()</a:t>
            </a:r>
          </a:p>
        </p:txBody>
      </p:sp>
      <p:sp>
        <p:nvSpPr>
          <p:cNvPr id="184" name="TextBox184"/>
          <p:cNvSpPr/>
          <p:nvPr/>
        </p:nvSpPr>
        <p:spPr>
          <a:xfrm xmlns:a="http://schemas.openxmlformats.org/drawingml/2006/main">
            <a:off x="4700000" y="30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85" name="RoundRect185"/>
          <p:cNvSpPr/>
          <p:nvPr/>
        </p:nvSpPr>
        <p:spPr>
          <a:xfrm xmlns:a="http://schemas.openxmlformats.org/drawingml/2006/main">
            <a:off x="5000000" y="2500000"/>
            <a:ext cx="21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6" name="Rect186"/>
          <p:cNvSpPr/>
          <p:nvPr/>
        </p:nvSpPr>
        <p:spPr>
          <a:xfrm xmlns:a="http://schemas.openxmlformats.org/drawingml/2006/main">
            <a:off x="5000000" y="2500000"/>
            <a:ext cx="2100000" cy="2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7" name="Rect187"/>
          <p:cNvSpPr/>
          <p:nvPr/>
        </p:nvSpPr>
        <p:spPr>
          <a:xfrm xmlns:a="http://schemas.openxmlformats.org/drawingml/2006/main">
            <a:off x="5000000" y="2500000"/>
            <a:ext cx="21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8" name="TextBox188"/>
          <p:cNvSpPr/>
          <p:nvPr/>
        </p:nvSpPr>
        <p:spPr>
          <a:xfrm xmlns:a="http://schemas.openxmlformats.org/drawingml/2006/main">
            <a:off x="5100000" y="2700000"/>
            <a:ext cx="1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A726"/>
                </a:solidFill>
                <a:latin typeface="맑은 고딕"/>
                <a:ea typeface="맑은 고딕"/>
              </a:rPr>
              <a:t>이벤트 발생</a:t>
            </a:r>
          </a:p>
        </p:txBody>
      </p:sp>
      <p:sp>
        <p:nvSpPr>
          <p:cNvPr id="189" name="TextBox189"/>
          <p:cNvSpPr/>
          <p:nvPr/>
        </p:nvSpPr>
        <p:spPr>
          <a:xfrm xmlns:a="http://schemas.openxmlformats.org/drawingml/2006/main">
            <a:off x="5100000" y="3100000"/>
            <a:ext cx="19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OnSaved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이벤트</a:t>
            </a:r>
          </a:p>
        </p:txBody>
      </p:sp>
      <p:sp>
        <p:nvSpPr>
          <p:cNvPr id="190" name="TextBox190"/>
          <p:cNvSpPr/>
          <p:nvPr/>
        </p:nvSpPr>
        <p:spPr>
          <a:xfrm xmlns:a="http://schemas.openxmlformats.org/drawingml/2006/main">
            <a:off x="7100000" y="30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91" name="RoundRect191"/>
          <p:cNvSpPr/>
          <p:nvPr/>
        </p:nvSpPr>
        <p:spPr>
          <a:xfrm xmlns:a="http://schemas.openxmlformats.org/drawingml/2006/main">
            <a:off x="7400000" y="2500000"/>
            <a:ext cx="21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2" name="Rect192"/>
          <p:cNvSpPr/>
          <p:nvPr/>
        </p:nvSpPr>
        <p:spPr>
          <a:xfrm xmlns:a="http://schemas.openxmlformats.org/drawingml/2006/main">
            <a:off x="7400000" y="2500000"/>
            <a:ext cx="2100000" cy="2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3" name="Rect193"/>
          <p:cNvSpPr/>
          <p:nvPr/>
        </p:nvSpPr>
        <p:spPr>
          <a:xfrm xmlns:a="http://schemas.openxmlformats.org/drawingml/2006/main">
            <a:off x="7400000" y="2500000"/>
            <a:ext cx="21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4" name="TextBox194"/>
          <p:cNvSpPr/>
          <p:nvPr/>
        </p:nvSpPr>
        <p:spPr>
          <a:xfrm xmlns:a="http://schemas.openxmlformats.org/drawingml/2006/main">
            <a:off x="7500000" y="2700000"/>
            <a:ext cx="1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EE58"/>
                </a:solidFill>
                <a:latin typeface="맑은 고딕"/>
                <a:ea typeface="맑은 고딕"/>
              </a:rPr>
              <a:t>Presenter 수신</a:t>
            </a:r>
          </a:p>
        </p:txBody>
      </p:sp>
      <p:sp>
        <p:nvSpPr>
          <p:cNvPr id="195" name="TextBox195"/>
          <p:cNvSpPr/>
          <p:nvPr/>
        </p:nvSpPr>
        <p:spPr>
          <a:xfrm xmlns:a="http://schemas.openxmlformats.org/drawingml/2006/main">
            <a:off x="7500000" y="3100000"/>
            <a:ext cx="19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OnItemsSaved()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콜백</a:t>
            </a:r>
          </a:p>
        </p:txBody>
      </p:sp>
      <p:sp>
        <p:nvSpPr>
          <p:cNvPr id="196" name="TextBox196"/>
          <p:cNvSpPr/>
          <p:nvPr/>
        </p:nvSpPr>
        <p:spPr>
          <a:xfrm xmlns:a="http://schemas.openxmlformats.org/drawingml/2006/main">
            <a:off x="9500000" y="30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97" name="RoundRect197"/>
          <p:cNvSpPr/>
          <p:nvPr/>
        </p:nvSpPr>
        <p:spPr>
          <a:xfrm xmlns:a="http://schemas.openxmlformats.org/drawingml/2006/main">
            <a:off x="9800000" y="2500000"/>
            <a:ext cx="21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8" name="Rect198"/>
          <p:cNvSpPr/>
          <p:nvPr/>
        </p:nvSpPr>
        <p:spPr>
          <a:xfrm xmlns:a="http://schemas.openxmlformats.org/drawingml/2006/main">
            <a:off x="9800000" y="2500000"/>
            <a:ext cx="2100000" cy="2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9" name="Rect199"/>
          <p:cNvSpPr/>
          <p:nvPr/>
        </p:nvSpPr>
        <p:spPr>
          <a:xfrm xmlns:a="http://schemas.openxmlformats.org/drawingml/2006/main">
            <a:off x="9800000" y="2500000"/>
            <a:ext cx="21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0" name="TextBox200"/>
          <p:cNvSpPr/>
          <p:nvPr/>
        </p:nvSpPr>
        <p:spPr>
          <a:xfrm xmlns:a="http://schemas.openxmlformats.org/drawingml/2006/main">
            <a:off x="9900000" y="2700000"/>
            <a:ext cx="1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4FC3F7"/>
                </a:solidFill>
                <a:latin typeface="맑은 고딕"/>
                <a:ea typeface="맑은 고딕"/>
              </a:rPr>
              <a:t>View 갱신</a:t>
            </a:r>
          </a:p>
        </p:txBody>
      </p:sp>
      <p:sp>
        <p:nvSpPr>
          <p:cNvPr id="201" name="TextBox201"/>
          <p:cNvSpPr/>
          <p:nvPr/>
        </p:nvSpPr>
        <p:spPr>
          <a:xfrm xmlns:a="http://schemas.openxmlformats.org/drawingml/2006/main">
            <a:off x="9900000" y="3100000"/>
            <a:ext cx="19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RefreshSlots()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UI 업데이트</a:t>
            </a:r>
          </a:p>
        </p:txBody>
      </p:sp>
      <p:sp>
        <p:nvSpPr>
          <p:cNvPr id="202" name="RoundRect202"/>
          <p:cNvSpPr/>
          <p:nvPr/>
        </p:nvSpPr>
        <p:spPr>
          <a:xfrm xmlns:a="http://schemas.openxmlformats.org/drawingml/2006/main">
            <a:off x="300000" y="4300000"/>
            <a:ext cx="5500000" cy="23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3" name="Rect203"/>
          <p:cNvSpPr/>
          <p:nvPr/>
        </p:nvSpPr>
        <p:spPr>
          <a:xfrm xmlns:a="http://schemas.openxmlformats.org/drawingml/2006/main">
            <a:off x="300000" y="4300000"/>
            <a:ext cx="5500000" cy="3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4" name="Rect204"/>
          <p:cNvSpPr/>
          <p:nvPr/>
        </p:nvSpPr>
        <p:spPr>
          <a:xfrm xmlns:a="http://schemas.openxmlformats.org/drawingml/2006/main">
            <a:off x="300000" y="4300000"/>
            <a:ext cx="55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5" name="TextBox205"/>
          <p:cNvSpPr/>
          <p:nvPr/>
        </p:nvSpPr>
        <p:spPr>
          <a:xfrm xmlns:a="http://schemas.openxmlformats.org/drawingml/2006/main">
            <a:off x="500000" y="4500000"/>
            <a:ext cx="51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EF5350"/>
                </a:solidFill>
                <a:latin typeface="맑은 고딕"/>
                <a:ea typeface="맑은 고딕"/>
              </a:rPr>
              <a:t>폴링 방식 (안티패턴)</a:t>
            </a:r>
          </a:p>
        </p:txBody>
      </p:sp>
      <p:sp>
        <p:nvSpPr>
          <p:cNvPr id="206" name="TextBox206"/>
          <p:cNvSpPr/>
          <p:nvPr/>
        </p:nvSpPr>
        <p:spPr>
          <a:xfrm xmlns:a="http://schemas.openxmlformats.org/drawingml/2006/main">
            <a:off x="500000" y="4900000"/>
            <a:ext cx="51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void Update()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    // 매 프레임 데이터 확인 → 낭비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    var items = _repo.GetItems();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    _view.Refresh(items);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}</a:t>
            </a:r>
          </a:p>
        </p:txBody>
      </p:sp>
      <p:sp>
        <p:nvSpPr>
          <p:cNvPr id="207" name="RoundRect207"/>
          <p:cNvSpPr/>
          <p:nvPr/>
        </p:nvSpPr>
        <p:spPr>
          <a:xfrm xmlns:a="http://schemas.openxmlformats.org/drawingml/2006/main">
            <a:off x="6100000" y="4300000"/>
            <a:ext cx="5700000" cy="23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8" name="Rect208"/>
          <p:cNvSpPr/>
          <p:nvPr/>
        </p:nvSpPr>
        <p:spPr>
          <a:xfrm xmlns:a="http://schemas.openxmlformats.org/drawingml/2006/main">
            <a:off x="6100000" y="4300000"/>
            <a:ext cx="5700000" cy="3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9" name="Rect209"/>
          <p:cNvSpPr/>
          <p:nvPr/>
        </p:nvSpPr>
        <p:spPr>
          <a:xfrm xmlns:a="http://schemas.openxmlformats.org/drawingml/2006/main">
            <a:off x="6100000" y="4300000"/>
            <a:ext cx="57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0" name="TextBox210"/>
          <p:cNvSpPr/>
          <p:nvPr/>
        </p:nvSpPr>
        <p:spPr>
          <a:xfrm xmlns:a="http://schemas.openxmlformats.org/drawingml/2006/main">
            <a:off x="6300000" y="4500000"/>
            <a:ext cx="53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이벤트 방식 (GoldenFruit)</a:t>
            </a:r>
          </a:p>
        </p:txBody>
      </p:sp>
      <p:sp>
        <p:nvSpPr>
          <p:cNvPr id="211" name="TextBox211"/>
          <p:cNvSpPr/>
          <p:nvPr/>
        </p:nvSpPr>
        <p:spPr>
          <a:xfrm xmlns:a="http://schemas.openxmlformats.org/drawingml/2006/main">
            <a:off x="6300000" y="4900000"/>
            <a:ext cx="53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void Start()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    // 데이터 변경 시에만 갱신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    _repo.OnSaved += items =&gt;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        _view.Refresh(items);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Rect212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3" name="Rect213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4" name="TextBox214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8. 요약</a:t>
            </a:r>
          </a:p>
        </p:txBody>
      </p:sp>
      <p:sp>
        <p:nvSpPr>
          <p:cNvPr id="215" name="RoundRect215"/>
          <p:cNvSpPr/>
          <p:nvPr/>
        </p:nvSpPr>
        <p:spPr>
          <a:xfrm xmlns:a="http://schemas.openxmlformats.org/drawingml/2006/main">
            <a:off x="600000" y="16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6" name="Rect216"/>
          <p:cNvSpPr/>
          <p:nvPr/>
        </p:nvSpPr>
        <p:spPr>
          <a:xfrm xmlns:a="http://schemas.openxmlformats.org/drawingml/2006/main">
            <a:off x="600000" y="16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7" name="Rect217"/>
          <p:cNvSpPr/>
          <p:nvPr/>
        </p:nvSpPr>
        <p:spPr>
          <a:xfrm xmlns:a="http://schemas.openxmlformats.org/drawingml/2006/main">
            <a:off x="600000" y="16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8" name="TextBox218"/>
          <p:cNvSpPr/>
          <p:nvPr/>
        </p:nvSpPr>
        <p:spPr>
          <a:xfrm xmlns:a="http://schemas.openxmlformats.org/drawingml/2006/main">
            <a:off x="900000" y="16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MVP 패턴</a:t>
            </a:r>
          </a:p>
        </p:txBody>
      </p:sp>
      <p:sp>
        <p:nvSpPr>
          <p:cNvPr id="219" name="TextBox219"/>
          <p:cNvSpPr/>
          <p:nvPr/>
        </p:nvSpPr>
        <p:spPr>
          <a:xfrm xmlns:a="http://schemas.openxmlformats.org/drawingml/2006/main">
            <a:off x="900000" y="20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Model(Repository) → Presenter(로직) → View(표시) 분리로 관심사 격리</a:t>
            </a:r>
          </a:p>
        </p:txBody>
      </p:sp>
      <p:sp>
        <p:nvSpPr>
          <p:cNvPr id="220" name="RoundRect220"/>
          <p:cNvSpPr/>
          <p:nvPr/>
        </p:nvSpPr>
        <p:spPr>
          <a:xfrm xmlns:a="http://schemas.openxmlformats.org/drawingml/2006/main">
            <a:off x="600000" y="24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1" name="Rect221"/>
          <p:cNvSpPr/>
          <p:nvPr/>
        </p:nvSpPr>
        <p:spPr>
          <a:xfrm xmlns:a="http://schemas.openxmlformats.org/drawingml/2006/main">
            <a:off x="600000" y="24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2" name="Rect222"/>
          <p:cNvSpPr/>
          <p:nvPr/>
        </p:nvSpPr>
        <p:spPr>
          <a:xfrm xmlns:a="http://schemas.openxmlformats.org/drawingml/2006/main">
            <a:off x="600000" y="24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3" name="TextBox223"/>
          <p:cNvSpPr/>
          <p:nvPr/>
        </p:nvSpPr>
        <p:spPr>
          <a:xfrm xmlns:a="http://schemas.openxmlformats.org/drawingml/2006/main">
            <a:off x="900000" y="25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인벤토리 UI</a:t>
            </a:r>
          </a:p>
        </p:txBody>
      </p:sp>
      <p:sp>
        <p:nvSpPr>
          <p:cNvPr id="224" name="TextBox224"/>
          <p:cNvSpPr/>
          <p:nvPr/>
        </p:nvSpPr>
        <p:spPr>
          <a:xfrm xmlns:a="http://schemas.openxmlformats.org/drawingml/2006/main">
            <a:off x="900000" y="28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Presenter가 Repository 이벤트 구독, View가 32개 풀링된 슬롯 표시</a:t>
            </a:r>
          </a:p>
        </p:txBody>
      </p:sp>
      <p:sp>
        <p:nvSpPr>
          <p:cNvPr id="225" name="RoundRect225"/>
          <p:cNvSpPr/>
          <p:nvPr/>
        </p:nvSpPr>
        <p:spPr>
          <a:xfrm xmlns:a="http://schemas.openxmlformats.org/drawingml/2006/main">
            <a:off x="600000" y="33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6" name="Rect226"/>
          <p:cNvSpPr/>
          <p:nvPr/>
        </p:nvSpPr>
        <p:spPr>
          <a:xfrm xmlns:a="http://schemas.openxmlformats.org/drawingml/2006/main">
            <a:off x="600000" y="33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7" name="Rect227"/>
          <p:cNvSpPr/>
          <p:nvPr/>
        </p:nvSpPr>
        <p:spPr>
          <a:xfrm xmlns:a="http://schemas.openxmlformats.org/drawingml/2006/main">
            <a:off x="600000" y="33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8" name="TextBox228"/>
          <p:cNvSpPr/>
          <p:nvPr/>
        </p:nvSpPr>
        <p:spPr>
          <a:xfrm xmlns:a="http://schemas.openxmlformats.org/drawingml/2006/main">
            <a:off x="900000" y="33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탐지 오버레이</a:t>
            </a:r>
          </a:p>
        </p:txBody>
      </p:sp>
      <p:sp>
        <p:nvSpPr>
          <p:cNvPr id="229" name="TextBox229"/>
          <p:cNvSpPr/>
          <p:nvPr/>
        </p:nvSpPr>
        <p:spPr>
          <a:xfrm xmlns:a="http://schemas.openxmlformats.org/drawingml/2006/main">
            <a:off x="900000" y="37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정규화 좌표 → 화면 좌표 변환, 바운딩 박스 오브젝트 풀링</a:t>
            </a:r>
          </a:p>
        </p:txBody>
      </p:sp>
      <p:sp>
        <p:nvSpPr>
          <p:cNvPr id="230" name="RoundRect230"/>
          <p:cNvSpPr/>
          <p:nvPr/>
        </p:nvSpPr>
        <p:spPr>
          <a:xfrm xmlns:a="http://schemas.openxmlformats.org/drawingml/2006/main">
            <a:off x="600000" y="41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1" name="Rect231"/>
          <p:cNvSpPr/>
          <p:nvPr/>
        </p:nvSpPr>
        <p:spPr>
          <a:xfrm xmlns:a="http://schemas.openxmlformats.org/drawingml/2006/main">
            <a:off x="600000" y="41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2" name="Rect232"/>
          <p:cNvSpPr/>
          <p:nvPr/>
        </p:nvSpPr>
        <p:spPr>
          <a:xfrm xmlns:a="http://schemas.openxmlformats.org/drawingml/2006/main">
            <a:off x="600000" y="41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3" name="TextBox233"/>
          <p:cNvSpPr/>
          <p:nvPr/>
        </p:nvSpPr>
        <p:spPr>
          <a:xfrm xmlns:a="http://schemas.openxmlformats.org/drawingml/2006/main">
            <a:off x="900000" y="42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EE58"/>
                </a:solidFill>
                <a:latin typeface="맑은 고딕"/>
                <a:ea typeface="맑은 고딕"/>
              </a:rPr>
              <a:t>Map HUD + Fader</a:t>
            </a:r>
          </a:p>
        </p:txBody>
      </p:sp>
      <p:sp>
        <p:nvSpPr>
          <p:cNvPr id="234" name="TextBox234"/>
          <p:cNvSpPr/>
          <p:nvPr/>
        </p:nvSpPr>
        <p:spPr>
          <a:xfrm xmlns:a="http://schemas.openxmlformats.org/drawingml/2006/main">
            <a:off x="900000" y="45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GPS 좌표·과일 수 표시, 코루틴 기반 페이드 인/아웃 전환</a:t>
            </a:r>
          </a:p>
        </p:txBody>
      </p:sp>
      <p:sp>
        <p:nvSpPr>
          <p:cNvPr id="235" name="RoundRect235"/>
          <p:cNvSpPr/>
          <p:nvPr/>
        </p:nvSpPr>
        <p:spPr>
          <a:xfrm xmlns:a="http://schemas.openxmlformats.org/drawingml/2006/main">
            <a:off x="600000" y="50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6" name="Rect236"/>
          <p:cNvSpPr/>
          <p:nvPr/>
        </p:nvSpPr>
        <p:spPr>
          <a:xfrm xmlns:a="http://schemas.openxmlformats.org/drawingml/2006/main">
            <a:off x="600000" y="50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7" name="Rect237"/>
          <p:cNvSpPr/>
          <p:nvPr/>
        </p:nvSpPr>
        <p:spPr>
          <a:xfrm xmlns:a="http://schemas.openxmlformats.org/drawingml/2006/main">
            <a:off x="600000" y="50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8" name="TextBox238"/>
          <p:cNvSpPr/>
          <p:nvPr/>
        </p:nvSpPr>
        <p:spPr>
          <a:xfrm xmlns:a="http://schemas.openxmlformats.org/drawingml/2006/main">
            <a:off x="900000" y="50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이벤트 기반 갱신</a:t>
            </a:r>
          </a:p>
        </p:txBody>
      </p:sp>
      <p:sp>
        <p:nvSpPr>
          <p:cNvPr id="239" name="TextBox239"/>
          <p:cNvSpPr/>
          <p:nvPr/>
        </p:nvSpPr>
        <p:spPr>
          <a:xfrm xmlns:a="http://schemas.openxmlformats.org/drawingml/2006/main">
            <a:off x="900000" y="54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OnSaved 이벤트로 데이터 변경 시에만 UI 갱신 → Update() 폴링 불필요</a:t>
            </a:r>
          </a:p>
        </p:txBody>
      </p:sp>
      <p:sp>
        <p:nvSpPr>
          <p:cNvPr id="240" name="RoundRect240"/>
          <p:cNvSpPr/>
          <p:nvPr/>
        </p:nvSpPr>
        <p:spPr>
          <a:xfrm xmlns:a="http://schemas.openxmlformats.org/drawingml/2006/main">
            <a:off x="600000" y="5900000"/>
            <a:ext cx="109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41" name="TextBox241"/>
          <p:cNvSpPr/>
          <p:nvPr/>
        </p:nvSpPr>
        <p:spPr>
          <a:xfrm xmlns:a="http://schemas.openxmlformats.org/drawingml/2006/main">
            <a:off x="800000" y="595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UI 설계 핵심: 데이터와 표시를 분리하고, 이벤트로 연결하면 유지보수가 쉬워진다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CustomTheme">
  <a:themeElements>
    <a:clrScheme name="Custom">
      <a:dk1>
        <a:sysClr val="windowText" lastClr="000000"/>
      </a:dk1>
      <a:lt1>
        <a:sysClr val="window" lastClr="FFFFFF"/>
      </a:lt1>
      <a:dk2>
        <a:srgbClr val="1B2A4A"/>
      </a:dk2>
      <a:lt2>
        <a:srgbClr val="E7E6E6"/>
      </a:lt2>
      <a:accent1>
        <a:srgbClr val="4FC3F7"/>
      </a:accent1>
      <a:accent2>
        <a:srgbClr val="66BB6A"/>
      </a:accent2>
      <a:accent3>
        <a:srgbClr val="FFA726"/>
      </a:accent3>
      <a:accent4>
        <a:srgbClr val="FFEE58"/>
      </a:accent4>
      <a:accent5>
        <a:srgbClr val="EF5350"/>
      </a:accent5>
      <a:accent6>
        <a:srgbClr val="B0BEC5"/>
      </a:accent6>
      <a:hlink>
        <a:srgbClr val="4FC3F7"/>
      </a:hlink>
      <a:folHlink>
        <a:srgbClr val="B0BEC5"/>
      </a:folHlink>
    </a:clrScheme>
    <a:fontScheme name="Custom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