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entation.xml" ContentType="application/vnd.openxmlformats-officedocument.presentationml.presentation.main+xml"/>
</Types>
</file>

<file path=_rels/.rels>&#65279;<?xml version="1.0" encoding="utf-8"?>
<Relationships xmlns="http://schemas.openxmlformats.org/package/2006/relationships">
  <Relationship Type="http://schemas.openxmlformats.org/officeDocument/2006/relationships/officeDocument" Target="ppt/presentation.xml" Id="R4a7bf9ec125547df" />
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"/>
  </p:sldMasterIdLst>
  <p:sldIdLst>
    <p:sldId xmlns:r="http://schemas.openxmlformats.org/officeDocument/2006/relationships" id="256" r:id="rId1"/>
    <p:sldId xmlns:r="http://schemas.openxmlformats.org/officeDocument/2006/relationships" id="257" r:id="rId2"/>
    <p:sldId xmlns:r="http://schemas.openxmlformats.org/officeDocument/2006/relationships" id="258" r:id="rId3"/>
    <p:sldId xmlns:r="http://schemas.openxmlformats.org/officeDocument/2006/relationships" id="259" r:id="rId4"/>
    <p:sldId xmlns:r="http://schemas.openxmlformats.org/officeDocument/2006/relationships" id="260" r:id="rId5"/>
    <p:sldId xmlns:r="http://schemas.openxmlformats.org/officeDocument/2006/relationships" id="261" r:id="rId6"/>
    <p:sldId xmlns:r="http://schemas.openxmlformats.org/officeDocument/2006/relationships" id="262" r:id="rId7"/>
    <p:sldId xmlns:r="http://schemas.openxmlformats.org/officeDocument/2006/relationships" id="263" r:id="rId8"/>
    <p:sldId xmlns:r="http://schemas.openxmlformats.org/officeDocument/2006/relationships" id="264" r:id="rId9"/>
    <p:sldId xmlns:r="http://schemas.openxmlformats.org/officeDocument/2006/relationships" id="265" r:id="rId10"/>
  </p:sldIdLst>
  <p:sldSz cx="12192000" cy="6858000" type="custom"/>
  <p:notesSz cx="6858000" cy="9144000"/>
</p:presentation>
</file>

<file path=ppt/_rels/presentation.xml.rels>&#65279;<?xml version="1.0" encoding="utf-8"?>
<Relationships xmlns="http://schemas.openxmlformats.org/package/2006/relationships">
  <Relationship Type="http://schemas.openxmlformats.org/officeDocument/2006/relationships/theme" Target="theme/theme1.xml" Id="rIdTheme" />
  <Relationship Type="http://schemas.openxmlformats.org/officeDocument/2006/relationships/slideMaster" Target="slideMasters/slideMaster1.xml" Id="rIdMaster" />
  <Relationship Type="http://schemas.openxmlformats.org/officeDocument/2006/relationships/slide" Target="slides/slide1.xml" Id="rId1" />
  <Relationship Type="http://schemas.openxmlformats.org/officeDocument/2006/relationships/slide" Target="slides/slide2.xml" Id="rId2" />
  <Relationship Type="http://schemas.openxmlformats.org/officeDocument/2006/relationships/slide" Target="slides/slide3.xml" Id="rId3" />
  <Relationship Type="http://schemas.openxmlformats.org/officeDocument/2006/relationships/slide" Target="slides/slide4.xml" Id="rId4" />
  <Relationship Type="http://schemas.openxmlformats.org/officeDocument/2006/relationships/slide" Target="slides/slide5.xml" Id="rId5" />
  <Relationship Type="http://schemas.openxmlformats.org/officeDocument/2006/relationships/slide" Target="slides/slide6.xml" Id="rId6" />
  <Relationship Type="http://schemas.openxmlformats.org/officeDocument/2006/relationships/slide" Target="slides/slide7.xml" Id="rId7" />
  <Relationship Type="http://schemas.openxmlformats.org/officeDocument/2006/relationships/slide" Target="slides/slide8.xml" Id="rId8" />
  <Relationship Type="http://schemas.openxmlformats.org/officeDocument/2006/relationships/slide" Target="slides/slide9.xml" Id="rId9" />
  <Relationship Type="http://schemas.openxmlformats.org/officeDocument/2006/relationships/slide" Target="slides/slide10.xml" Id="rId10" />
</Relationships>
</file>

<file path=ppt/slideLayouts/_rels/slideLayout1.xml.rels>&#65279;<?xml version="1.0" encoding="utf-8"?>
<Relationships xmlns="http://schemas.openxmlformats.org/package/2006/relationships">
  <Relationship Type="http://schemas.openxmlformats.org/officeDocument/2006/relationships/slideMaster" Target="../slideMasters/slideMaster1.xml" Id="rIdSldMaster" />
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  <Relationship Type="http://schemas.openxmlformats.org/officeDocument/2006/relationships/theme" Target="../theme/theme1.xml" Id="rIdTheme" />
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"/>
  </p:sldLayoutIdLst>
  <p:txStyles>
    <p:titleStyle>
      <a:lvl1pPr xmlns:a="http://schemas.openxmlformats.org/drawingml/2006/main">
        <a:defRPr sz="2400"/>
      </a:lvl1pPr>
    </p:titleStyle>
    <p:bodyStyle>
      <a:lvl1pPr xmlns:a="http://schemas.openxmlformats.org/drawingml/2006/main">
        <a:defRPr sz="1800"/>
      </a:lvl1pPr>
    </p:bodyStyle>
    <p:otherStyle>
      <a:lvl1pPr xmlns:a="http://schemas.openxmlformats.org/drawingml/2006/main">
        <a:defRPr sz="1400"/>
      </a:lvl1pPr>
    </p:otherStyle>
  </p:txStyles>
</p:sldMaster>
</file>

<file path=ppt/slides/_rels/slide1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2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3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4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5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6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7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8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9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10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2"/>
          <p:cNvSpPr/>
          <p:nvPr/>
        </p:nvSpPr>
        <p:spPr>
          <a:xfrm xmlns:a="http://schemas.openxmlformats.org/drawingml/2006/main">
            <a:off x="0" y="0"/>
            <a:ext cx="12192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" name="TextBox3"/>
          <p:cNvSpPr/>
          <p:nvPr/>
        </p:nvSpPr>
        <p:spPr>
          <a:xfrm xmlns:a="http://schemas.openxmlformats.org/drawingml/2006/main">
            <a:off x="800000" y="1800000"/>
            <a:ext cx="10500000" cy="1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4400" b="1" dirty="0">
                <a:solidFill>
                  <a:srgbClr val="FFFFFF"/>
                </a:solidFill>
                <a:latin typeface="맑은 고딕"/>
                <a:ea typeface="맑은 고딕"/>
              </a:rPr>
              <a:t>GoldenFruit 프로젝트</a:t>
            </a:r>
          </a:p>
        </p:txBody>
      </p:sp>
      <p:sp>
        <p:nvSpPr>
          <p:cNvPr id="4" name="TextBox4"/>
          <p:cNvSpPr/>
          <p:nvPr/>
        </p:nvSpPr>
        <p:spPr>
          <a:xfrm xmlns:a="http://schemas.openxmlformats.org/drawingml/2006/main">
            <a:off x="800000" y="3000000"/>
            <a:ext cx="105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4FC3F7"/>
                </a:solidFill>
                <a:latin typeface="맑은 고딕"/>
                <a:ea typeface="맑은 고딕"/>
              </a:rPr>
              <a:t>Chapter 2: Core 레이어 설계</a:t>
            </a:r>
          </a:p>
        </p:txBody>
      </p:sp>
      <p:sp>
        <p:nvSpPr>
          <p:cNvPr id="5" name="TextBox5"/>
          <p:cNvSpPr/>
          <p:nvPr/>
        </p:nvSpPr>
        <p:spPr>
          <a:xfrm xmlns:a="http://schemas.openxmlformats.org/drawingml/2006/main">
            <a:off x="800000" y="3900000"/>
            <a:ext cx="105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B0BEC5"/>
                </a:solidFill>
                <a:latin typeface="맑은 고딕"/>
                <a:ea typeface="맑은 고딕"/>
              </a:rPr>
              <a:t>데이터 모델, 인터페이스, ScriptableObject</a:t>
            </a:r>
          </a:p>
        </p:txBody>
      </p:sp>
      <p:sp>
        <p:nvSpPr>
          <p:cNvPr id="6" name="Rect6"/>
          <p:cNvSpPr/>
          <p:nvPr/>
        </p:nvSpPr>
        <p:spPr>
          <a:xfrm xmlns:a="http://schemas.openxmlformats.org/drawingml/2006/main">
            <a:off x="4500000" y="4800000"/>
            <a:ext cx="3200000" cy="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" name="TextBox7"/>
          <p:cNvSpPr/>
          <p:nvPr/>
        </p:nvSpPr>
        <p:spPr>
          <a:xfrm xmlns:a="http://schemas.openxmlformats.org/drawingml/2006/main">
            <a:off x="800000" y="5100000"/>
            <a:ext cx="10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800" b="0" dirty="0">
                <a:solidFill>
                  <a:srgbClr val="B0BEC5"/>
                </a:solidFill>
                <a:latin typeface="맑은 고딕"/>
                <a:ea typeface="맑은 고딕"/>
              </a:rPr>
              <a:t>조영민 강사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8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" name="Rect9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" name="TextBox10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목 차</a:t>
            </a:r>
          </a:p>
        </p:txBody>
      </p:sp>
      <p:sp>
        <p:nvSpPr>
          <p:cNvPr id="11" name="TextBox11"/>
          <p:cNvSpPr/>
          <p:nvPr/>
        </p:nvSpPr>
        <p:spPr>
          <a:xfrm xmlns:a="http://schemas.openxmlformats.org/drawingml/2006/main">
            <a:off x="1500000" y="160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1.  Core 레이어의 역할</a:t>
            </a:r>
          </a:p>
        </p:txBody>
      </p:sp>
      <p:sp>
        <p:nvSpPr>
          <p:cNvPr id="12" name="TextBox12"/>
          <p:cNvSpPr/>
          <p:nvPr/>
        </p:nvSpPr>
        <p:spPr>
          <a:xfrm xmlns:a="http://schemas.openxmlformats.org/drawingml/2006/main">
            <a:off x="1500000" y="212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2.  데이터 모델 (enum, struct)</a:t>
            </a:r>
          </a:p>
        </p:txBody>
      </p:sp>
      <p:sp>
        <p:nvSpPr>
          <p:cNvPr id="13" name="TextBox13"/>
          <p:cNvSpPr/>
          <p:nvPr/>
        </p:nvSpPr>
        <p:spPr>
          <a:xfrm xmlns:a="http://schemas.openxmlformats.org/drawingml/2006/main">
            <a:off x="1500000" y="264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3.  FruitItem 상세 구현</a:t>
            </a:r>
          </a:p>
        </p:txBody>
      </p:sp>
      <p:sp>
        <p:nvSpPr>
          <p:cNvPr id="14" name="TextBox14"/>
          <p:cNvSpPr/>
          <p:nvPr/>
        </p:nvSpPr>
        <p:spPr>
          <a:xfrm xmlns:a="http://schemas.openxmlformats.org/drawingml/2006/main">
            <a:off x="1500000" y="316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4.  인터페이스 설계</a:t>
            </a:r>
          </a:p>
        </p:txBody>
      </p:sp>
      <p:sp>
        <p:nvSpPr>
          <p:cNvPr id="15" name="TextBox15"/>
          <p:cNvSpPr/>
          <p:nvPr/>
        </p:nvSpPr>
        <p:spPr>
          <a:xfrm xmlns:a="http://schemas.openxmlformats.org/drawingml/2006/main">
            <a:off x="1500000" y="368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5.  ScriptableObject 활용</a:t>
            </a:r>
          </a:p>
        </p:txBody>
      </p:sp>
      <p:sp>
        <p:nvSpPr>
          <p:cNvPr id="16" name="TextBox16"/>
          <p:cNvSpPr/>
          <p:nvPr/>
        </p:nvSpPr>
        <p:spPr>
          <a:xfrm xmlns:a="http://schemas.openxmlformats.org/drawingml/2006/main">
            <a:off x="1500000" y="420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6.  GameConstants 상수 관리</a:t>
            </a:r>
          </a:p>
        </p:txBody>
      </p:sp>
      <p:sp>
        <p:nvSpPr>
          <p:cNvPr id="17" name="TextBox17"/>
          <p:cNvSpPr/>
          <p:nvPr/>
        </p:nvSpPr>
        <p:spPr>
          <a:xfrm xmlns:a="http://schemas.openxmlformats.org/drawingml/2006/main">
            <a:off x="1500000" y="472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7.  MercatorProjection 유틸리티</a:t>
            </a:r>
          </a:p>
        </p:txBody>
      </p:sp>
      <p:sp>
        <p:nvSpPr>
          <p:cNvPr id="18" name="TextBox18"/>
          <p:cNvSpPr/>
          <p:nvPr/>
        </p:nvSpPr>
        <p:spPr>
          <a:xfrm xmlns:a="http://schemas.openxmlformats.org/drawingml/2006/main">
            <a:off x="1500000" y="524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8.  요약</a:t>
            </a:r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19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" name="Rect20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" name="TextBox21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1. Core 레이어의 역할</a:t>
            </a:r>
          </a:p>
        </p:txBody>
      </p:sp>
      <p:sp>
        <p:nvSpPr>
          <p:cNvPr id="22" name="RoundRect22"/>
          <p:cNvSpPr/>
          <p:nvPr/>
        </p:nvSpPr>
        <p:spPr>
          <a:xfrm xmlns:a="http://schemas.openxmlformats.org/drawingml/2006/main">
            <a:off x="600000" y="1500000"/>
            <a:ext cx="1090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3" name="TextBox23"/>
          <p:cNvSpPr/>
          <p:nvPr/>
        </p:nvSpPr>
        <p:spPr>
          <a:xfrm xmlns:a="http://schemas.openxmlformats.org/drawingml/2006/main">
            <a:off x="800000" y="1550000"/>
            <a:ext cx="10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800" b="1" dirty="0">
                <a:solidFill>
                  <a:srgbClr val="4FC3F7"/>
                </a:solidFill>
                <a:latin typeface="맑은 고딕"/>
                <a:ea typeface="맑은 고딕"/>
              </a:rPr>
              <a:t>Core = 다른 Assembly에 의존하지 않는 최하위 계층 (Tier 0)</a:t>
            </a:r>
          </a:p>
        </p:txBody>
      </p:sp>
      <p:sp>
        <p:nvSpPr>
          <p:cNvPr id="24" name="TextBox24"/>
          <p:cNvSpPr/>
          <p:nvPr/>
        </p:nvSpPr>
        <p:spPr>
          <a:xfrm xmlns:a="http://schemas.openxmlformats.org/drawingml/2006/main">
            <a:off x="800000" y="1950000"/>
            <a:ext cx="10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0" dirty="0">
                <a:solidFill>
                  <a:srgbClr val="FFFFFF"/>
                </a:solidFill>
                <a:latin typeface="맑은 고딕"/>
                <a:ea typeface="맑은 고딕"/>
              </a:rPr>
              <a:t>순수 데이터 정의와 계약(인터페이스)만 포함, Unity 엔진 의존 최소화</a:t>
            </a:r>
          </a:p>
        </p:txBody>
      </p:sp>
      <p:sp>
        <p:nvSpPr>
          <p:cNvPr id="25" name="RoundRect25"/>
          <p:cNvSpPr/>
          <p:nvPr/>
        </p:nvSpPr>
        <p:spPr>
          <a:xfrm xmlns:a="http://schemas.openxmlformats.org/drawingml/2006/main">
            <a:off x="300000" y="2700000"/>
            <a:ext cx="2800000" cy="2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6" name="Rect26"/>
          <p:cNvSpPr/>
          <p:nvPr/>
        </p:nvSpPr>
        <p:spPr>
          <a:xfrm xmlns:a="http://schemas.openxmlformats.org/drawingml/2006/main">
            <a:off x="300000" y="2700000"/>
            <a:ext cx="2800000" cy="37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7" name="Rect27"/>
          <p:cNvSpPr/>
          <p:nvPr/>
        </p:nvSpPr>
        <p:spPr>
          <a:xfrm xmlns:a="http://schemas.openxmlformats.org/drawingml/2006/main">
            <a:off x="300000" y="2700000"/>
            <a:ext cx="2800000" cy="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8" name="TextBox28"/>
          <p:cNvSpPr/>
          <p:nvPr/>
        </p:nvSpPr>
        <p:spPr>
          <a:xfrm xmlns:a="http://schemas.openxmlformats.org/drawingml/2006/main">
            <a:off x="450000" y="2900000"/>
            <a:ext cx="2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Models</a:t>
            </a:r>
          </a:p>
        </p:txBody>
      </p:sp>
      <p:sp>
        <p:nvSpPr>
          <p:cNvPr id="29" name="TextBox29"/>
          <p:cNvSpPr/>
          <p:nvPr/>
        </p:nvSpPr>
        <p:spPr>
          <a:xfrm xmlns:a="http://schemas.openxmlformats.org/drawingml/2006/main">
            <a:off x="450000" y="3500000"/>
            <a:ext cx="2500000" cy="1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FruitType, FruitItem,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DetectionResult,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GeoCoordinate</a:t>
            </a:r>
          </a:p>
        </p:txBody>
      </p:sp>
      <p:sp>
        <p:nvSpPr>
          <p:cNvPr id="30" name="RoundRect30"/>
          <p:cNvSpPr/>
          <p:nvPr/>
        </p:nvSpPr>
        <p:spPr>
          <a:xfrm xmlns:a="http://schemas.openxmlformats.org/drawingml/2006/main">
            <a:off x="3250000" y="2700000"/>
            <a:ext cx="2800000" cy="2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1" name="Rect31"/>
          <p:cNvSpPr/>
          <p:nvPr/>
        </p:nvSpPr>
        <p:spPr>
          <a:xfrm xmlns:a="http://schemas.openxmlformats.org/drawingml/2006/main">
            <a:off x="3250000" y="2700000"/>
            <a:ext cx="2800000" cy="37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2" name="Rect32"/>
          <p:cNvSpPr/>
          <p:nvPr/>
        </p:nvSpPr>
        <p:spPr>
          <a:xfrm xmlns:a="http://schemas.openxmlformats.org/drawingml/2006/main">
            <a:off x="3250000" y="2700000"/>
            <a:ext cx="2800000" cy="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B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3" name="TextBox33"/>
          <p:cNvSpPr/>
          <p:nvPr/>
        </p:nvSpPr>
        <p:spPr>
          <a:xfrm xmlns:a="http://schemas.openxmlformats.org/drawingml/2006/main">
            <a:off x="3400000" y="2900000"/>
            <a:ext cx="2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66BB6A"/>
                </a:solidFill>
                <a:latin typeface="맑은 고딕"/>
                <a:ea typeface="맑은 고딕"/>
              </a:rPr>
              <a:t>Interfaces</a:t>
            </a:r>
          </a:p>
        </p:txBody>
      </p:sp>
      <p:sp>
        <p:nvSpPr>
          <p:cNvPr id="34" name="TextBox34"/>
          <p:cNvSpPr/>
          <p:nvPr/>
        </p:nvSpPr>
        <p:spPr>
          <a:xfrm xmlns:a="http://schemas.openxmlformats.org/drawingml/2006/main">
            <a:off x="3400000" y="3500000"/>
            <a:ext cx="2500000" cy="1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IFruitDetector,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ILocationProvider,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IFruitRepository</a:t>
            </a:r>
          </a:p>
        </p:txBody>
      </p:sp>
      <p:sp>
        <p:nvSpPr>
          <p:cNvPr id="35" name="RoundRect35"/>
          <p:cNvSpPr/>
          <p:nvPr/>
        </p:nvSpPr>
        <p:spPr>
          <a:xfrm xmlns:a="http://schemas.openxmlformats.org/drawingml/2006/main">
            <a:off x="6200000" y="2700000"/>
            <a:ext cx="2800000" cy="2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6" name="Rect36"/>
          <p:cNvSpPr/>
          <p:nvPr/>
        </p:nvSpPr>
        <p:spPr>
          <a:xfrm xmlns:a="http://schemas.openxmlformats.org/drawingml/2006/main">
            <a:off x="6200000" y="2700000"/>
            <a:ext cx="2800000" cy="37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7" name="Rect37"/>
          <p:cNvSpPr/>
          <p:nvPr/>
        </p:nvSpPr>
        <p:spPr>
          <a:xfrm xmlns:a="http://schemas.openxmlformats.org/drawingml/2006/main">
            <a:off x="6200000" y="2700000"/>
            <a:ext cx="2800000" cy="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7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8" name="TextBox38"/>
          <p:cNvSpPr/>
          <p:nvPr/>
        </p:nvSpPr>
        <p:spPr>
          <a:xfrm xmlns:a="http://schemas.openxmlformats.org/drawingml/2006/main">
            <a:off x="6350000" y="2900000"/>
            <a:ext cx="2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FFA726"/>
                </a:solidFill>
                <a:latin typeface="맑은 고딕"/>
                <a:ea typeface="맑은 고딕"/>
              </a:rPr>
              <a:t>ScriptableObjects</a:t>
            </a:r>
          </a:p>
        </p:txBody>
      </p:sp>
      <p:sp>
        <p:nvSpPr>
          <p:cNvPr id="39" name="TextBox39"/>
          <p:cNvSpPr/>
          <p:nvPr/>
        </p:nvSpPr>
        <p:spPr>
          <a:xfrm xmlns:a="http://schemas.openxmlformats.org/drawingml/2006/main">
            <a:off x="6350000" y="3500000"/>
            <a:ext cx="2500000" cy="1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FruitSpec,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FruitSpecLibrary</a:t>
            </a:r>
          </a:p>
        </p:txBody>
      </p:sp>
      <p:sp>
        <p:nvSpPr>
          <p:cNvPr id="40" name="RoundRect40"/>
          <p:cNvSpPr/>
          <p:nvPr/>
        </p:nvSpPr>
        <p:spPr>
          <a:xfrm xmlns:a="http://schemas.openxmlformats.org/drawingml/2006/main">
            <a:off x="9150000" y="2700000"/>
            <a:ext cx="2800000" cy="2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1" name="Rect41"/>
          <p:cNvSpPr/>
          <p:nvPr/>
        </p:nvSpPr>
        <p:spPr>
          <a:xfrm xmlns:a="http://schemas.openxmlformats.org/drawingml/2006/main">
            <a:off x="9150000" y="2700000"/>
            <a:ext cx="2800000" cy="37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2" name="Rect42"/>
          <p:cNvSpPr/>
          <p:nvPr/>
        </p:nvSpPr>
        <p:spPr>
          <a:xfrm xmlns:a="http://schemas.openxmlformats.org/drawingml/2006/main">
            <a:off x="9150000" y="2700000"/>
            <a:ext cx="2800000" cy="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3" name="TextBox43"/>
          <p:cNvSpPr/>
          <p:nvPr/>
        </p:nvSpPr>
        <p:spPr>
          <a:xfrm xmlns:a="http://schemas.openxmlformats.org/drawingml/2006/main">
            <a:off x="9300000" y="2900000"/>
            <a:ext cx="2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FFEE58"/>
                </a:solidFill>
                <a:latin typeface="맑은 고딕"/>
                <a:ea typeface="맑은 고딕"/>
              </a:rPr>
              <a:t>Constants / Utils</a:t>
            </a:r>
          </a:p>
        </p:txBody>
      </p:sp>
      <p:sp>
        <p:nvSpPr>
          <p:cNvPr id="44" name="TextBox44"/>
          <p:cNvSpPr/>
          <p:nvPr/>
        </p:nvSpPr>
        <p:spPr>
          <a:xfrm xmlns:a="http://schemas.openxmlformats.org/drawingml/2006/main">
            <a:off x="9300000" y="3500000"/>
            <a:ext cx="2500000" cy="1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GameConstants,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MercatorProjection</a:t>
            </a:r>
          </a:p>
        </p:txBody>
      </p:sp>
      <p:sp>
        <p:nvSpPr>
          <p:cNvPr id="45" name="RoundRect45"/>
          <p:cNvSpPr/>
          <p:nvPr/>
        </p:nvSpPr>
        <p:spPr>
          <a:xfrm xmlns:a="http://schemas.openxmlformats.org/drawingml/2006/main">
            <a:off x="600000" y="5200000"/>
            <a:ext cx="10900000" cy="1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6" name="TextBox46"/>
          <p:cNvSpPr/>
          <p:nvPr/>
        </p:nvSpPr>
        <p:spPr>
          <a:xfrm xmlns:a="http://schemas.openxmlformats.org/drawingml/2006/main">
            <a:off x="800000" y="5300000"/>
            <a:ext cx="10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4FC3F7"/>
                </a:solidFill>
                <a:latin typeface="맑은 고딕"/>
                <a:ea typeface="맑은 고딕"/>
              </a:rPr>
              <a:t>Core의 설계 원칙</a:t>
            </a:r>
          </a:p>
        </p:txBody>
      </p:sp>
      <p:sp>
        <p:nvSpPr>
          <p:cNvPr id="47" name="TextBox47"/>
          <p:cNvSpPr/>
          <p:nvPr/>
        </p:nvSpPr>
        <p:spPr>
          <a:xfrm xmlns:a="http://schemas.openxmlformats.org/drawingml/2006/main">
            <a:off x="800000" y="5700000"/>
            <a:ext cx="105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●  외부 Assembly 참조 없음 (GoldenFruit.Core.asmdef: references = [])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●  상위 계층은 Core를 참조하지만, Core는 상위를 모름 → 의존성 역전</a:t>
            </a:r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Rect48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9" name="Rect49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50" name="TextBox50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2. 데이터 모델 (enum, struct)</a:t>
            </a:r>
          </a:p>
        </p:txBody>
      </p:sp>
      <p:sp>
        <p:nvSpPr>
          <p:cNvPr id="51" name="TextBox51"/>
          <p:cNvSpPr/>
          <p:nvPr/>
        </p:nvSpPr>
        <p:spPr>
          <a:xfrm xmlns:a="http://schemas.openxmlformats.org/drawingml/2006/main">
            <a:off x="600000" y="1450000"/>
            <a:ext cx="50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800" b="1" dirty="0">
                <a:solidFill>
                  <a:srgbClr val="4FC3F7"/>
                </a:solidFill>
                <a:latin typeface="맑은 고딕"/>
                <a:ea typeface="맑은 고딕"/>
              </a:rPr>
              <a:t>FruitType (enum)</a:t>
            </a:r>
          </a:p>
        </p:txBody>
      </p:sp>
      <p:sp>
        <p:nvSpPr>
          <p:cNvPr id="52" name="RoundRect52"/>
          <p:cNvSpPr/>
          <p:nvPr/>
        </p:nvSpPr>
        <p:spPr>
          <a:xfrm xmlns:a="http://schemas.openxmlformats.org/drawingml/2006/main">
            <a:off x="600000" y="1900000"/>
            <a:ext cx="5200000" cy="1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53" name="Rect53"/>
          <p:cNvSpPr/>
          <p:nvPr/>
        </p:nvSpPr>
        <p:spPr>
          <a:xfrm xmlns:a="http://schemas.openxmlformats.org/drawingml/2006/main">
            <a:off x="600000" y="1900000"/>
            <a:ext cx="272000" cy="2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54" name="Code54"/>
          <p:cNvSpPr/>
          <p:nvPr/>
        </p:nvSpPr>
        <p:spPr>
          <a:xfrm xmlns:a="http://schemas.openxmlformats.org/drawingml/2006/main">
            <a:off x="600000" y="1900000"/>
            <a:ext cx="5200000" cy="1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300" b="0" dirty="0">
                <a:solidFill>
                  <a:srgbClr val="569CD6"/>
                </a:solidFill>
                <a:latin typeface="Consolas"/>
                <a:ea typeface="맑은 고딕"/>
              </a:rPr>
              <a:t>enum</a:t>
            </a:r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FruitType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   Apple,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   Banana,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   Orange,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   Grape,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   Strawberry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55" name="TextBox55"/>
          <p:cNvSpPr/>
          <p:nvPr/>
        </p:nvSpPr>
        <p:spPr>
          <a:xfrm xmlns:a="http://schemas.openxmlformats.org/drawingml/2006/main">
            <a:off x="600000" y="3600000"/>
            <a:ext cx="5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게임에서 탐지·수집 가능한 과일 종류를 열거</a:t>
            </a:r>
          </a:p>
        </p:txBody>
      </p:sp>
      <p:sp>
        <p:nvSpPr>
          <p:cNvPr id="56" name="TextBox56"/>
          <p:cNvSpPr/>
          <p:nvPr/>
        </p:nvSpPr>
        <p:spPr>
          <a:xfrm xmlns:a="http://schemas.openxmlformats.org/drawingml/2006/main">
            <a:off x="6200000" y="1450000"/>
            <a:ext cx="56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800" b="1" dirty="0">
                <a:solidFill>
                  <a:srgbClr val="66BB6A"/>
                </a:solidFill>
                <a:latin typeface="맑은 고딕"/>
                <a:ea typeface="맑은 고딕"/>
              </a:rPr>
              <a:t>DetectionResult (readonly struct)</a:t>
            </a:r>
          </a:p>
        </p:txBody>
      </p:sp>
      <p:sp>
        <p:nvSpPr>
          <p:cNvPr id="57" name="RoundRect57"/>
          <p:cNvSpPr/>
          <p:nvPr/>
        </p:nvSpPr>
        <p:spPr>
          <a:xfrm xmlns:a="http://schemas.openxmlformats.org/drawingml/2006/main">
            <a:off x="6200000" y="1900000"/>
            <a:ext cx="5600000" cy="2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58" name="Rect58"/>
          <p:cNvSpPr/>
          <p:nvPr/>
        </p:nvSpPr>
        <p:spPr>
          <a:xfrm xmlns:a="http://schemas.openxmlformats.org/drawingml/2006/main">
            <a:off x="6200000" y="1900000"/>
            <a:ext cx="374000" cy="37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59" name="Code59"/>
          <p:cNvSpPr/>
          <p:nvPr/>
        </p:nvSpPr>
        <p:spPr>
          <a:xfrm xmlns:a="http://schemas.openxmlformats.org/drawingml/2006/main">
            <a:off x="6200000" y="1900000"/>
            <a:ext cx="5600000" cy="2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300" b="0" dirty="0">
                <a:solidFill>
                  <a:srgbClr val="569CD6"/>
                </a:solidFill>
                <a:latin typeface="Consolas"/>
                <a:ea typeface="맑은 고딕"/>
              </a:rPr>
              <a:t>readonly</a:t>
            </a:r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300" b="0" dirty="0">
                <a:solidFill>
                  <a:srgbClr val="569CD6"/>
                </a:solidFill>
                <a:latin typeface="Consolas"/>
                <a:ea typeface="맑은 고딕"/>
              </a:rPr>
              <a:t>struct</a:t>
            </a:r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DetectionResult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3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300" b="0" dirty="0">
                <a:solidFill>
                  <a:srgbClr val="569CD6"/>
                </a:solidFill>
                <a:latin typeface="Consolas"/>
                <a:ea typeface="맑은 고딕"/>
              </a:rPr>
              <a:t>readonly</a:t>
            </a:r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300" b="0" dirty="0">
                <a:solidFill>
                  <a:srgbClr val="569CD6"/>
                </a:solidFill>
                <a:latin typeface="Consolas"/>
                <a:ea typeface="맑은 고딕"/>
              </a:rPr>
              <a:t>string</a:t>
            </a:r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Label;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3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300" b="0" dirty="0">
                <a:solidFill>
                  <a:srgbClr val="569CD6"/>
                </a:solidFill>
                <a:latin typeface="Consolas"/>
                <a:ea typeface="맑은 고딕"/>
              </a:rPr>
              <a:t>readonly</a:t>
            </a:r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300" b="0" dirty="0">
                <a:solidFill>
                  <a:srgbClr val="569CD6"/>
                </a:solidFill>
                <a:latin typeface="Consolas"/>
                <a:ea typeface="맑은 고딕"/>
              </a:rPr>
              <a:t>float</a:t>
            </a:r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Confidence;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3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300" b="0" dirty="0">
                <a:solidFill>
                  <a:srgbClr val="569CD6"/>
                </a:solidFill>
                <a:latin typeface="Consolas"/>
                <a:ea typeface="맑은 고딕"/>
              </a:rPr>
              <a:t>readonly</a:t>
            </a:r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Rect BoundingBox;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3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300" b="0" dirty="0">
                <a:solidFill>
                  <a:srgbClr val="569CD6"/>
                </a:solidFill>
                <a:latin typeface="Consolas"/>
                <a:ea typeface="맑은 고딕"/>
              </a:rPr>
              <a:t>readonly</a:t>
            </a:r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FruitType FruitType;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60" name="TextBox60"/>
          <p:cNvSpPr/>
          <p:nvPr/>
        </p:nvSpPr>
        <p:spPr>
          <a:xfrm xmlns:a="http://schemas.openxmlformats.org/drawingml/2006/main">
            <a:off x="6200000" y="4400000"/>
            <a:ext cx="56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800" b="1" dirty="0">
                <a:solidFill>
                  <a:srgbClr val="FFA726"/>
                </a:solidFill>
                <a:latin typeface="맑은 고딕"/>
                <a:ea typeface="맑은 고딕"/>
              </a:rPr>
              <a:t>GeoCoordinate (readonly struct)</a:t>
            </a:r>
          </a:p>
        </p:txBody>
      </p:sp>
      <p:sp>
        <p:nvSpPr>
          <p:cNvPr id="61" name="RoundRect61"/>
          <p:cNvSpPr/>
          <p:nvPr/>
        </p:nvSpPr>
        <p:spPr>
          <a:xfrm xmlns:a="http://schemas.openxmlformats.org/drawingml/2006/main">
            <a:off x="6200000" y="4800000"/>
            <a:ext cx="5600000" cy="1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62" name="Rect62"/>
          <p:cNvSpPr/>
          <p:nvPr/>
        </p:nvSpPr>
        <p:spPr>
          <a:xfrm xmlns:a="http://schemas.openxmlformats.org/drawingml/2006/main">
            <a:off x="6200000" y="4800000"/>
            <a:ext cx="272000" cy="2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63" name="Code63"/>
          <p:cNvSpPr/>
          <p:nvPr/>
        </p:nvSpPr>
        <p:spPr>
          <a:xfrm xmlns:a="http://schemas.openxmlformats.org/drawingml/2006/main">
            <a:off x="6200000" y="4800000"/>
            <a:ext cx="5600000" cy="1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300" b="0" dirty="0">
                <a:solidFill>
                  <a:srgbClr val="569CD6"/>
                </a:solidFill>
                <a:latin typeface="Consolas"/>
                <a:ea typeface="맑은 고딕"/>
              </a:rPr>
              <a:t>readonly</a:t>
            </a:r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300" b="0" dirty="0">
                <a:solidFill>
                  <a:srgbClr val="569CD6"/>
                </a:solidFill>
                <a:latin typeface="Consolas"/>
                <a:ea typeface="맑은 고딕"/>
              </a:rPr>
              <a:t>struct</a:t>
            </a:r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GeoCoordinate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3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300" b="0" dirty="0">
                <a:solidFill>
                  <a:srgbClr val="569CD6"/>
                </a:solidFill>
                <a:latin typeface="Consolas"/>
                <a:ea typeface="맑은 고딕"/>
              </a:rPr>
              <a:t>readonly</a:t>
            </a:r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300" b="0" dirty="0">
                <a:solidFill>
                  <a:srgbClr val="569CD6"/>
                </a:solidFill>
                <a:latin typeface="Consolas"/>
                <a:ea typeface="맑은 고딕"/>
              </a:rPr>
              <a:t>double</a:t>
            </a:r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Latitude;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3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300" b="0" dirty="0">
                <a:solidFill>
                  <a:srgbClr val="569CD6"/>
                </a:solidFill>
                <a:latin typeface="Consolas"/>
                <a:ea typeface="맑은 고딕"/>
              </a:rPr>
              <a:t>readonly</a:t>
            </a:r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300" b="0" dirty="0">
                <a:solidFill>
                  <a:srgbClr val="569CD6"/>
                </a:solidFill>
                <a:latin typeface="Consolas"/>
                <a:ea typeface="맑은 고딕"/>
              </a:rPr>
              <a:t>double</a:t>
            </a:r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Longitude;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64" name="TextBox64"/>
          <p:cNvSpPr/>
          <p:nvPr/>
        </p:nvSpPr>
        <p:spPr>
          <a:xfrm xmlns:a="http://schemas.openxmlformats.org/drawingml/2006/main">
            <a:off x="600000" y="4200000"/>
            <a:ext cx="52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B0BEC5"/>
                </a:solidFill>
                <a:latin typeface="맑은 고딕"/>
                <a:ea typeface="맑은 고딕"/>
              </a:rPr>
              <a:t>readonly struct를 사용하는 이유: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B0BEC5"/>
                </a:solidFill>
                <a:latin typeface="맑은 고딕"/>
                <a:ea typeface="맑은 고딕"/>
              </a:rPr>
              <a:t>불변 값 타입 → 힙 할당 없음, GC 부담 감소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Rect65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66" name="Rect66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67" name="TextBox67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3. FruitItem 상세 구현</a:t>
            </a:r>
          </a:p>
        </p:txBody>
      </p:sp>
      <p:sp>
        <p:nvSpPr>
          <p:cNvPr id="68" name="RoundRect68"/>
          <p:cNvSpPr/>
          <p:nvPr/>
        </p:nvSpPr>
        <p:spPr>
          <a:xfrm xmlns:a="http://schemas.openxmlformats.org/drawingml/2006/main">
            <a:off x="400000" y="1400000"/>
            <a:ext cx="6000000" cy="4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69" name="Rect69"/>
          <p:cNvSpPr/>
          <p:nvPr/>
        </p:nvSpPr>
        <p:spPr>
          <a:xfrm xmlns:a="http://schemas.openxmlformats.org/drawingml/2006/main">
            <a:off x="400000" y="1400000"/>
            <a:ext cx="782000" cy="7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0" name="Code70"/>
          <p:cNvSpPr/>
          <p:nvPr/>
        </p:nvSpPr>
        <p:spPr>
          <a:xfrm xmlns:a="http://schemas.openxmlformats.org/drawingml/2006/main">
            <a:off x="400000" y="1400000"/>
            <a:ext cx="6000000" cy="4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[Serializable]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struct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FruitItem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int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Id;       </a:t>
            </a:r>
            <a:r>
              <a:rPr lang="ko-KR" sz="1200" b="0" dirty="0">
                <a:solidFill>
                  <a:srgbClr val="608B4E"/>
                </a:solidFill>
                <a:latin typeface="Consolas"/>
                <a:ea typeface="맑은 고딕"/>
              </a:rPr>
              <a:t>// 과일 종류 식별자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int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Quantity;  </a:t>
            </a:r>
            <a:r>
              <a:rPr lang="ko-KR" sz="1200" b="0" dirty="0">
                <a:solidFill>
                  <a:srgbClr val="608B4E"/>
                </a:solidFill>
                <a:latin typeface="Consolas"/>
                <a:ea typeface="맑은 고딕"/>
              </a:rPr>
              <a:t>// 보유 수량</a:t>
            </a:r>
          </a:p>
          <a:p xmlns:a="http://schemas.openxmlformats.org/drawingml/2006/main">
            <a:pPr algn="l"/>
            <a:endParaRPr lang="ko-KR" sz="120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FruitItem(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int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id,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int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quantity)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    Id = id;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    Quantity = quantity;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endParaRPr lang="ko-KR" sz="120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static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FruitItem Empty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    =&gt;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new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FruitItem(</a:t>
            </a:r>
            <a:r>
              <a:rPr lang="ko-KR" sz="1200" b="0" dirty="0">
                <a:solidFill>
                  <a:srgbClr val="B5CEA8"/>
                </a:solidFill>
                <a:latin typeface="Consolas"/>
                <a:ea typeface="맑은 고딕"/>
              </a:rPr>
              <a:t>0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, </a:t>
            </a:r>
            <a:r>
              <a:rPr lang="ko-KR" sz="1200" b="0" dirty="0">
                <a:solidFill>
                  <a:srgbClr val="B5CEA8"/>
                </a:solidFill>
                <a:latin typeface="Consolas"/>
                <a:ea typeface="맑은 고딕"/>
              </a:rPr>
              <a:t>0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);</a:t>
            </a:r>
          </a:p>
          <a:p xmlns:a="http://schemas.openxmlformats.org/drawingml/2006/main">
            <a:pPr algn="l"/>
            <a:endParaRPr lang="ko-KR" sz="120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200" b="0" dirty="0">
                <a:solidFill>
                  <a:srgbClr val="608B4E"/>
                </a:solidFill>
                <a:latin typeface="Consolas"/>
                <a:ea typeface="맑은 고딕"/>
              </a:rPr>
              <a:t>// == / != 연산자 오버로딩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static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bool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operator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==(FruitItem a, FruitItem b)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    =&gt; a.Id == b.Id &amp;&amp; a.Quantity == b.Quantity;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71" name="RoundRect71"/>
          <p:cNvSpPr/>
          <p:nvPr/>
        </p:nvSpPr>
        <p:spPr>
          <a:xfrm xmlns:a="http://schemas.openxmlformats.org/drawingml/2006/main">
            <a:off x="6700000" y="1400000"/>
            <a:ext cx="5100000" cy="4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2" name="Rect72"/>
          <p:cNvSpPr/>
          <p:nvPr/>
        </p:nvSpPr>
        <p:spPr>
          <a:xfrm xmlns:a="http://schemas.openxmlformats.org/drawingml/2006/main">
            <a:off x="6700000" y="1400000"/>
            <a:ext cx="782000" cy="7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3" name="TextBox73"/>
          <p:cNvSpPr/>
          <p:nvPr/>
        </p:nvSpPr>
        <p:spPr>
          <a:xfrm xmlns:a="http://schemas.openxmlformats.org/drawingml/2006/main">
            <a:off x="6900000" y="1500000"/>
            <a:ext cx="47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800" b="1" dirty="0">
                <a:solidFill>
                  <a:srgbClr val="4FC3F7"/>
                </a:solidFill>
                <a:latin typeface="맑은 고딕"/>
                <a:ea typeface="맑은 고딕"/>
              </a:rPr>
              <a:t>설계 포인트</a:t>
            </a:r>
          </a:p>
        </p:txBody>
      </p:sp>
      <p:sp>
        <p:nvSpPr>
          <p:cNvPr id="74" name="TextBox74"/>
          <p:cNvSpPr/>
          <p:nvPr/>
        </p:nvSpPr>
        <p:spPr>
          <a:xfrm xmlns:a="http://schemas.openxmlformats.org/drawingml/2006/main">
            <a:off x="6900000" y="2200000"/>
            <a:ext cx="47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66BB6A"/>
                </a:solidFill>
                <a:latin typeface="맑은 고딕"/>
                <a:ea typeface="맑은 고딕"/>
              </a:rPr>
              <a:t>●  [Serializable] 속성으로 JSON 직렬화 지원</a:t>
            </a:r>
          </a:p>
        </p:txBody>
      </p:sp>
      <p:sp>
        <p:nvSpPr>
          <p:cNvPr id="75" name="TextBox75"/>
          <p:cNvSpPr/>
          <p:nvPr/>
        </p:nvSpPr>
        <p:spPr>
          <a:xfrm xmlns:a="http://schemas.openxmlformats.org/drawingml/2006/main">
            <a:off x="6900000" y="2800000"/>
            <a:ext cx="47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FFA726"/>
                </a:solidFill>
                <a:latin typeface="맑은 고딕"/>
                <a:ea typeface="맑은 고딕"/>
              </a:rPr>
              <a:t>●  struct 사용 → 값 타입, 스택 할당</a:t>
            </a:r>
          </a:p>
        </p:txBody>
      </p:sp>
      <p:sp>
        <p:nvSpPr>
          <p:cNvPr id="76" name="TextBox76"/>
          <p:cNvSpPr/>
          <p:nvPr/>
        </p:nvSpPr>
        <p:spPr>
          <a:xfrm xmlns:a="http://schemas.openxmlformats.org/drawingml/2006/main">
            <a:off x="6900000" y="3400000"/>
            <a:ext cx="47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4FC3F7"/>
                </a:solidFill>
                <a:latin typeface="맑은 고딕"/>
                <a:ea typeface="맑은 고딕"/>
              </a:rPr>
              <a:t>●  Empty 정적 프로퍼티로 기본값 제공</a:t>
            </a:r>
          </a:p>
        </p:txBody>
      </p:sp>
      <p:sp>
        <p:nvSpPr>
          <p:cNvPr id="77" name="TextBox77"/>
          <p:cNvSpPr/>
          <p:nvPr/>
        </p:nvSpPr>
        <p:spPr>
          <a:xfrm xmlns:a="http://schemas.openxmlformats.org/drawingml/2006/main">
            <a:off x="6900000" y="4000000"/>
            <a:ext cx="47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FFEE58"/>
                </a:solidFill>
                <a:latin typeface="맑은 고딕"/>
                <a:ea typeface="맑은 고딕"/>
              </a:rPr>
              <a:t>●  == / != 연산자 오버로딩으로 값 비교</a:t>
            </a:r>
          </a:p>
        </p:txBody>
      </p:sp>
      <p:sp>
        <p:nvSpPr>
          <p:cNvPr id="78" name="TextBox78"/>
          <p:cNvSpPr/>
          <p:nvPr/>
        </p:nvSpPr>
        <p:spPr>
          <a:xfrm xmlns:a="http://schemas.openxmlformats.org/drawingml/2006/main">
            <a:off x="6900000" y="4600000"/>
            <a:ext cx="47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4FC3F7"/>
                </a:solidFill>
                <a:latin typeface="맑은 고딕"/>
                <a:ea typeface="맑은 고딕"/>
              </a:rPr>
              <a:t>●  Equals, GetHashCode도 함께 오버라이드</a:t>
            </a:r>
          </a:p>
        </p:txBody>
      </p:sp>
      <p:sp>
        <p:nvSpPr>
          <p:cNvPr id="79" name="RoundRect79"/>
          <p:cNvSpPr/>
          <p:nvPr/>
        </p:nvSpPr>
        <p:spPr>
          <a:xfrm xmlns:a="http://schemas.openxmlformats.org/drawingml/2006/main">
            <a:off x="6900000" y="5200000"/>
            <a:ext cx="4700000" cy="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0" name="TextBox80"/>
          <p:cNvSpPr/>
          <p:nvPr/>
        </p:nvSpPr>
        <p:spPr>
          <a:xfrm xmlns:a="http://schemas.openxmlformats.org/drawingml/2006/main">
            <a:off x="7100000" y="5250000"/>
            <a:ext cx="43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인벤토리에서 과일의 종류(Id)와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수량(Quantity)을 추적하는 핵심 단위</a:t>
            </a:r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Rect81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2" name="Rect82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3" name="TextBox83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4. 인터페이스 설계</a:t>
            </a:r>
          </a:p>
        </p:txBody>
      </p:sp>
      <p:sp>
        <p:nvSpPr>
          <p:cNvPr id="84" name="RoundRect84"/>
          <p:cNvSpPr/>
          <p:nvPr/>
        </p:nvSpPr>
        <p:spPr>
          <a:xfrm xmlns:a="http://schemas.openxmlformats.org/drawingml/2006/main">
            <a:off x="300000" y="1400000"/>
            <a:ext cx="3700000" cy="3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5" name="Rect85"/>
          <p:cNvSpPr/>
          <p:nvPr/>
        </p:nvSpPr>
        <p:spPr>
          <a:xfrm xmlns:a="http://schemas.openxmlformats.org/drawingml/2006/main">
            <a:off x="300000" y="1400000"/>
            <a:ext cx="3700000" cy="5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6" name="Rect86"/>
          <p:cNvSpPr/>
          <p:nvPr/>
        </p:nvSpPr>
        <p:spPr>
          <a:xfrm xmlns:a="http://schemas.openxmlformats.org/drawingml/2006/main">
            <a:off x="300000" y="1400000"/>
            <a:ext cx="3700000" cy="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7" name="TextBox87"/>
          <p:cNvSpPr/>
          <p:nvPr/>
        </p:nvSpPr>
        <p:spPr>
          <a:xfrm xmlns:a="http://schemas.openxmlformats.org/drawingml/2006/main">
            <a:off x="450000" y="1550000"/>
            <a:ext cx="34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4FC3F7"/>
                </a:solidFill>
                <a:latin typeface="맑은 고딕"/>
                <a:ea typeface="맑은 고딕"/>
              </a:rPr>
              <a:t>IFruitDetector</a:t>
            </a:r>
          </a:p>
        </p:txBody>
      </p:sp>
      <p:sp>
        <p:nvSpPr>
          <p:cNvPr id="88" name="RoundRect88"/>
          <p:cNvSpPr/>
          <p:nvPr/>
        </p:nvSpPr>
        <p:spPr>
          <a:xfrm xmlns:a="http://schemas.openxmlformats.org/drawingml/2006/main">
            <a:off x="450000" y="2050000"/>
            <a:ext cx="3400000" cy="14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9" name="Rect89"/>
          <p:cNvSpPr/>
          <p:nvPr/>
        </p:nvSpPr>
        <p:spPr>
          <a:xfrm xmlns:a="http://schemas.openxmlformats.org/drawingml/2006/main">
            <a:off x="450000" y="2050000"/>
            <a:ext cx="238000" cy="23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0" name="Code90"/>
          <p:cNvSpPr/>
          <p:nvPr/>
        </p:nvSpPr>
        <p:spPr>
          <a:xfrm xmlns:a="http://schemas.openxmlformats.org/drawingml/2006/main">
            <a:off x="450000" y="2050000"/>
            <a:ext cx="3400000" cy="1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interface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IFruitDetector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: </a:t>
            </a:r>
            <a:r>
              <a:rPr lang="ko-KR" sz="1100" b="0" dirty="0">
                <a:solidFill>
                  <a:srgbClr val="4EC9B0"/>
                </a:solidFill>
                <a:latin typeface="Consolas"/>
                <a:ea typeface="맑은 고딕"/>
              </a:rPr>
              <a:t>IDisposable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Detect(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    Texture2D image,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100" b="0" dirty="0">
                <a:solidFill>
                  <a:srgbClr val="4EC9B0"/>
                </a:solidFill>
                <a:latin typeface="Consolas"/>
                <a:ea typeface="맑은 고딕"/>
              </a:rPr>
              <a:t>Action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&lt;DetectionResult[]&gt;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        onComplete);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91" name="TextBox91"/>
          <p:cNvSpPr/>
          <p:nvPr/>
        </p:nvSpPr>
        <p:spPr>
          <a:xfrm xmlns:a="http://schemas.openxmlformats.org/drawingml/2006/main">
            <a:off x="450000" y="3600000"/>
            <a:ext cx="34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카메라 이미지 → 탐지 결과 변환</a:t>
            </a:r>
          </a:p>
        </p:txBody>
      </p:sp>
      <p:sp>
        <p:nvSpPr>
          <p:cNvPr id="92" name="RoundRect92"/>
          <p:cNvSpPr/>
          <p:nvPr/>
        </p:nvSpPr>
        <p:spPr>
          <a:xfrm xmlns:a="http://schemas.openxmlformats.org/drawingml/2006/main">
            <a:off x="4200000" y="1400000"/>
            <a:ext cx="3700000" cy="3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3" name="Rect93"/>
          <p:cNvSpPr/>
          <p:nvPr/>
        </p:nvSpPr>
        <p:spPr>
          <a:xfrm xmlns:a="http://schemas.openxmlformats.org/drawingml/2006/main">
            <a:off x="4200000" y="1400000"/>
            <a:ext cx="3700000" cy="5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4" name="Rect94"/>
          <p:cNvSpPr/>
          <p:nvPr/>
        </p:nvSpPr>
        <p:spPr>
          <a:xfrm xmlns:a="http://schemas.openxmlformats.org/drawingml/2006/main">
            <a:off x="4200000" y="1400000"/>
            <a:ext cx="3700000" cy="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B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5" name="TextBox95"/>
          <p:cNvSpPr/>
          <p:nvPr/>
        </p:nvSpPr>
        <p:spPr>
          <a:xfrm xmlns:a="http://schemas.openxmlformats.org/drawingml/2006/main">
            <a:off x="4350000" y="1550000"/>
            <a:ext cx="34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66BB6A"/>
                </a:solidFill>
                <a:latin typeface="맑은 고딕"/>
                <a:ea typeface="맑은 고딕"/>
              </a:rPr>
              <a:t>ILocationProvider</a:t>
            </a:r>
          </a:p>
        </p:txBody>
      </p:sp>
      <p:sp>
        <p:nvSpPr>
          <p:cNvPr id="96" name="RoundRect96"/>
          <p:cNvSpPr/>
          <p:nvPr/>
        </p:nvSpPr>
        <p:spPr>
          <a:xfrm xmlns:a="http://schemas.openxmlformats.org/drawingml/2006/main">
            <a:off x="4350000" y="2050000"/>
            <a:ext cx="3400000" cy="14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7" name="Rect97"/>
          <p:cNvSpPr/>
          <p:nvPr/>
        </p:nvSpPr>
        <p:spPr>
          <a:xfrm xmlns:a="http://schemas.openxmlformats.org/drawingml/2006/main">
            <a:off x="4350000" y="2050000"/>
            <a:ext cx="238000" cy="23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8" name="Code98"/>
          <p:cNvSpPr/>
          <p:nvPr/>
        </p:nvSpPr>
        <p:spPr>
          <a:xfrm xmlns:a="http://schemas.openxmlformats.org/drawingml/2006/main">
            <a:off x="4350000" y="2050000"/>
            <a:ext cx="3400000" cy="1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interface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ILocationProvider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bool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IsRunning {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get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; }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double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Latitude {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get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; }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double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Longitude {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get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; }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(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double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,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double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) Origin {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get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; }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StartService();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StopService();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99" name="TextBox99"/>
          <p:cNvSpPr/>
          <p:nvPr/>
        </p:nvSpPr>
        <p:spPr>
          <a:xfrm xmlns:a="http://schemas.openxmlformats.org/drawingml/2006/main">
            <a:off x="4350000" y="3600000"/>
            <a:ext cx="34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GPS 위치 데이터 제공 계약</a:t>
            </a:r>
          </a:p>
        </p:txBody>
      </p:sp>
      <p:sp>
        <p:nvSpPr>
          <p:cNvPr id="100" name="RoundRect100"/>
          <p:cNvSpPr/>
          <p:nvPr/>
        </p:nvSpPr>
        <p:spPr>
          <a:xfrm xmlns:a="http://schemas.openxmlformats.org/drawingml/2006/main">
            <a:off x="8100000" y="1400000"/>
            <a:ext cx="3700000" cy="3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1" name="Rect101"/>
          <p:cNvSpPr/>
          <p:nvPr/>
        </p:nvSpPr>
        <p:spPr>
          <a:xfrm xmlns:a="http://schemas.openxmlformats.org/drawingml/2006/main">
            <a:off x="8100000" y="1400000"/>
            <a:ext cx="3700000" cy="5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2" name="Rect102"/>
          <p:cNvSpPr/>
          <p:nvPr/>
        </p:nvSpPr>
        <p:spPr>
          <a:xfrm xmlns:a="http://schemas.openxmlformats.org/drawingml/2006/main">
            <a:off x="8100000" y="1400000"/>
            <a:ext cx="3700000" cy="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7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3" name="TextBox103"/>
          <p:cNvSpPr/>
          <p:nvPr/>
        </p:nvSpPr>
        <p:spPr>
          <a:xfrm xmlns:a="http://schemas.openxmlformats.org/drawingml/2006/main">
            <a:off x="8250000" y="1550000"/>
            <a:ext cx="34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FFA726"/>
                </a:solidFill>
                <a:latin typeface="맑은 고딕"/>
                <a:ea typeface="맑은 고딕"/>
              </a:rPr>
              <a:t>IFruitRepository</a:t>
            </a:r>
          </a:p>
        </p:txBody>
      </p:sp>
      <p:sp>
        <p:nvSpPr>
          <p:cNvPr id="104" name="RoundRect104"/>
          <p:cNvSpPr/>
          <p:nvPr/>
        </p:nvSpPr>
        <p:spPr>
          <a:xfrm xmlns:a="http://schemas.openxmlformats.org/drawingml/2006/main">
            <a:off x="8250000" y="2050000"/>
            <a:ext cx="3400000" cy="14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5" name="Rect105"/>
          <p:cNvSpPr/>
          <p:nvPr/>
        </p:nvSpPr>
        <p:spPr>
          <a:xfrm xmlns:a="http://schemas.openxmlformats.org/drawingml/2006/main">
            <a:off x="8250000" y="2050000"/>
            <a:ext cx="238000" cy="23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6" name="Code106"/>
          <p:cNvSpPr/>
          <p:nvPr/>
        </p:nvSpPr>
        <p:spPr>
          <a:xfrm xmlns:a="http://schemas.openxmlformats.org/drawingml/2006/main">
            <a:off x="8250000" y="2050000"/>
            <a:ext cx="3400000" cy="1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interface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IFruitRepository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event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050" b="0" dirty="0">
                <a:solidFill>
                  <a:srgbClr val="4EC9B0"/>
                </a:solidFill>
                <a:latin typeface="Consolas"/>
                <a:ea typeface="맑은 고딕"/>
              </a:rPr>
              <a:t>Action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&lt;</a:t>
            </a:r>
            <a:r>
              <a:rPr lang="ko-KR" sz="1050" b="0" dirty="0">
                <a:solidFill>
                  <a:srgbClr val="4EC9B0"/>
                </a:solidFill>
                <a:latin typeface="Consolas"/>
                <a:ea typeface="맑은 고딕"/>
              </a:rPr>
              <a:t>IEnumerable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&lt;FruitItem&gt;&gt; OnSaved;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FruitItem GetItemByType(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int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id);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InsertItem(FruitItem);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Save();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107" name="TextBox107"/>
          <p:cNvSpPr/>
          <p:nvPr/>
        </p:nvSpPr>
        <p:spPr>
          <a:xfrm xmlns:a="http://schemas.openxmlformats.org/drawingml/2006/main">
            <a:off x="8250000" y="3600000"/>
            <a:ext cx="34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인벤토리 영구 저장 계약</a:t>
            </a:r>
          </a:p>
        </p:txBody>
      </p:sp>
      <p:sp>
        <p:nvSpPr>
          <p:cNvPr id="108" name="RoundRect108"/>
          <p:cNvSpPr/>
          <p:nvPr/>
        </p:nvSpPr>
        <p:spPr>
          <a:xfrm xmlns:a="http://schemas.openxmlformats.org/drawingml/2006/main">
            <a:off x="300000" y="4700000"/>
            <a:ext cx="11500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9" name="TextBox109"/>
          <p:cNvSpPr/>
          <p:nvPr/>
        </p:nvSpPr>
        <p:spPr>
          <a:xfrm xmlns:a="http://schemas.openxmlformats.org/drawingml/2006/main">
            <a:off x="500000" y="4800000"/>
            <a:ext cx="111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4FC3F7"/>
                </a:solidFill>
                <a:latin typeface="맑은 고딕"/>
                <a:ea typeface="맑은 고딕"/>
              </a:rPr>
              <a:t>인터페이스를 Core에 정의하는 이유</a:t>
            </a:r>
          </a:p>
        </p:txBody>
      </p:sp>
      <p:sp>
        <p:nvSpPr>
          <p:cNvPr id="110" name="TextBox110"/>
          <p:cNvSpPr/>
          <p:nvPr/>
        </p:nvSpPr>
        <p:spPr>
          <a:xfrm xmlns:a="http://schemas.openxmlformats.org/drawingml/2006/main">
            <a:off x="500000" y="5200000"/>
            <a:ext cx="11100000" cy="11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●  구현체는 상위 Assembly에 위치 (Detection, GPS, Inventory)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●  Core는 "무엇을 할 수 있는가"만 정의, "어떻게 하는가"는 모름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●  의존성 역전 원칙(DIP): 상위 모듈이 인터페이스에 의존, 구현을 DI로 주입</a:t>
            </a:r>
          </a:p>
        </p:txBody>
      </p:sp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1" name="Rect111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12" name="Rect112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13" name="TextBox113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5. ScriptableObject 활용</a:t>
            </a:r>
          </a:p>
        </p:txBody>
      </p:sp>
      <p:sp>
        <p:nvSpPr>
          <p:cNvPr id="114" name="TextBox114"/>
          <p:cNvSpPr/>
          <p:nvPr/>
        </p:nvSpPr>
        <p:spPr>
          <a:xfrm xmlns:a="http://schemas.openxmlformats.org/drawingml/2006/main">
            <a:off x="600000" y="1450000"/>
            <a:ext cx="5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FruitSpec — 과일 하나의 정의</a:t>
            </a:r>
          </a:p>
        </p:txBody>
      </p:sp>
      <p:sp>
        <p:nvSpPr>
          <p:cNvPr id="115" name="RoundRect115"/>
          <p:cNvSpPr/>
          <p:nvPr/>
        </p:nvSpPr>
        <p:spPr>
          <a:xfrm xmlns:a="http://schemas.openxmlformats.org/drawingml/2006/main">
            <a:off x="600000" y="1900000"/>
            <a:ext cx="5200000" cy="24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16" name="Rect116"/>
          <p:cNvSpPr/>
          <p:nvPr/>
        </p:nvSpPr>
        <p:spPr>
          <a:xfrm xmlns:a="http://schemas.openxmlformats.org/drawingml/2006/main">
            <a:off x="600000" y="1900000"/>
            <a:ext cx="408000" cy="4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17" name="Code117"/>
          <p:cNvSpPr/>
          <p:nvPr/>
        </p:nvSpPr>
        <p:spPr>
          <a:xfrm xmlns:a="http://schemas.openxmlformats.org/drawingml/2006/main">
            <a:off x="600000" y="1900000"/>
            <a:ext cx="5200000" cy="2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[CreateAssetMenu(menuName = </a:t>
            </a:r>
            <a:r>
              <a:rPr lang="ko-KR" sz="1100" b="0" dirty="0">
                <a:solidFill>
                  <a:srgbClr val="CE9178"/>
                </a:solidFill>
                <a:latin typeface="Consolas"/>
                <a:ea typeface="맑은 고딕"/>
              </a:rPr>
              <a:t>"GoldenFruit/FruitSpec"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)]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class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FruitSpec : ScriptableObject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[field: SerializeField]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int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Id {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get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;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private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set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; }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[field: SerializeField]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FruitType FruitType {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get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;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private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set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; }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[field: SerializeField]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string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DisplayName {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get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;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private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set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; }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[field: SerializeField]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Sprite Icon {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get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;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private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set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; }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[field: SerializeField]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GameObject Prefab {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get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;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private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set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; }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118" name="TextBox118"/>
          <p:cNvSpPr/>
          <p:nvPr/>
        </p:nvSpPr>
        <p:spPr>
          <a:xfrm xmlns:a="http://schemas.openxmlformats.org/drawingml/2006/main">
            <a:off x="6200000" y="1450000"/>
            <a:ext cx="56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66BB6A"/>
                </a:solidFill>
                <a:latin typeface="맑은 고딕"/>
                <a:ea typeface="맑은 고딕"/>
              </a:rPr>
              <a:t>FruitSpecLibrary — 과일 컬렉션</a:t>
            </a:r>
          </a:p>
        </p:txBody>
      </p:sp>
      <p:sp>
        <p:nvSpPr>
          <p:cNvPr id="119" name="RoundRect119"/>
          <p:cNvSpPr/>
          <p:nvPr/>
        </p:nvSpPr>
        <p:spPr>
          <a:xfrm xmlns:a="http://schemas.openxmlformats.org/drawingml/2006/main">
            <a:off x="6200000" y="1900000"/>
            <a:ext cx="5600000" cy="24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20" name="Rect120"/>
          <p:cNvSpPr/>
          <p:nvPr/>
        </p:nvSpPr>
        <p:spPr>
          <a:xfrm xmlns:a="http://schemas.openxmlformats.org/drawingml/2006/main">
            <a:off x="6200000" y="1900000"/>
            <a:ext cx="408000" cy="4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21" name="Code121"/>
          <p:cNvSpPr/>
          <p:nvPr/>
        </p:nvSpPr>
        <p:spPr>
          <a:xfrm xmlns:a="http://schemas.openxmlformats.org/drawingml/2006/main">
            <a:off x="6200000" y="1900000"/>
            <a:ext cx="5600000" cy="2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class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FruitSpecLibrary : ScriptableObject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[SerializeField] FruitSpec[] _fruitSpecs;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4EC9B0"/>
                </a:solidFill>
                <a:latin typeface="Consolas"/>
                <a:ea typeface="맑은 고딕"/>
              </a:rPr>
              <a:t>Dictionary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&lt;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int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, FruitSpec&gt; _tableById;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4EC9B0"/>
                </a:solidFill>
                <a:latin typeface="Consolas"/>
                <a:ea typeface="맑은 고딕"/>
              </a:rPr>
              <a:t>Dictionary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&lt;FruitType, FruitSpec&gt; _tableByType;</a:t>
            </a:r>
          </a:p>
          <a:p xmlns:a="http://schemas.openxmlformats.org/drawingml/2006/main">
            <a:pPr algn="l"/>
            <a:endParaRPr lang="ko-KR" sz="110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FruitSpec GetRandom() { ... }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FruitSpec GetById(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int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id) { ... }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FruitSpec GetByType(FruitType) { ... }</a:t>
            </a:r>
          </a:p>
          <a:p xmlns:a="http://schemas.openxmlformats.org/drawingml/2006/main">
            <a:pPr algn="l"/>
            <a:endParaRPr lang="ko-KR" sz="110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OnEnable() =&gt; BuildTables();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122" name="RoundRect122"/>
          <p:cNvSpPr/>
          <p:nvPr/>
        </p:nvSpPr>
        <p:spPr>
          <a:xfrm xmlns:a="http://schemas.openxmlformats.org/drawingml/2006/main">
            <a:off x="600000" y="4600000"/>
            <a:ext cx="11000000" cy="2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23" name="TextBox123"/>
          <p:cNvSpPr/>
          <p:nvPr/>
        </p:nvSpPr>
        <p:spPr>
          <a:xfrm xmlns:a="http://schemas.openxmlformats.org/drawingml/2006/main">
            <a:off x="800000" y="4700000"/>
            <a:ext cx="106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4FC3F7"/>
                </a:solidFill>
                <a:latin typeface="맑은 고딕"/>
                <a:ea typeface="맑은 고딕"/>
              </a:rPr>
              <a:t>ScriptableObject를 사용하는 이유</a:t>
            </a:r>
          </a:p>
        </p:txBody>
      </p:sp>
      <p:sp>
        <p:nvSpPr>
          <p:cNvPr id="124" name="TextBox124"/>
          <p:cNvSpPr/>
          <p:nvPr/>
        </p:nvSpPr>
        <p:spPr>
          <a:xfrm xmlns:a="http://schemas.openxmlformats.org/drawingml/2006/main">
            <a:off x="800000" y="5100000"/>
            <a:ext cx="106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●  게임 데이터를 코드에서 분리 → 기획자가 Inspector에서 직접 수정 가능</a:t>
            </a:r>
          </a:p>
        </p:txBody>
      </p:sp>
      <p:sp>
        <p:nvSpPr>
          <p:cNvPr id="125" name="TextBox125"/>
          <p:cNvSpPr/>
          <p:nvPr/>
        </p:nvSpPr>
        <p:spPr>
          <a:xfrm xmlns:a="http://schemas.openxmlformats.org/drawingml/2006/main">
            <a:off x="800000" y="5480000"/>
            <a:ext cx="106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●  에셋으로 저장 → 프리팹, 아이콘, 3D 모델을 직접 참조</a:t>
            </a:r>
          </a:p>
        </p:txBody>
      </p:sp>
      <p:sp>
        <p:nvSpPr>
          <p:cNvPr id="126" name="TextBox126"/>
          <p:cNvSpPr/>
          <p:nvPr/>
        </p:nvSpPr>
        <p:spPr>
          <a:xfrm xmlns:a="http://schemas.openxmlformats.org/drawingml/2006/main">
            <a:off x="800000" y="5860000"/>
            <a:ext cx="106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●  Dictionary 캐시(OnEnable)로 O(1) 조회 성능 확보</a:t>
            </a:r>
          </a:p>
        </p:txBody>
      </p:sp>
      <p:sp>
        <p:nvSpPr>
          <p:cNvPr id="127" name="TextBox127"/>
          <p:cNvSpPr/>
          <p:nvPr/>
        </p:nvSpPr>
        <p:spPr>
          <a:xfrm xmlns:a="http://schemas.openxmlformats.org/drawingml/2006/main">
            <a:off x="800000" y="6240000"/>
            <a:ext cx="106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●  [field: SerializeField]로 자동 프로퍼티를 Inspector에 노출하면서 외부 쓰기 차단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Rect128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29" name="Rect129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0" name="TextBox130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6. GameConstants 상수 관리</a:t>
            </a:r>
          </a:p>
        </p:txBody>
      </p:sp>
      <p:sp>
        <p:nvSpPr>
          <p:cNvPr id="131" name="RoundRect131"/>
          <p:cNvSpPr/>
          <p:nvPr/>
        </p:nvSpPr>
        <p:spPr>
          <a:xfrm xmlns:a="http://schemas.openxmlformats.org/drawingml/2006/main">
            <a:off x="600000" y="1400000"/>
            <a:ext cx="5400000" cy="3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2" name="Rect132"/>
          <p:cNvSpPr/>
          <p:nvPr/>
        </p:nvSpPr>
        <p:spPr>
          <a:xfrm xmlns:a="http://schemas.openxmlformats.org/drawingml/2006/main">
            <a:off x="600000" y="1400000"/>
            <a:ext cx="544000" cy="5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3" name="Code133"/>
          <p:cNvSpPr/>
          <p:nvPr/>
        </p:nvSpPr>
        <p:spPr>
          <a:xfrm xmlns:a="http://schemas.openxmlformats.org/drawingml/2006/main">
            <a:off x="600000" y="1400000"/>
            <a:ext cx="5400000" cy="3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static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class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GameConstants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200" b="0" dirty="0">
                <a:solidFill>
                  <a:srgbClr val="608B4E"/>
                </a:solidFill>
                <a:latin typeface="Consolas"/>
                <a:ea typeface="맑은 고딕"/>
              </a:rPr>
              <a:t>// 지도 관련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const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int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MapZoom = </a:t>
            </a:r>
            <a:r>
              <a:rPr lang="ko-KR" sz="1200" b="0" dirty="0">
                <a:solidFill>
                  <a:srgbClr val="B5CEA8"/>
                </a:solidFill>
                <a:latin typeface="Consolas"/>
                <a:ea typeface="맑은 고딕"/>
              </a:rPr>
              <a:t>16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;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const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int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MapTilePixels = </a:t>
            </a:r>
            <a:r>
              <a:rPr lang="ko-KR" sz="1200" b="0" dirty="0">
                <a:solidFill>
                  <a:srgbClr val="B5CEA8"/>
                </a:solidFill>
                <a:latin typeface="Consolas"/>
                <a:ea typeface="맑은 고딕"/>
              </a:rPr>
              <a:t>640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;</a:t>
            </a:r>
          </a:p>
          <a:p xmlns:a="http://schemas.openxmlformats.org/drawingml/2006/main">
            <a:pPr algn="l"/>
            <a:endParaRPr lang="ko-KR" sz="120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200" b="0" dirty="0">
                <a:solidFill>
                  <a:srgbClr val="608B4E"/>
                </a:solidFill>
                <a:latin typeface="Consolas"/>
                <a:ea typeface="맑은 고딕"/>
              </a:rPr>
              <a:t>// ML 탐지 관련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const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float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    DetectionConfidenceThreshold = </a:t>
            </a:r>
            <a:r>
              <a:rPr lang="ko-KR" sz="1200" b="0" dirty="0">
                <a:solidFill>
                  <a:srgbClr val="B5CEA8"/>
                </a:solidFill>
                <a:latin typeface="Consolas"/>
                <a:ea typeface="맑은 고딕"/>
              </a:rPr>
              <a:t>0.5f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;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const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int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YoloInputSize = </a:t>
            </a:r>
            <a:r>
              <a:rPr lang="ko-KR" sz="1200" b="0" dirty="0">
                <a:solidFill>
                  <a:srgbClr val="B5CEA8"/>
                </a:solidFill>
                <a:latin typeface="Consolas"/>
                <a:ea typeface="맑은 고딕"/>
              </a:rPr>
              <a:t>640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;</a:t>
            </a:r>
          </a:p>
          <a:p xmlns:a="http://schemas.openxmlformats.org/drawingml/2006/main">
            <a:pPr algn="l"/>
            <a:endParaRPr lang="ko-KR" sz="120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200" b="0" dirty="0">
                <a:solidFill>
                  <a:srgbClr val="608B4E"/>
                </a:solidFill>
                <a:latin typeface="Consolas"/>
                <a:ea typeface="맑은 고딕"/>
              </a:rPr>
              <a:t>// 게임플레이 관련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const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float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    FruitSpawnRadius = </a:t>
            </a:r>
            <a:r>
              <a:rPr lang="ko-KR" sz="1200" b="0" dirty="0">
                <a:solidFill>
                  <a:srgbClr val="B5CEA8"/>
                </a:solidFill>
                <a:latin typeface="Consolas"/>
                <a:ea typeface="맑은 고딕"/>
              </a:rPr>
              <a:t>200f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;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const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int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MaxFruitSpawns = </a:t>
            </a:r>
            <a:r>
              <a:rPr lang="ko-KR" sz="1200" b="0" dirty="0">
                <a:solidFill>
                  <a:srgbClr val="B5CEA8"/>
                </a:solidFill>
                <a:latin typeface="Consolas"/>
                <a:ea typeface="맑은 고딕"/>
              </a:rPr>
              <a:t>10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;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const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float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    FruitInteractionRadius = </a:t>
            </a:r>
            <a:r>
              <a:rPr lang="ko-KR" sz="1200" b="0" dirty="0">
                <a:solidFill>
                  <a:srgbClr val="B5CEA8"/>
                </a:solidFill>
                <a:latin typeface="Consolas"/>
                <a:ea typeface="맑은 고딕"/>
              </a:rPr>
              <a:t>5f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;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134" name="RoundRect134"/>
          <p:cNvSpPr/>
          <p:nvPr/>
        </p:nvSpPr>
        <p:spPr>
          <a:xfrm xmlns:a="http://schemas.openxmlformats.org/drawingml/2006/main">
            <a:off x="6300000" y="1400000"/>
            <a:ext cx="5500000" cy="5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5" name="Rect135"/>
          <p:cNvSpPr/>
          <p:nvPr/>
        </p:nvSpPr>
        <p:spPr>
          <a:xfrm xmlns:a="http://schemas.openxmlformats.org/drawingml/2006/main">
            <a:off x="6300000" y="1400000"/>
            <a:ext cx="884000" cy="88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6" name="TextBox136"/>
          <p:cNvSpPr/>
          <p:nvPr/>
        </p:nvSpPr>
        <p:spPr>
          <a:xfrm xmlns:a="http://schemas.openxmlformats.org/drawingml/2006/main">
            <a:off x="6500000" y="1500000"/>
            <a:ext cx="51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상수별 역할</a:t>
            </a:r>
          </a:p>
        </p:txBody>
      </p:sp>
      <p:sp>
        <p:nvSpPr>
          <p:cNvPr id="137" name="TextBox137"/>
          <p:cNvSpPr/>
          <p:nvPr/>
        </p:nvSpPr>
        <p:spPr>
          <a:xfrm xmlns:a="http://schemas.openxmlformats.org/drawingml/2006/main">
            <a:off x="6500000" y="2000000"/>
            <a:ext cx="2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1" dirty="0">
                <a:solidFill>
                  <a:srgbClr val="4FC3F7"/>
                </a:solidFill>
                <a:latin typeface="맑은 고딕"/>
                <a:ea typeface="맑은 고딕"/>
              </a:rPr>
              <a:t>MapZoom = 16</a:t>
            </a:r>
          </a:p>
        </p:txBody>
      </p:sp>
      <p:sp>
        <p:nvSpPr>
          <p:cNvPr id="138" name="TextBox138"/>
          <p:cNvSpPr/>
          <p:nvPr/>
        </p:nvSpPr>
        <p:spPr>
          <a:xfrm xmlns:a="http://schemas.openxmlformats.org/drawingml/2006/main">
            <a:off x="9000000" y="2000000"/>
            <a:ext cx="26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Google Maps 줌 레벨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(도시 수준 상세도)</a:t>
            </a:r>
          </a:p>
        </p:txBody>
      </p:sp>
      <p:sp>
        <p:nvSpPr>
          <p:cNvPr id="139" name="TextBox139"/>
          <p:cNvSpPr/>
          <p:nvPr/>
        </p:nvSpPr>
        <p:spPr>
          <a:xfrm xmlns:a="http://schemas.openxmlformats.org/drawingml/2006/main">
            <a:off x="6500000" y="2650000"/>
            <a:ext cx="2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1" dirty="0">
                <a:solidFill>
                  <a:srgbClr val="66BB6A"/>
                </a:solidFill>
                <a:latin typeface="맑은 고딕"/>
                <a:ea typeface="맑은 고딕"/>
              </a:rPr>
              <a:t>MapTilePixels = 640</a:t>
            </a:r>
          </a:p>
        </p:txBody>
      </p:sp>
      <p:sp>
        <p:nvSpPr>
          <p:cNvPr id="140" name="TextBox140"/>
          <p:cNvSpPr/>
          <p:nvPr/>
        </p:nvSpPr>
        <p:spPr>
          <a:xfrm xmlns:a="http://schemas.openxmlformats.org/drawingml/2006/main">
            <a:off x="9000000" y="2650000"/>
            <a:ext cx="26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타일 한 장의 픽셀 해상도</a:t>
            </a:r>
          </a:p>
        </p:txBody>
      </p:sp>
      <p:sp>
        <p:nvSpPr>
          <p:cNvPr id="141" name="TextBox141"/>
          <p:cNvSpPr/>
          <p:nvPr/>
        </p:nvSpPr>
        <p:spPr>
          <a:xfrm xmlns:a="http://schemas.openxmlformats.org/drawingml/2006/main">
            <a:off x="6500000" y="3300000"/>
            <a:ext cx="2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1" dirty="0">
                <a:solidFill>
                  <a:srgbClr val="FFA726"/>
                </a:solidFill>
                <a:latin typeface="맑은 고딕"/>
                <a:ea typeface="맑은 고딕"/>
              </a:rPr>
              <a:t>DetectionConfidenceThreshold</a:t>
            </a:r>
          </a:p>
        </p:txBody>
      </p:sp>
      <p:sp>
        <p:nvSpPr>
          <p:cNvPr id="142" name="TextBox142"/>
          <p:cNvSpPr/>
          <p:nvPr/>
        </p:nvSpPr>
        <p:spPr>
          <a:xfrm xmlns:a="http://schemas.openxmlformats.org/drawingml/2006/main">
            <a:off x="9000000" y="3300000"/>
            <a:ext cx="26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0.5 미만 탐지 결과 무시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(오탐 방지)</a:t>
            </a:r>
          </a:p>
        </p:txBody>
      </p:sp>
      <p:sp>
        <p:nvSpPr>
          <p:cNvPr id="143" name="TextBox143"/>
          <p:cNvSpPr/>
          <p:nvPr/>
        </p:nvSpPr>
        <p:spPr>
          <a:xfrm xmlns:a="http://schemas.openxmlformats.org/drawingml/2006/main">
            <a:off x="6500000" y="3950000"/>
            <a:ext cx="2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1" dirty="0">
                <a:solidFill>
                  <a:srgbClr val="FFEE58"/>
                </a:solidFill>
                <a:latin typeface="맑은 고딕"/>
                <a:ea typeface="맑은 고딕"/>
              </a:rPr>
              <a:t>YoloInputSize = 640</a:t>
            </a:r>
          </a:p>
        </p:txBody>
      </p:sp>
      <p:sp>
        <p:nvSpPr>
          <p:cNvPr id="144" name="TextBox144"/>
          <p:cNvSpPr/>
          <p:nvPr/>
        </p:nvSpPr>
        <p:spPr>
          <a:xfrm xmlns:a="http://schemas.openxmlformats.org/drawingml/2006/main">
            <a:off x="9000000" y="3950000"/>
            <a:ext cx="26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YOLO 모델 입력 텐서 크기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(640×640 고정)</a:t>
            </a:r>
          </a:p>
        </p:txBody>
      </p:sp>
      <p:sp>
        <p:nvSpPr>
          <p:cNvPr id="145" name="TextBox145"/>
          <p:cNvSpPr/>
          <p:nvPr/>
        </p:nvSpPr>
        <p:spPr>
          <a:xfrm xmlns:a="http://schemas.openxmlformats.org/drawingml/2006/main">
            <a:off x="6500000" y="4600000"/>
            <a:ext cx="2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1" dirty="0">
                <a:solidFill>
                  <a:srgbClr val="4FC3F7"/>
                </a:solidFill>
                <a:latin typeface="맑은 고딕"/>
                <a:ea typeface="맑은 고딕"/>
              </a:rPr>
              <a:t>FruitSpawnRadius = 200</a:t>
            </a:r>
          </a:p>
        </p:txBody>
      </p:sp>
      <p:sp>
        <p:nvSpPr>
          <p:cNvPr id="146" name="TextBox146"/>
          <p:cNvSpPr/>
          <p:nvPr/>
        </p:nvSpPr>
        <p:spPr>
          <a:xfrm xmlns:a="http://schemas.openxmlformats.org/drawingml/2006/main">
            <a:off x="9000000" y="4600000"/>
            <a:ext cx="26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플레이어 주변 200m 내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과일 스폰</a:t>
            </a:r>
          </a:p>
        </p:txBody>
      </p:sp>
      <p:sp>
        <p:nvSpPr>
          <p:cNvPr id="147" name="TextBox147"/>
          <p:cNvSpPr/>
          <p:nvPr/>
        </p:nvSpPr>
        <p:spPr>
          <a:xfrm xmlns:a="http://schemas.openxmlformats.org/drawingml/2006/main">
            <a:off x="6500000" y="5250000"/>
            <a:ext cx="2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1" dirty="0">
                <a:solidFill>
                  <a:srgbClr val="66BB6A"/>
                </a:solidFill>
                <a:latin typeface="맑은 고딕"/>
                <a:ea typeface="맑은 고딕"/>
              </a:rPr>
              <a:t>MaxFruitSpawns = 10</a:t>
            </a:r>
          </a:p>
        </p:txBody>
      </p:sp>
      <p:sp>
        <p:nvSpPr>
          <p:cNvPr id="148" name="TextBox148"/>
          <p:cNvSpPr/>
          <p:nvPr/>
        </p:nvSpPr>
        <p:spPr>
          <a:xfrm xmlns:a="http://schemas.openxmlformats.org/drawingml/2006/main">
            <a:off x="9000000" y="5250000"/>
            <a:ext cx="26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동시에 존재 가능한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최대 과일 수</a:t>
            </a:r>
          </a:p>
        </p:txBody>
      </p:sp>
      <p:sp>
        <p:nvSpPr>
          <p:cNvPr id="149" name="TextBox149"/>
          <p:cNvSpPr/>
          <p:nvPr/>
        </p:nvSpPr>
        <p:spPr>
          <a:xfrm xmlns:a="http://schemas.openxmlformats.org/drawingml/2006/main">
            <a:off x="600000" y="5000000"/>
            <a:ext cx="54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B0BEC5"/>
                </a:solidFill>
                <a:latin typeface="맑은 고딕"/>
                <a:ea typeface="맑은 고딕"/>
              </a:rPr>
              <a:t>static class + const 필드로 정의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B0BEC5"/>
                </a:solidFill>
                <a:latin typeface="맑은 고딕"/>
                <a:ea typeface="맑은 고딕"/>
              </a:rPr>
              <a:t>→ 컴파일 타임 상수, 별도 인스턴스 불필요</a:t>
            </a:r>
          </a:p>
        </p:txBody>
      </p:sp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0" name="Rect150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51" name="Rect151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52" name="TextBox152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7. MercatorProjection 유틸리티</a:t>
            </a:r>
          </a:p>
        </p:txBody>
      </p:sp>
      <p:sp>
        <p:nvSpPr>
          <p:cNvPr id="153" name="RoundRect153"/>
          <p:cNvSpPr/>
          <p:nvPr/>
        </p:nvSpPr>
        <p:spPr>
          <a:xfrm xmlns:a="http://schemas.openxmlformats.org/drawingml/2006/main">
            <a:off x="600000" y="1450000"/>
            <a:ext cx="10900000" cy="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54" name="TextBox154"/>
          <p:cNvSpPr/>
          <p:nvPr/>
        </p:nvSpPr>
        <p:spPr>
          <a:xfrm xmlns:a="http://schemas.openxmlformats.org/drawingml/2006/main">
            <a:off x="800000" y="1500000"/>
            <a:ext cx="105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Web Mercator 투영 = GPS 좌표(위도/경도)를 Unity 월드 좌표로 변환</a:t>
            </a:r>
          </a:p>
        </p:txBody>
      </p:sp>
      <p:sp>
        <p:nvSpPr>
          <p:cNvPr id="155" name="TextBox155"/>
          <p:cNvSpPr/>
          <p:nvPr/>
        </p:nvSpPr>
        <p:spPr>
          <a:xfrm xmlns:a="http://schemas.openxmlformats.org/drawingml/2006/main">
            <a:off x="800000" y="1850000"/>
            <a:ext cx="105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Google Maps 타일 시스템과 동일한 좌표 체계를 사용하여 지도 위 오브젝트를 정확히 배치</a:t>
            </a:r>
          </a:p>
        </p:txBody>
      </p:sp>
      <p:sp>
        <p:nvSpPr>
          <p:cNvPr id="156" name="TextBox156"/>
          <p:cNvSpPr/>
          <p:nvPr/>
        </p:nvSpPr>
        <p:spPr>
          <a:xfrm xmlns:a="http://schemas.openxmlformats.org/drawingml/2006/main">
            <a:off x="600000" y="2500000"/>
            <a:ext cx="10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FFFFFF"/>
                </a:solidFill>
                <a:latin typeface="맑은 고딕"/>
                <a:ea typeface="맑은 고딕"/>
              </a:rPr>
              <a:t>주요 변환 메서드</a:t>
            </a:r>
          </a:p>
        </p:txBody>
      </p:sp>
      <p:sp>
        <p:nvSpPr>
          <p:cNvPr id="157" name="RoundRect157"/>
          <p:cNvSpPr/>
          <p:nvPr/>
        </p:nvSpPr>
        <p:spPr>
          <a:xfrm xmlns:a="http://schemas.openxmlformats.org/drawingml/2006/main">
            <a:off x="600000" y="2950000"/>
            <a:ext cx="10900000" cy="5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58" name="TextBox158"/>
          <p:cNvSpPr/>
          <p:nvPr/>
        </p:nvSpPr>
        <p:spPr>
          <a:xfrm xmlns:a="http://schemas.openxmlformats.org/drawingml/2006/main">
            <a:off x="800000" y="3000000"/>
            <a:ext cx="5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4FC3F7"/>
                </a:solidFill>
                <a:latin typeface="맑은 고딕"/>
                <a:ea typeface="맑은 고딕"/>
              </a:rPr>
              <a:t>LonToUnityX / LatToUnityY</a:t>
            </a:r>
          </a:p>
        </p:txBody>
      </p:sp>
      <p:sp>
        <p:nvSpPr>
          <p:cNvPr id="159" name="TextBox159"/>
          <p:cNvSpPr/>
          <p:nvPr/>
        </p:nvSpPr>
        <p:spPr>
          <a:xfrm xmlns:a="http://schemas.openxmlformats.org/drawingml/2006/main">
            <a:off x="6400000" y="3000000"/>
            <a:ext cx="4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GPS 좌표 → Unity 월드 좌표</a:t>
            </a:r>
          </a:p>
        </p:txBody>
      </p:sp>
      <p:sp>
        <p:nvSpPr>
          <p:cNvPr id="160" name="RoundRect160"/>
          <p:cNvSpPr/>
          <p:nvPr/>
        </p:nvSpPr>
        <p:spPr>
          <a:xfrm xmlns:a="http://schemas.openxmlformats.org/drawingml/2006/main">
            <a:off x="600000" y="3580000"/>
            <a:ext cx="10900000" cy="5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61" name="TextBox161"/>
          <p:cNvSpPr/>
          <p:nvPr/>
        </p:nvSpPr>
        <p:spPr>
          <a:xfrm xmlns:a="http://schemas.openxmlformats.org/drawingml/2006/main">
            <a:off x="800000" y="3630000"/>
            <a:ext cx="5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66BB6A"/>
                </a:solidFill>
                <a:latin typeface="맑은 고딕"/>
                <a:ea typeface="맑은 고딕"/>
              </a:rPr>
              <a:t>UnityXToLon / UnityYToLat</a:t>
            </a:r>
          </a:p>
        </p:txBody>
      </p:sp>
      <p:sp>
        <p:nvSpPr>
          <p:cNvPr id="162" name="TextBox162"/>
          <p:cNvSpPr/>
          <p:nvPr/>
        </p:nvSpPr>
        <p:spPr>
          <a:xfrm xmlns:a="http://schemas.openxmlformats.org/drawingml/2006/main">
            <a:off x="6400000" y="3630000"/>
            <a:ext cx="4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Unity 좌표 → GPS 좌표 (역변환)</a:t>
            </a:r>
          </a:p>
        </p:txBody>
      </p:sp>
      <p:sp>
        <p:nvSpPr>
          <p:cNvPr id="163" name="RoundRect163"/>
          <p:cNvSpPr/>
          <p:nvPr/>
        </p:nvSpPr>
        <p:spPr>
          <a:xfrm xmlns:a="http://schemas.openxmlformats.org/drawingml/2006/main">
            <a:off x="600000" y="4210000"/>
            <a:ext cx="10900000" cy="5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64" name="TextBox164"/>
          <p:cNvSpPr/>
          <p:nvPr/>
        </p:nvSpPr>
        <p:spPr>
          <a:xfrm xmlns:a="http://schemas.openxmlformats.org/drawingml/2006/main">
            <a:off x="800000" y="4260000"/>
            <a:ext cx="5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FFA726"/>
                </a:solidFill>
                <a:latin typeface="맑은 고딕"/>
                <a:ea typeface="맑은 고딕"/>
              </a:rPr>
              <a:t>LonToX / LatToY</a:t>
            </a:r>
          </a:p>
        </p:txBody>
      </p:sp>
      <p:sp>
        <p:nvSpPr>
          <p:cNvPr id="165" name="TextBox165"/>
          <p:cNvSpPr/>
          <p:nvPr/>
        </p:nvSpPr>
        <p:spPr>
          <a:xfrm xmlns:a="http://schemas.openxmlformats.org/drawingml/2006/main">
            <a:off x="6400000" y="4260000"/>
            <a:ext cx="4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GPS 좌표 → 픽셀 좌표 (줌 레벨 21 기준)</a:t>
            </a:r>
          </a:p>
        </p:txBody>
      </p:sp>
      <p:sp>
        <p:nvSpPr>
          <p:cNvPr id="166" name="RoundRect166"/>
          <p:cNvSpPr/>
          <p:nvPr/>
        </p:nvSpPr>
        <p:spPr>
          <a:xfrm xmlns:a="http://schemas.openxmlformats.org/drawingml/2006/main">
            <a:off x="600000" y="4840000"/>
            <a:ext cx="10900000" cy="5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67" name="TextBox167"/>
          <p:cNvSpPr/>
          <p:nvPr/>
        </p:nvSpPr>
        <p:spPr>
          <a:xfrm xmlns:a="http://schemas.openxmlformats.org/drawingml/2006/main">
            <a:off x="800000" y="4890000"/>
            <a:ext cx="5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FFEE58"/>
                </a:solidFill>
                <a:latin typeface="맑은 고딕"/>
                <a:ea typeface="맑은 고딕"/>
              </a:rPr>
              <a:t>AdjustLonByPixels / AdjustLatByPixels</a:t>
            </a:r>
          </a:p>
        </p:txBody>
      </p:sp>
      <p:sp>
        <p:nvSpPr>
          <p:cNvPr id="168" name="TextBox168"/>
          <p:cNvSpPr/>
          <p:nvPr/>
        </p:nvSpPr>
        <p:spPr>
          <a:xfrm xmlns:a="http://schemas.openxmlformats.org/drawingml/2006/main">
            <a:off x="6400000" y="4890000"/>
            <a:ext cx="4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픽셀 단위 GPS 좌표 이동</a:t>
            </a:r>
          </a:p>
        </p:txBody>
      </p:sp>
      <p:sp>
        <p:nvSpPr>
          <p:cNvPr id="169" name="RoundRect169"/>
          <p:cNvSpPr/>
          <p:nvPr/>
        </p:nvSpPr>
        <p:spPr>
          <a:xfrm xmlns:a="http://schemas.openxmlformats.org/drawingml/2006/main">
            <a:off x="600000" y="5600000"/>
            <a:ext cx="10900000" cy="1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70" name="Rect170"/>
          <p:cNvSpPr/>
          <p:nvPr/>
        </p:nvSpPr>
        <p:spPr>
          <a:xfrm xmlns:a="http://schemas.openxmlformats.org/drawingml/2006/main">
            <a:off x="600000" y="5600000"/>
            <a:ext cx="170000" cy="1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71" name="Code171"/>
          <p:cNvSpPr/>
          <p:nvPr/>
        </p:nvSpPr>
        <p:spPr>
          <a:xfrm xmlns:a="http://schemas.openxmlformats.org/drawingml/2006/main">
            <a:off x="600000" y="5600000"/>
            <a:ext cx="109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608B4E"/>
                </a:solidFill>
                <a:latin typeface="Consolas"/>
                <a:ea typeface="맑은 고딕"/>
              </a:rPr>
              <a:t>// GPS → Unity 변환 핵심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double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UNITY_UNITS_PER_PIXEL = UNITY_UNIT / PIXELS;  </a:t>
            </a:r>
            <a:r>
              <a:rPr lang="ko-KR" sz="1200" b="0" dirty="0">
                <a:solidFill>
                  <a:srgbClr val="608B4E"/>
                </a:solidFill>
                <a:latin typeface="Consolas"/>
                <a:ea typeface="맑은 고딕"/>
              </a:rPr>
              <a:t>// 100.0 / 640.0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float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unityX = (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float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)(-deltaPx * UNITY_UNITS_PER_PIXEL);</a:t>
            </a:r>
          </a:p>
        </p:txBody>
      </p:sp>
    </p:spTree>
  </p:cSld>
  <p:clrMapOvr>
    <a:masterClrMapping xmlns:a="http://schemas.openxmlformats.org/drawingml/2006/main"/>
  </p:clrMapOvr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2" name="Rect172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73" name="Rect173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74" name="TextBox174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8. 요약</a:t>
            </a:r>
          </a:p>
        </p:txBody>
      </p:sp>
      <p:sp>
        <p:nvSpPr>
          <p:cNvPr id="175" name="RoundRect175"/>
          <p:cNvSpPr/>
          <p:nvPr/>
        </p:nvSpPr>
        <p:spPr>
          <a:xfrm xmlns:a="http://schemas.openxmlformats.org/drawingml/2006/main">
            <a:off x="600000" y="1600000"/>
            <a:ext cx="10900000" cy="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76" name="Rect176"/>
          <p:cNvSpPr/>
          <p:nvPr/>
        </p:nvSpPr>
        <p:spPr>
          <a:xfrm xmlns:a="http://schemas.openxmlformats.org/drawingml/2006/main">
            <a:off x="600000" y="1600000"/>
            <a:ext cx="136000" cy="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77" name="Rect177"/>
          <p:cNvSpPr/>
          <p:nvPr/>
        </p:nvSpPr>
        <p:spPr>
          <a:xfrm xmlns:a="http://schemas.openxmlformats.org/drawingml/2006/main">
            <a:off x="600000" y="1600000"/>
            <a:ext cx="80000" cy="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78" name="TextBox178"/>
          <p:cNvSpPr/>
          <p:nvPr/>
        </p:nvSpPr>
        <p:spPr>
          <a:xfrm xmlns:a="http://schemas.openxmlformats.org/drawingml/2006/main">
            <a:off x="900000" y="16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순수 데이터 모델</a:t>
            </a:r>
          </a:p>
        </p:txBody>
      </p:sp>
      <p:sp>
        <p:nvSpPr>
          <p:cNvPr id="179" name="TextBox179"/>
          <p:cNvSpPr/>
          <p:nvPr/>
        </p:nvSpPr>
        <p:spPr>
          <a:xfrm xmlns:a="http://schemas.openxmlformats.org/drawingml/2006/main">
            <a:off x="900000" y="2020000"/>
            <a:ext cx="104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B0BEC5"/>
                </a:solidFill>
                <a:latin typeface="맑은 고딕"/>
                <a:ea typeface="맑은 고딕"/>
              </a:rPr>
              <a:t>enum(FruitType), readonly struct(DetectionResult, GeoCoordinate), struct(FruitItem)</a:t>
            </a:r>
          </a:p>
        </p:txBody>
      </p:sp>
      <p:sp>
        <p:nvSpPr>
          <p:cNvPr id="180" name="RoundRect180"/>
          <p:cNvSpPr/>
          <p:nvPr/>
        </p:nvSpPr>
        <p:spPr>
          <a:xfrm xmlns:a="http://schemas.openxmlformats.org/drawingml/2006/main">
            <a:off x="600000" y="2500000"/>
            <a:ext cx="10900000" cy="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1" name="Rect181"/>
          <p:cNvSpPr/>
          <p:nvPr/>
        </p:nvSpPr>
        <p:spPr>
          <a:xfrm xmlns:a="http://schemas.openxmlformats.org/drawingml/2006/main">
            <a:off x="600000" y="2500000"/>
            <a:ext cx="136000" cy="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2" name="Rect182"/>
          <p:cNvSpPr/>
          <p:nvPr/>
        </p:nvSpPr>
        <p:spPr>
          <a:xfrm xmlns:a="http://schemas.openxmlformats.org/drawingml/2006/main">
            <a:off x="600000" y="2500000"/>
            <a:ext cx="80000" cy="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B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3" name="TextBox183"/>
          <p:cNvSpPr/>
          <p:nvPr/>
        </p:nvSpPr>
        <p:spPr>
          <a:xfrm xmlns:a="http://schemas.openxmlformats.org/drawingml/2006/main">
            <a:off x="900000" y="25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66BB6A"/>
                </a:solidFill>
                <a:latin typeface="맑은 고딕"/>
                <a:ea typeface="맑은 고딕"/>
              </a:rPr>
              <a:t>인터페이스 계약</a:t>
            </a:r>
          </a:p>
        </p:txBody>
      </p:sp>
      <p:sp>
        <p:nvSpPr>
          <p:cNvPr id="184" name="TextBox184"/>
          <p:cNvSpPr/>
          <p:nvPr/>
        </p:nvSpPr>
        <p:spPr>
          <a:xfrm xmlns:a="http://schemas.openxmlformats.org/drawingml/2006/main">
            <a:off x="900000" y="2920000"/>
            <a:ext cx="104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B0BEC5"/>
                </a:solidFill>
                <a:latin typeface="맑은 고딕"/>
                <a:ea typeface="맑은 고딕"/>
              </a:rPr>
              <a:t>IFruitDetector, ILocationProvider, IFruitRepository → 구현은 상위 Assembly</a:t>
            </a:r>
          </a:p>
        </p:txBody>
      </p:sp>
      <p:sp>
        <p:nvSpPr>
          <p:cNvPr id="185" name="RoundRect185"/>
          <p:cNvSpPr/>
          <p:nvPr/>
        </p:nvSpPr>
        <p:spPr>
          <a:xfrm xmlns:a="http://schemas.openxmlformats.org/drawingml/2006/main">
            <a:off x="600000" y="3400000"/>
            <a:ext cx="10900000" cy="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6" name="Rect186"/>
          <p:cNvSpPr/>
          <p:nvPr/>
        </p:nvSpPr>
        <p:spPr>
          <a:xfrm xmlns:a="http://schemas.openxmlformats.org/drawingml/2006/main">
            <a:off x="600000" y="3400000"/>
            <a:ext cx="136000" cy="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7" name="Rect187"/>
          <p:cNvSpPr/>
          <p:nvPr/>
        </p:nvSpPr>
        <p:spPr>
          <a:xfrm xmlns:a="http://schemas.openxmlformats.org/drawingml/2006/main">
            <a:off x="600000" y="3400000"/>
            <a:ext cx="80000" cy="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7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8" name="TextBox188"/>
          <p:cNvSpPr/>
          <p:nvPr/>
        </p:nvSpPr>
        <p:spPr>
          <a:xfrm xmlns:a="http://schemas.openxmlformats.org/drawingml/2006/main">
            <a:off x="900000" y="34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FFA726"/>
                </a:solidFill>
                <a:latin typeface="맑은 고딕"/>
                <a:ea typeface="맑은 고딕"/>
              </a:rPr>
              <a:t>ScriptableObject</a:t>
            </a:r>
          </a:p>
        </p:txBody>
      </p:sp>
      <p:sp>
        <p:nvSpPr>
          <p:cNvPr id="189" name="TextBox189"/>
          <p:cNvSpPr/>
          <p:nvPr/>
        </p:nvSpPr>
        <p:spPr>
          <a:xfrm xmlns:a="http://schemas.openxmlformats.org/drawingml/2006/main">
            <a:off x="900000" y="3820000"/>
            <a:ext cx="104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B0BEC5"/>
                </a:solidFill>
                <a:latin typeface="맑은 고딕"/>
                <a:ea typeface="맑은 고딕"/>
              </a:rPr>
              <a:t>FruitSpec(개별 정의) + FruitSpecLibrary(Dictionary 캐시 조회)</a:t>
            </a:r>
          </a:p>
        </p:txBody>
      </p:sp>
      <p:sp>
        <p:nvSpPr>
          <p:cNvPr id="190" name="RoundRect190"/>
          <p:cNvSpPr/>
          <p:nvPr/>
        </p:nvSpPr>
        <p:spPr>
          <a:xfrm xmlns:a="http://schemas.openxmlformats.org/drawingml/2006/main">
            <a:off x="600000" y="4300000"/>
            <a:ext cx="10900000" cy="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1" name="Rect191"/>
          <p:cNvSpPr/>
          <p:nvPr/>
        </p:nvSpPr>
        <p:spPr>
          <a:xfrm xmlns:a="http://schemas.openxmlformats.org/drawingml/2006/main">
            <a:off x="600000" y="4300000"/>
            <a:ext cx="136000" cy="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2" name="Rect192"/>
          <p:cNvSpPr/>
          <p:nvPr/>
        </p:nvSpPr>
        <p:spPr>
          <a:xfrm xmlns:a="http://schemas.openxmlformats.org/drawingml/2006/main">
            <a:off x="600000" y="4300000"/>
            <a:ext cx="80000" cy="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3" name="TextBox193"/>
          <p:cNvSpPr/>
          <p:nvPr/>
        </p:nvSpPr>
        <p:spPr>
          <a:xfrm xmlns:a="http://schemas.openxmlformats.org/drawingml/2006/main">
            <a:off x="900000" y="43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FFEE58"/>
                </a:solidFill>
                <a:latin typeface="맑은 고딕"/>
                <a:ea typeface="맑은 고딕"/>
              </a:rPr>
              <a:t>상수 &amp; 유틸리티</a:t>
            </a:r>
          </a:p>
        </p:txBody>
      </p:sp>
      <p:sp>
        <p:nvSpPr>
          <p:cNvPr id="194" name="TextBox194"/>
          <p:cNvSpPr/>
          <p:nvPr/>
        </p:nvSpPr>
        <p:spPr>
          <a:xfrm xmlns:a="http://schemas.openxmlformats.org/drawingml/2006/main">
            <a:off x="900000" y="4720000"/>
            <a:ext cx="104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B0BEC5"/>
                </a:solidFill>
                <a:latin typeface="맑은 고딕"/>
                <a:ea typeface="맑은 고딕"/>
              </a:rPr>
              <a:t>GameConstants(게임 파라미터), MercatorProjection(GPS ↔ Unity 좌표 변환)</a:t>
            </a:r>
          </a:p>
        </p:txBody>
      </p:sp>
      <p:sp>
        <p:nvSpPr>
          <p:cNvPr id="195" name="RoundRect195"/>
          <p:cNvSpPr/>
          <p:nvPr/>
        </p:nvSpPr>
        <p:spPr>
          <a:xfrm xmlns:a="http://schemas.openxmlformats.org/drawingml/2006/main">
            <a:off x="600000" y="5400000"/>
            <a:ext cx="10900000" cy="11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6" name="TextBox196"/>
          <p:cNvSpPr/>
          <p:nvPr/>
        </p:nvSpPr>
        <p:spPr>
          <a:xfrm xmlns:a="http://schemas.openxmlformats.org/drawingml/2006/main">
            <a:off x="800000" y="5450000"/>
            <a:ext cx="10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4FC3F7"/>
                </a:solidFill>
                <a:latin typeface="맑은 고딕"/>
                <a:ea typeface="맑은 고딕"/>
              </a:rPr>
              <a:t>Core 레이어 설계 원칙</a:t>
            </a:r>
          </a:p>
        </p:txBody>
      </p:sp>
      <p:sp>
        <p:nvSpPr>
          <p:cNvPr id="197" name="TextBox197"/>
          <p:cNvSpPr/>
          <p:nvPr/>
        </p:nvSpPr>
        <p:spPr>
          <a:xfrm xmlns:a="http://schemas.openxmlformats.org/drawingml/2006/main">
            <a:off x="800000" y="5900000"/>
            <a:ext cx="10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외부 의존성 없이 "무엇"만 정의 → 상위 레이어가 "어떻게"를 구현 → 모듈 교체 용이</a:t>
            </a:r>
          </a:p>
        </p:txBody>
      </p:sp>
    </p:spTree>
  </p:cSld>
  <p:clrMapOvr>
    <a:masterClrMapping xmlns:a="http://schemas.openxmlformats.org/drawingml/2006/main"/>
  </p:clrMapOvr>
</p:sld>
</file>

<file path=ppt/theme/theme1.xml><?xml version="1.0" encoding="utf-8"?>
<a:theme xmlns:a="http://schemas.openxmlformats.org/drawingml/2006/main" name="CustomTheme">
  <a:themeElements>
    <a:clrScheme name="Custom">
      <a:dk1>
        <a:sysClr val="windowText" lastClr="000000"/>
      </a:dk1>
      <a:lt1>
        <a:sysClr val="window" lastClr="FFFFFF"/>
      </a:lt1>
      <a:dk2>
        <a:srgbClr val="1B2A4A"/>
      </a:dk2>
      <a:lt2>
        <a:srgbClr val="E7E6E6"/>
      </a:lt2>
      <a:accent1>
        <a:srgbClr val="4FC3F7"/>
      </a:accent1>
      <a:accent2>
        <a:srgbClr val="66BB6A"/>
      </a:accent2>
      <a:accent3>
        <a:srgbClr val="FFA726"/>
      </a:accent3>
      <a:accent4>
        <a:srgbClr val="FFEE58"/>
      </a:accent4>
      <a:accent5>
        <a:srgbClr val="EF5350"/>
      </a:accent5>
      <a:accent6>
        <a:srgbClr val="B0BEC5"/>
      </a:accent6>
      <a:hlink>
        <a:srgbClr val="4FC3F7"/>
      </a:hlink>
      <a:folHlink>
        <a:srgbClr val="B0BEC5"/>
      </a:folHlink>
    </a:clrScheme>
    <a:fontScheme name="Custom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Custom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