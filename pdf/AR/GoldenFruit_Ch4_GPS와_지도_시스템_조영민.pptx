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entation.xml" ContentType="application/vnd.openxmlformats-officedocument.presentationml.presentation.main+xml"/>
</Types>
</file>

<file path=_rels/.rels>&#65279;<?xml version="1.0" encoding="utf-8"?>
<Relationships xmlns="http://schemas.openxmlformats.org/package/2006/relationships">
  <Relationship Type="http://schemas.openxmlformats.org/officeDocument/2006/relationships/officeDocument" Target="ppt/presentation.xml" Id="Ra13765af18204422" />
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"/>
  </p:sldMasterIdLst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</p:sldIdLst>
  <p:sldSz cx="12192000" cy="6858000" type="custom"/>
  <p:notesSz cx="6858000" cy="9144000"/>
</p:presentation>
</file>

<file path=ppt/_rels/presentation.xml.rels>&#65279;<?xml version="1.0" encoding="utf-8"?>
<Relationships xmlns="http://schemas.openxmlformats.org/package/2006/relationships">
  <Relationship Type="http://schemas.openxmlformats.org/officeDocument/2006/relationships/theme" Target="theme/theme1.xml" Id="rIdTheme" />
  <Relationship Type="http://schemas.openxmlformats.org/officeDocument/2006/relationships/slideMaster" Target="slideMasters/slideMaster1.xml" Id="rIdMaster" />
  <Relationship Type="http://schemas.openxmlformats.org/officeDocument/2006/relationships/slide" Target="slides/slide1.xml" Id="rId1" />
  <Relationship Type="http://schemas.openxmlformats.org/officeDocument/2006/relationships/slide" Target="slides/slide2.xml" Id="rId2" />
  <Relationship Type="http://schemas.openxmlformats.org/officeDocument/2006/relationships/slide" Target="slides/slide3.xml" Id="rId3" />
  <Relationship Type="http://schemas.openxmlformats.org/officeDocument/2006/relationships/slide" Target="slides/slide4.xml" Id="rId4" />
  <Relationship Type="http://schemas.openxmlformats.org/officeDocument/2006/relationships/slide" Target="slides/slide5.xml" Id="rId5" />
  <Relationship Type="http://schemas.openxmlformats.org/officeDocument/2006/relationships/slide" Target="slides/slide6.xml" Id="rId6" />
  <Relationship Type="http://schemas.openxmlformats.org/officeDocument/2006/relationships/slide" Target="slides/slide7.xml" Id="rId7" />
  <Relationship Type="http://schemas.openxmlformats.org/officeDocument/2006/relationships/slide" Target="slides/slide8.xml" Id="rId8" />
  <Relationship Type="http://schemas.openxmlformats.org/officeDocument/2006/relationships/slide" Target="slides/slide9.xml" Id="rId9" />
  <Relationship Type="http://schemas.openxmlformats.org/officeDocument/2006/relationships/slide" Target="slides/slide10.xml" Id="rId10" />
</Relationships>
</file>

<file path=ppt/slideLayouts/_rels/slideLayout1.xml.rels>&#65279;<?xml version="1.0" encoding="utf-8"?>
<Relationships xmlns="http://schemas.openxmlformats.org/package/2006/relationships">
  <Relationship Type="http://schemas.openxmlformats.org/officeDocument/2006/relationships/slideMaster" Target="../slideMasters/slideMaster1.xml" Id="rIdSldMaster" />
</Relationships>
</file>

<file path=ppt/slideLayouts/slideLayout1.xml><?xml version="1.0" encoding="utf-8"?>
<p:sldLayout xmlns:p="http://schemas.openxmlformats.org/presentationml/2006/main" type="blank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  <Relationship Type="http://schemas.openxmlformats.org/officeDocument/2006/relationships/theme" Target="../theme/theme1.xml" Id="rIdTheme" />
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"/>
  </p:sldLayoutIdLst>
  <p:txStyles>
    <p:titleStyle>
      <a:lvl1pPr xmlns:a="http://schemas.openxmlformats.org/drawingml/2006/main">
        <a:defRPr sz="2400"/>
      </a:lvl1pPr>
    </p:titleStyle>
    <p:bodyStyle>
      <a:lvl1pPr xmlns:a="http://schemas.openxmlformats.org/drawingml/2006/main">
        <a:defRPr sz="1800"/>
      </a:lvl1pPr>
    </p:bodyStyle>
    <p:otherStyle>
      <a:lvl1pPr xmlns:a="http://schemas.openxmlformats.org/drawingml/2006/main">
        <a:defRPr sz="1400"/>
      </a:lvl1pPr>
    </p:otherStyle>
  </p:txStyles>
</p:sldMaster>
</file>

<file path=ppt/slides/_rels/slide1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2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3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4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5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6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7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8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9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_rels/slide10.xml.rels>&#65279;<?xml version="1.0" encoding="utf-8"?>
<Relationships xmlns="http://schemas.openxmlformats.org/package/2006/relationships">
  <Relationship Type="http://schemas.openxmlformats.org/officeDocument/2006/relationships/slideLayout" Target="../slideLayouts/slideLayout1.xml" Id="rIdLayout" />
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2"/>
          <p:cNvSpPr/>
          <p:nvPr/>
        </p:nvSpPr>
        <p:spPr>
          <a:xfrm xmlns:a="http://schemas.openxmlformats.org/drawingml/2006/main">
            <a:off x="0" y="0"/>
            <a:ext cx="12192000" cy="12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" name="TextBox3"/>
          <p:cNvSpPr/>
          <p:nvPr/>
        </p:nvSpPr>
        <p:spPr>
          <a:xfrm xmlns:a="http://schemas.openxmlformats.org/drawingml/2006/main">
            <a:off x="800000" y="1800000"/>
            <a:ext cx="10500000" cy="1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4400" b="1" dirty="0">
                <a:solidFill>
                  <a:srgbClr val="FFFFFF"/>
                </a:solidFill>
                <a:latin typeface="맑은 고딕"/>
                <a:ea typeface="맑은 고딕"/>
              </a:rPr>
              <a:t>GoldenFruit 프로젝트</a:t>
            </a:r>
          </a:p>
        </p:txBody>
      </p:sp>
      <p:sp>
        <p:nvSpPr>
          <p:cNvPr id="4" name="TextBox4"/>
          <p:cNvSpPr/>
          <p:nvPr/>
        </p:nvSpPr>
        <p:spPr>
          <a:xfrm xmlns:a="http://schemas.openxmlformats.org/drawingml/2006/main">
            <a:off x="800000" y="3000000"/>
            <a:ext cx="10500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4FC3F7"/>
                </a:solidFill>
                <a:latin typeface="맑은 고딕"/>
                <a:ea typeface="맑은 고딕"/>
              </a:rPr>
              <a:t>Chapter 4: GPS와 지도 시스템</a:t>
            </a:r>
          </a:p>
        </p:txBody>
      </p:sp>
      <p:sp>
        <p:nvSpPr>
          <p:cNvPr id="5" name="TextBox5"/>
          <p:cNvSpPr/>
          <p:nvPr/>
        </p:nvSpPr>
        <p:spPr>
          <a:xfrm xmlns:a="http://schemas.openxmlformats.org/drawingml/2006/main">
            <a:off x="800000" y="3900000"/>
            <a:ext cx="105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B0BEC5"/>
                </a:solidFill>
                <a:latin typeface="맑은 고딕"/>
                <a:ea typeface="맑은 고딕"/>
              </a:rPr>
              <a:t>위치 서비스, Mercator 투영, 타일 스트리밍</a:t>
            </a:r>
          </a:p>
        </p:txBody>
      </p:sp>
      <p:sp>
        <p:nvSpPr>
          <p:cNvPr id="6" name="Rect6"/>
          <p:cNvSpPr/>
          <p:nvPr/>
        </p:nvSpPr>
        <p:spPr>
          <a:xfrm xmlns:a="http://schemas.openxmlformats.org/drawingml/2006/main">
            <a:off x="4500000" y="4800000"/>
            <a:ext cx="3200000" cy="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" name="TextBox7"/>
          <p:cNvSpPr/>
          <p:nvPr/>
        </p:nvSpPr>
        <p:spPr>
          <a:xfrm xmlns:a="http://schemas.openxmlformats.org/drawingml/2006/main">
            <a:off x="800000" y="51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800" b="0" dirty="0">
                <a:solidFill>
                  <a:srgbClr val="B0BEC5"/>
                </a:solidFill>
                <a:latin typeface="맑은 고딕"/>
                <a:ea typeface="맑은 고딕"/>
              </a:rPr>
              <a:t>조영민 강사</a:t>
            </a:r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8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" name="Rect9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" name="TextBox10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목 차</a:t>
            </a:r>
          </a:p>
        </p:txBody>
      </p:sp>
      <p:sp>
        <p:nvSpPr>
          <p:cNvPr id="11" name="TextBox11"/>
          <p:cNvSpPr/>
          <p:nvPr/>
        </p:nvSpPr>
        <p:spPr>
          <a:xfrm xmlns:a="http://schemas.openxmlformats.org/drawingml/2006/main">
            <a:off x="1500000" y="16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1.  ILocationProvider 인터페이스</a:t>
            </a:r>
          </a:p>
        </p:txBody>
      </p:sp>
      <p:sp>
        <p:nvSpPr>
          <p:cNvPr id="12" name="TextBox12"/>
          <p:cNvSpPr/>
          <p:nvPr/>
        </p:nvSpPr>
        <p:spPr>
          <a:xfrm xmlns:a="http://schemas.openxmlformats.org/drawingml/2006/main">
            <a:off x="1500000" y="21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2.  DeviceLocationProvider (실제 GPS)</a:t>
            </a:r>
          </a:p>
        </p:txBody>
      </p:sp>
      <p:sp>
        <p:nvSpPr>
          <p:cNvPr id="13" name="TextBox13"/>
          <p:cNvSpPr/>
          <p:nvPr/>
        </p:nvSpPr>
        <p:spPr>
          <a:xfrm xmlns:a="http://schemas.openxmlformats.org/drawingml/2006/main">
            <a:off x="1500000" y="26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3.  MockLocationProvider (에디터 테스트)</a:t>
            </a:r>
          </a:p>
        </p:txBody>
      </p:sp>
      <p:sp>
        <p:nvSpPr>
          <p:cNvPr id="14" name="TextBox14"/>
          <p:cNvSpPr/>
          <p:nvPr/>
        </p:nvSpPr>
        <p:spPr>
          <a:xfrm xmlns:a="http://schemas.openxmlformats.org/drawingml/2006/main">
            <a:off x="1500000" y="316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4.  GPSService 파사드</a:t>
            </a:r>
          </a:p>
        </p:txBody>
      </p:sp>
      <p:sp>
        <p:nvSpPr>
          <p:cNvPr id="15" name="TextBox15"/>
          <p:cNvSpPr/>
          <p:nvPr/>
        </p:nvSpPr>
        <p:spPr>
          <a:xfrm xmlns:a="http://schemas.openxmlformats.org/drawingml/2006/main">
            <a:off x="1500000" y="368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5.  Mercator 투영과 타일 좌표계</a:t>
            </a:r>
          </a:p>
        </p:txBody>
      </p:sp>
      <p:sp>
        <p:nvSpPr>
          <p:cNvPr id="16" name="TextBox16"/>
          <p:cNvSpPr/>
          <p:nvPr/>
        </p:nvSpPr>
        <p:spPr>
          <a:xfrm xmlns:a="http://schemas.openxmlformats.org/drawingml/2006/main">
            <a:off x="1500000" y="420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6.  MapTileManager (3×3 롤링 버퍼)</a:t>
            </a:r>
          </a:p>
        </p:txBody>
      </p:sp>
      <p:sp>
        <p:nvSpPr>
          <p:cNvPr id="17" name="TextBox17"/>
          <p:cNvSpPr/>
          <p:nvPr/>
        </p:nvSpPr>
        <p:spPr>
          <a:xfrm xmlns:a="http://schemas.openxmlformats.org/drawingml/2006/main">
            <a:off x="1500000" y="472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7.  과일 스폰 시스템</a:t>
            </a:r>
          </a:p>
        </p:txBody>
      </p:sp>
      <p:sp>
        <p:nvSpPr>
          <p:cNvPr id="18" name="TextBox18"/>
          <p:cNvSpPr/>
          <p:nvPr/>
        </p:nvSpPr>
        <p:spPr>
          <a:xfrm xmlns:a="http://schemas.openxmlformats.org/drawingml/2006/main">
            <a:off x="1500000" y="5240000"/>
            <a:ext cx="90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0" dirty="0">
                <a:solidFill>
                  <a:srgbClr val="FFFFFF"/>
                </a:solidFill>
                <a:latin typeface="맑은 고딕"/>
                <a:ea typeface="맑은 고딕"/>
              </a:rPr>
              <a:t>8.  요약</a:t>
            </a:r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1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" name="Rect2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" name="TextBox2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1. ILocationProvider 인터페이스</a:t>
            </a:r>
          </a:p>
        </p:txBody>
      </p:sp>
      <p:sp>
        <p:nvSpPr>
          <p:cNvPr id="22" name="RoundRect22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3" name="TextBox23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위치 데이터를 제공하는 계약 — Core 레이어에 정의</a:t>
            </a:r>
          </a:p>
        </p:txBody>
      </p:sp>
      <p:sp>
        <p:nvSpPr>
          <p:cNvPr id="24" name="TextBox24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실제 GPS와 Mock 구현을 동일한 인터페이스로 추상화</a:t>
            </a:r>
          </a:p>
        </p:txBody>
      </p:sp>
      <p:sp>
        <p:nvSpPr>
          <p:cNvPr id="25" name="RoundRect25"/>
          <p:cNvSpPr/>
          <p:nvPr/>
        </p:nvSpPr>
        <p:spPr>
          <a:xfrm xmlns:a="http://schemas.openxmlformats.org/drawingml/2006/main">
            <a:off x="600000" y="2400000"/>
            <a:ext cx="60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6" name="Rect26"/>
          <p:cNvSpPr/>
          <p:nvPr/>
        </p:nvSpPr>
        <p:spPr>
          <a:xfrm xmlns:a="http://schemas.openxmlformats.org/drawingml/2006/main">
            <a:off x="600000" y="240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7" name="Code27"/>
          <p:cNvSpPr/>
          <p:nvPr/>
        </p:nvSpPr>
        <p:spPr>
          <a:xfrm xmlns:a="http://schemas.openxmlformats.org/drawingml/2006/main">
            <a:off x="600000" y="2400000"/>
            <a:ext cx="6000000" cy="3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interface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ILocationProvider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IsRunning {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Latitude {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Longitude {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Altitude {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(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lat,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lon) Origin {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endParaRPr lang="ko-KR" sz="12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event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250" b="0" dirty="0">
                <a:solidFill>
                  <a:srgbClr val="4EC9B0"/>
                </a:solidFill>
                <a:latin typeface="Consolas"/>
                <a:ea typeface="맑은 고딕"/>
              </a:rPr>
              <a:t>Action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&lt;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,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&gt; OnLocationUpdated;</a:t>
            </a:r>
          </a:p>
          <a:p xmlns:a="http://schemas.openxmlformats.org/drawingml/2006/main">
            <a:pPr algn="l"/>
            <a:endParaRPr lang="ko-KR" sz="12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StartService();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2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 StopService();</a:t>
            </a:r>
          </a:p>
          <a:p xmlns:a="http://schemas.openxmlformats.org/drawingml/2006/main">
            <a:pPr algn="l"/>
            <a:r>
              <a:rPr lang="ko-KR" sz="12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28" name="RoundRect28"/>
          <p:cNvSpPr/>
          <p:nvPr/>
        </p:nvSpPr>
        <p:spPr>
          <a:xfrm xmlns:a="http://schemas.openxmlformats.org/drawingml/2006/main">
            <a:off x="6900000" y="2400000"/>
            <a:ext cx="4700000" cy="3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9" name="Rect29"/>
          <p:cNvSpPr/>
          <p:nvPr/>
        </p:nvSpPr>
        <p:spPr>
          <a:xfrm xmlns:a="http://schemas.openxmlformats.org/drawingml/2006/main">
            <a:off x="6900000" y="2400000"/>
            <a:ext cx="544000" cy="5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30" name="TextBox30"/>
          <p:cNvSpPr/>
          <p:nvPr/>
        </p:nvSpPr>
        <p:spPr>
          <a:xfrm xmlns:a="http://schemas.openxmlformats.org/drawingml/2006/main">
            <a:off x="7100000" y="2500000"/>
            <a:ext cx="4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멤버 설명</a:t>
            </a:r>
          </a:p>
        </p:txBody>
      </p:sp>
      <p:sp>
        <p:nvSpPr>
          <p:cNvPr id="31" name="TextBox31"/>
          <p:cNvSpPr/>
          <p:nvPr/>
        </p:nvSpPr>
        <p:spPr>
          <a:xfrm xmlns:a="http://schemas.openxmlformats.org/drawingml/2006/main">
            <a:off x="7100000" y="30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IsRunning</a:t>
            </a:r>
          </a:p>
        </p:txBody>
      </p:sp>
      <p:sp>
        <p:nvSpPr>
          <p:cNvPr id="32" name="TextBox32"/>
          <p:cNvSpPr/>
          <p:nvPr/>
        </p:nvSpPr>
        <p:spPr>
          <a:xfrm xmlns:a="http://schemas.openxmlformats.org/drawingml/2006/main">
            <a:off x="9300000" y="30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서비스 활성 상태</a:t>
            </a:r>
          </a:p>
        </p:txBody>
      </p:sp>
      <p:sp>
        <p:nvSpPr>
          <p:cNvPr id="33" name="TextBox33"/>
          <p:cNvSpPr/>
          <p:nvPr/>
        </p:nvSpPr>
        <p:spPr>
          <a:xfrm xmlns:a="http://schemas.openxmlformats.org/drawingml/2006/main">
            <a:off x="7100000" y="345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A726"/>
                </a:solidFill>
                <a:latin typeface="맑은 고딕"/>
                <a:ea typeface="맑은 고딕"/>
              </a:rPr>
              <a:t>Latitude / Longitude</a:t>
            </a:r>
          </a:p>
        </p:txBody>
      </p:sp>
      <p:sp>
        <p:nvSpPr>
          <p:cNvPr id="34" name="TextBox34"/>
          <p:cNvSpPr/>
          <p:nvPr/>
        </p:nvSpPr>
        <p:spPr>
          <a:xfrm xmlns:a="http://schemas.openxmlformats.org/drawingml/2006/main">
            <a:off x="9300000" y="345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현재 위도·경도</a:t>
            </a:r>
          </a:p>
        </p:txBody>
      </p:sp>
      <p:sp>
        <p:nvSpPr>
          <p:cNvPr id="35" name="TextBox35"/>
          <p:cNvSpPr/>
          <p:nvPr/>
        </p:nvSpPr>
        <p:spPr>
          <a:xfrm xmlns:a="http://schemas.openxmlformats.org/drawingml/2006/main">
            <a:off x="7100000" y="39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FFEE58"/>
                </a:solidFill>
                <a:latin typeface="맑은 고딕"/>
                <a:ea typeface="맑은 고딕"/>
              </a:rPr>
              <a:t>Origin</a:t>
            </a:r>
          </a:p>
        </p:txBody>
      </p:sp>
      <p:sp>
        <p:nvSpPr>
          <p:cNvPr id="36" name="TextBox36"/>
          <p:cNvSpPr/>
          <p:nvPr/>
        </p:nvSpPr>
        <p:spPr>
          <a:xfrm xmlns:a="http://schemas.openxmlformats.org/drawingml/2006/main">
            <a:off x="9300000" y="39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시작 지점 (기준 좌표)</a:t>
            </a:r>
          </a:p>
        </p:txBody>
      </p:sp>
      <p:sp>
        <p:nvSpPr>
          <p:cNvPr id="37" name="TextBox37"/>
          <p:cNvSpPr/>
          <p:nvPr/>
        </p:nvSpPr>
        <p:spPr>
          <a:xfrm xmlns:a="http://schemas.openxmlformats.org/drawingml/2006/main">
            <a:off x="7100000" y="435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4FC3F7"/>
                </a:solidFill>
                <a:latin typeface="맑은 고딕"/>
                <a:ea typeface="맑은 고딕"/>
              </a:rPr>
              <a:t>OnLocationUpdated</a:t>
            </a:r>
          </a:p>
        </p:txBody>
      </p:sp>
      <p:sp>
        <p:nvSpPr>
          <p:cNvPr id="38" name="TextBox38"/>
          <p:cNvSpPr/>
          <p:nvPr/>
        </p:nvSpPr>
        <p:spPr>
          <a:xfrm xmlns:a="http://schemas.openxmlformats.org/drawingml/2006/main">
            <a:off x="9300000" y="435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위치 갱신 이벤트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(위도, 경도, 고도, 정확도, 타임스탬프)</a:t>
            </a:r>
          </a:p>
        </p:txBody>
      </p:sp>
      <p:sp>
        <p:nvSpPr>
          <p:cNvPr id="39" name="TextBox39"/>
          <p:cNvSpPr/>
          <p:nvPr/>
        </p:nvSpPr>
        <p:spPr>
          <a:xfrm xmlns:a="http://schemas.openxmlformats.org/drawingml/2006/main">
            <a:off x="7100000" y="48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1" dirty="0">
                <a:solidFill>
                  <a:srgbClr val="66BB6A"/>
                </a:solidFill>
                <a:latin typeface="맑은 고딕"/>
                <a:ea typeface="맑은 고딕"/>
              </a:rPr>
              <a:t>StartService / StopService</a:t>
            </a:r>
          </a:p>
        </p:txBody>
      </p:sp>
      <p:sp>
        <p:nvSpPr>
          <p:cNvPr id="40" name="TextBox40"/>
          <p:cNvSpPr/>
          <p:nvPr/>
        </p:nvSpPr>
        <p:spPr>
          <a:xfrm xmlns:a="http://schemas.openxmlformats.org/drawingml/2006/main">
            <a:off x="9300000" y="4800000"/>
            <a:ext cx="2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서비스 시작·중지</a:t>
            </a:r>
          </a:p>
        </p:txBody>
      </p:sp>
      <p:sp>
        <p:nvSpPr>
          <p:cNvPr id="41" name="TextBox41"/>
          <p:cNvSpPr/>
          <p:nvPr/>
        </p:nvSpPr>
        <p:spPr>
          <a:xfrm xmlns:a="http://schemas.openxmlformats.org/drawingml/2006/main">
            <a:off x="600000" y="5900000"/>
            <a:ext cx="109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Origin = GPS 서비스가 처음 시작될 때의 좌표 → 상대 좌표 계산의 기준점</a:t>
            </a:r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42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3" name="Rect43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4" name="TextBox44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2. DeviceLocationProvider (실제 GPS)</a:t>
            </a:r>
          </a:p>
        </p:txBody>
      </p:sp>
      <p:sp>
        <p:nvSpPr>
          <p:cNvPr id="45" name="RoundRect45"/>
          <p:cNvSpPr/>
          <p:nvPr/>
        </p:nvSpPr>
        <p:spPr>
          <a:xfrm xmlns:a="http://schemas.openxmlformats.org/drawingml/2006/main">
            <a:off x="400000" y="1400000"/>
            <a:ext cx="70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6" name="Rect46"/>
          <p:cNvSpPr/>
          <p:nvPr/>
        </p:nvSpPr>
        <p:spPr>
          <a:xfrm xmlns:a="http://schemas.openxmlformats.org/drawingml/2006/main">
            <a:off x="4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7" name="Code47"/>
          <p:cNvSpPr/>
          <p:nvPr/>
        </p:nvSpPr>
        <p:spPr>
          <a:xfrm xmlns:a="http://schemas.openxmlformats.org/drawingml/2006/main">
            <a:off x="400000" y="1400000"/>
            <a:ext cx="7000000" cy="5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DeviceLocationProvider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: MonoBehaviour, ILocationProvider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IEnumerator C_RefreshGPSData()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1. 위치 권한 요청 (Android)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(!Permission.HasUserAuthorizedPermission(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    Permission.FineLocation))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Permission.RequestUserPermission(...);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WaitUntil(() =&gt; ...);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2. GPS 활성화 확인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if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(!Input.location.isEnabledByUser)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Application.Quit();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3. 위치 서비스 시작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Input.location.Start(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5f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5f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... 초기화 대기 (최대 10초) ...</a:t>
            </a:r>
          </a:p>
          <a:p xmlns:a="http://schemas.openxmlformats.org/drawingml/2006/main">
            <a:pPr algn="l"/>
            <a:endParaRPr lang="ko-KR" sz="10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608B4E"/>
                </a:solidFill>
                <a:latin typeface="Consolas"/>
                <a:ea typeface="맑은 고딕"/>
              </a:rPr>
              <a:t>// 4. Origin 설정 + 주기적 갱신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Origin = (info.latitude, info.longitude);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while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true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{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info = Input.location.lastData;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OnLocationUpdated?.Invoke(...);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yield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return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050" b="0" dirty="0">
                <a:solidFill>
                  <a:srgbClr val="569CD6"/>
                </a:solidFill>
                <a:latin typeface="Consolas"/>
                <a:ea typeface="맑은 고딕"/>
              </a:rPr>
              <a:t>new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WaitForSeconds(</a:t>
            </a:r>
            <a:r>
              <a:rPr lang="ko-KR" sz="1050" b="0" dirty="0">
                <a:solidFill>
                  <a:srgbClr val="B5CEA8"/>
                </a:solidFill>
                <a:latin typeface="Consolas"/>
                <a:ea typeface="맑은 고딕"/>
              </a:rPr>
              <a:t>1f</a:t>
            </a:r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48" name="RoundRect48"/>
          <p:cNvSpPr/>
          <p:nvPr/>
        </p:nvSpPr>
        <p:spPr>
          <a:xfrm xmlns:a="http://schemas.openxmlformats.org/drawingml/2006/main">
            <a:off x="7700000" y="1400000"/>
            <a:ext cx="41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49" name="Rect49"/>
          <p:cNvSpPr/>
          <p:nvPr/>
        </p:nvSpPr>
        <p:spPr>
          <a:xfrm xmlns:a="http://schemas.openxmlformats.org/drawingml/2006/main">
            <a:off x="7700000" y="1400000"/>
            <a:ext cx="697000" cy="69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50" name="TextBox50"/>
          <p:cNvSpPr/>
          <p:nvPr/>
        </p:nvSpPr>
        <p:spPr>
          <a:xfrm xmlns:a="http://schemas.openxmlformats.org/drawingml/2006/main">
            <a:off x="7900000" y="15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동작 흐름</a:t>
            </a:r>
          </a:p>
        </p:txBody>
      </p:sp>
      <p:sp>
        <p:nvSpPr>
          <p:cNvPr id="51" name="TextBox51"/>
          <p:cNvSpPr/>
          <p:nvPr/>
        </p:nvSpPr>
        <p:spPr>
          <a:xfrm xmlns:a="http://schemas.openxmlformats.org/drawingml/2006/main">
            <a:off x="7900000" y="2100000"/>
            <a:ext cx="37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1. 권한 요청</a:t>
            </a:r>
          </a:p>
        </p:txBody>
      </p:sp>
      <p:sp>
        <p:nvSpPr>
          <p:cNvPr id="52" name="TextBox52"/>
          <p:cNvSpPr/>
          <p:nvPr/>
        </p:nvSpPr>
        <p:spPr>
          <a:xfrm xmlns:a="http://schemas.openxmlformats.org/drawingml/2006/main">
            <a:off x="7900000" y="24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Android: FineLocation 권한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사용자 승인 대기</a:t>
            </a:r>
          </a:p>
        </p:txBody>
      </p:sp>
      <p:sp>
        <p:nvSpPr>
          <p:cNvPr id="53" name="TextBox53"/>
          <p:cNvSpPr/>
          <p:nvPr/>
        </p:nvSpPr>
        <p:spPr>
          <a:xfrm xmlns:a="http://schemas.openxmlformats.org/drawingml/2006/main">
            <a:off x="7900000" y="2850000"/>
            <a:ext cx="37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2. GPS 확인</a:t>
            </a:r>
          </a:p>
        </p:txBody>
      </p:sp>
      <p:sp>
        <p:nvSpPr>
          <p:cNvPr id="54" name="TextBox54"/>
          <p:cNvSpPr/>
          <p:nvPr/>
        </p:nvSpPr>
        <p:spPr>
          <a:xfrm xmlns:a="http://schemas.openxmlformats.org/drawingml/2006/main">
            <a:off x="7900000" y="315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기기의 GPS 활성화 여부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비활성 시 앱 종료</a:t>
            </a:r>
          </a:p>
        </p:txBody>
      </p:sp>
      <p:sp>
        <p:nvSpPr>
          <p:cNvPr id="55" name="TextBox55"/>
          <p:cNvSpPr/>
          <p:nvPr/>
        </p:nvSpPr>
        <p:spPr>
          <a:xfrm xmlns:a="http://schemas.openxmlformats.org/drawingml/2006/main">
            <a:off x="7900000" y="3600000"/>
            <a:ext cx="37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3. 서비스 시작</a:t>
            </a:r>
          </a:p>
        </p:txBody>
      </p:sp>
      <p:sp>
        <p:nvSpPr>
          <p:cNvPr id="56" name="TextBox56"/>
          <p:cNvSpPr/>
          <p:nvPr/>
        </p:nvSpPr>
        <p:spPr>
          <a:xfrm xmlns:a="http://schemas.openxmlformats.org/drawingml/2006/main">
            <a:off x="7900000" y="39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Input.location.Start()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정확도 5m, 갱신 거리 5m</a:t>
            </a:r>
          </a:p>
        </p:txBody>
      </p:sp>
      <p:sp>
        <p:nvSpPr>
          <p:cNvPr id="57" name="TextBox57"/>
          <p:cNvSpPr/>
          <p:nvPr/>
        </p:nvSpPr>
        <p:spPr>
          <a:xfrm xmlns:a="http://schemas.openxmlformats.org/drawingml/2006/main">
            <a:off x="7900000" y="4350000"/>
            <a:ext cx="37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EF5350"/>
                </a:solidFill>
                <a:latin typeface="맑은 고딕"/>
                <a:ea typeface="맑은 고딕"/>
              </a:rPr>
              <a:t>4. 초기화 대기</a:t>
            </a:r>
          </a:p>
        </p:txBody>
      </p:sp>
      <p:sp>
        <p:nvSpPr>
          <p:cNvPr id="58" name="TextBox58"/>
          <p:cNvSpPr/>
          <p:nvPr/>
        </p:nvSpPr>
        <p:spPr>
          <a:xfrm xmlns:a="http://schemas.openxmlformats.org/drawingml/2006/main">
            <a:off x="7900000" y="465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최대 10초 대기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실패 시 예외 발생</a:t>
            </a:r>
          </a:p>
        </p:txBody>
      </p:sp>
      <p:sp>
        <p:nvSpPr>
          <p:cNvPr id="59" name="TextBox59"/>
          <p:cNvSpPr/>
          <p:nvPr/>
        </p:nvSpPr>
        <p:spPr>
          <a:xfrm xmlns:a="http://schemas.openxmlformats.org/drawingml/2006/main">
            <a:off x="7900000" y="5100000"/>
            <a:ext cx="37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5. 주기적 갱신</a:t>
            </a:r>
          </a:p>
        </p:txBody>
      </p:sp>
      <p:sp>
        <p:nvSpPr>
          <p:cNvPr id="60" name="TextBox60"/>
          <p:cNvSpPr/>
          <p:nvPr/>
        </p:nvSpPr>
        <p:spPr>
          <a:xfrm xmlns:a="http://schemas.openxmlformats.org/drawingml/2006/main">
            <a:off x="7900000" y="5400000"/>
            <a:ext cx="37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1초마다 lastData 읽기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OnLocationUpdated 이벤트 발생</a:t>
            </a:r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Rect6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2" name="Rect6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3" name="TextBox6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3. MockLocationProvider (에디터 테스트)</a:t>
            </a:r>
          </a:p>
        </p:txBody>
      </p:sp>
      <p:sp>
        <p:nvSpPr>
          <p:cNvPr id="64" name="RoundRect64"/>
          <p:cNvSpPr/>
          <p:nvPr/>
        </p:nvSpPr>
        <p:spPr>
          <a:xfrm xmlns:a="http://schemas.openxmlformats.org/drawingml/2006/main">
            <a:off x="600000" y="145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5" name="TextBox65"/>
          <p:cNvSpPr/>
          <p:nvPr/>
        </p:nvSpPr>
        <p:spPr>
          <a:xfrm xmlns:a="http://schemas.openxmlformats.org/drawingml/2006/main">
            <a:off x="800000" y="150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에디터에서 GPS 없이 WASD 키보드로 지도 위를 이동하는 Mock 구현체</a:t>
            </a:r>
          </a:p>
        </p:txBody>
      </p:sp>
      <p:sp>
        <p:nvSpPr>
          <p:cNvPr id="66" name="RoundRect66"/>
          <p:cNvSpPr/>
          <p:nvPr/>
        </p:nvSpPr>
        <p:spPr>
          <a:xfrm xmlns:a="http://schemas.openxmlformats.org/drawingml/2006/main">
            <a:off x="600000" y="2300000"/>
            <a:ext cx="6000000" cy="3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7" name="Rect67"/>
          <p:cNvSpPr/>
          <p:nvPr/>
        </p:nvSpPr>
        <p:spPr>
          <a:xfrm xmlns:a="http://schemas.openxmlformats.org/drawingml/2006/main">
            <a:off x="600000" y="2300000"/>
            <a:ext cx="595000" cy="59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68" name="Code68"/>
          <p:cNvSpPr/>
          <p:nvPr/>
        </p:nvSpPr>
        <p:spPr>
          <a:xfrm xmlns:a="http://schemas.openxmlformats.org/drawingml/2006/main">
            <a:off x="600000" y="2300000"/>
            <a:ext cx="6000000" cy="3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MockLocationProvider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: MonoBehaviour, ILocationProvider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서울 강남역 근처 초기 좌표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Latitude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37.4946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Longitude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127.0276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 Origin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=&gt; (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37.4946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127.0276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Update()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MoveMockPlayer();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WASD 이동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UpdateLocation();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위치 갱신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UpdateLocation()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Unity 좌표 → GPS 좌표 역변환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Latitude = Origin.latitude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+ MercatorProjection.UnityYToLat(...);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69" name="RoundRect69"/>
          <p:cNvSpPr/>
          <p:nvPr/>
        </p:nvSpPr>
        <p:spPr>
          <a:xfrm xmlns:a="http://schemas.openxmlformats.org/drawingml/2006/main">
            <a:off x="6900000" y="2300000"/>
            <a:ext cx="4900000" cy="3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0" name="Rect70"/>
          <p:cNvSpPr/>
          <p:nvPr/>
        </p:nvSpPr>
        <p:spPr>
          <a:xfrm xmlns:a="http://schemas.openxmlformats.org/drawingml/2006/main">
            <a:off x="6900000" y="2300000"/>
            <a:ext cx="595000" cy="59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1" name="TextBox71"/>
          <p:cNvSpPr/>
          <p:nvPr/>
        </p:nvSpPr>
        <p:spPr>
          <a:xfrm xmlns:a="http://schemas.openxmlformats.org/drawingml/2006/main">
            <a:off x="7100000" y="24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Mock의 동작 원리</a:t>
            </a:r>
          </a:p>
        </p:txBody>
      </p:sp>
      <p:sp>
        <p:nvSpPr>
          <p:cNvPr id="72" name="TextBox72"/>
          <p:cNvSpPr/>
          <p:nvPr/>
        </p:nvSpPr>
        <p:spPr>
          <a:xfrm xmlns:a="http://schemas.openxmlformats.org/drawingml/2006/main">
            <a:off x="7100000" y="3000000"/>
            <a:ext cx="4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1. 가상 플레이어(MockPlayer) 생성</a:t>
            </a:r>
          </a:p>
        </p:txBody>
      </p:sp>
      <p:sp>
        <p:nvSpPr>
          <p:cNvPr id="73" name="TextBox73"/>
          <p:cNvSpPr/>
          <p:nvPr/>
        </p:nvSpPr>
        <p:spPr>
          <a:xfrm xmlns:a="http://schemas.openxmlformats.org/drawingml/2006/main">
            <a:off x="7100000" y="3500000"/>
            <a:ext cx="4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2. GetAxisRaw로 WASD 입력 감지</a:t>
            </a:r>
          </a:p>
        </p:txBody>
      </p:sp>
      <p:sp>
        <p:nvSpPr>
          <p:cNvPr id="74" name="TextBox74"/>
          <p:cNvSpPr/>
          <p:nvPr/>
        </p:nvSpPr>
        <p:spPr>
          <a:xfrm xmlns:a="http://schemas.openxmlformats.org/drawingml/2006/main">
            <a:off x="7100000" y="4000000"/>
            <a:ext cx="4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3. Unity 월드 좌표로 이동 처리</a:t>
            </a:r>
          </a:p>
        </p:txBody>
      </p:sp>
      <p:sp>
        <p:nvSpPr>
          <p:cNvPr id="75" name="TextBox75"/>
          <p:cNvSpPr/>
          <p:nvPr/>
        </p:nvSpPr>
        <p:spPr>
          <a:xfrm xmlns:a="http://schemas.openxmlformats.org/drawingml/2006/main">
            <a:off x="7100000" y="4500000"/>
            <a:ext cx="4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4. MercatorProjection으로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   Unity 좌표 → GPS 좌표 역변환</a:t>
            </a:r>
          </a:p>
        </p:txBody>
      </p:sp>
      <p:sp>
        <p:nvSpPr>
          <p:cNvPr id="76" name="TextBox76"/>
          <p:cNvSpPr/>
          <p:nvPr/>
        </p:nvSpPr>
        <p:spPr>
          <a:xfrm xmlns:a="http://schemas.openxmlformats.org/drawingml/2006/main">
            <a:off x="7100000" y="5000000"/>
            <a:ext cx="45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●  5. OnLocationUpdated 이벤트 발생</a:t>
            </a:r>
          </a:p>
        </p:txBody>
      </p:sp>
      <p:sp>
        <p:nvSpPr>
          <p:cNvPr id="77" name="RoundRect77"/>
          <p:cNvSpPr/>
          <p:nvPr/>
        </p:nvSpPr>
        <p:spPr>
          <a:xfrm xmlns:a="http://schemas.openxmlformats.org/drawingml/2006/main">
            <a:off x="600000" y="6100000"/>
            <a:ext cx="10900000" cy="5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78" name="TextBox78"/>
          <p:cNvSpPr/>
          <p:nvPr/>
        </p:nvSpPr>
        <p:spPr>
          <a:xfrm xmlns:a="http://schemas.openxmlformats.org/drawingml/2006/main">
            <a:off x="800000" y="6150000"/>
            <a:ext cx="10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4FC3F7"/>
                </a:solidFill>
                <a:latin typeface="맑은 고딕"/>
                <a:ea typeface="맑은 고딕"/>
              </a:rPr>
              <a:t>실제 GPS와 Mock이 동일한 인터페이스 → GPSService는 어떤 구현체인지 모른 채 동작</a:t>
            </a:r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Rect79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0" name="Rect80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1" name="TextBox81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4. GPSService 파사드</a:t>
            </a:r>
          </a:p>
        </p:txBody>
      </p:sp>
      <p:sp>
        <p:nvSpPr>
          <p:cNvPr id="82" name="RoundRect82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3" name="TextBox83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파사드(Facade) 패턴: ILocationProvider를 감싸서 간단한 API 제공</a:t>
            </a:r>
          </a:p>
        </p:txBody>
      </p:sp>
      <p:sp>
        <p:nvSpPr>
          <p:cNvPr id="84" name="TextBox84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다른 컴포넌트는 GPSService만 주입받아 사용 → 위치 서비스 내부 구현을 숨김</a:t>
            </a:r>
          </a:p>
        </p:txBody>
      </p:sp>
      <p:sp>
        <p:nvSpPr>
          <p:cNvPr id="85" name="RoundRect85"/>
          <p:cNvSpPr/>
          <p:nvPr/>
        </p:nvSpPr>
        <p:spPr>
          <a:xfrm xmlns:a="http://schemas.openxmlformats.org/drawingml/2006/main">
            <a:off x="600000" y="2400000"/>
            <a:ext cx="60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6" name="Rect86"/>
          <p:cNvSpPr/>
          <p:nvPr/>
        </p:nvSpPr>
        <p:spPr>
          <a:xfrm xmlns:a="http://schemas.openxmlformats.org/drawingml/2006/main">
            <a:off x="600000" y="24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7" name="Code87"/>
          <p:cNvSpPr/>
          <p:nvPr/>
        </p:nvSpPr>
        <p:spPr>
          <a:xfrm xmlns:a="http://schemas.openxmlformats.org/drawingml/2006/main">
            <a:off x="600000" y="2400000"/>
            <a:ext cx="6000000" cy="2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GPSService : MonoBehaviour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[Inject]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ILocationProvider _locationProvider;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IsReady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=&gt; _locationProvider?.IsRunning ??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false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Latitude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=&gt; IsReady ? _locationProvider.Latitude :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Longitude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=&gt; IsReady ? _locationProvider.Longitude :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double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 Origin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=&gt; IsReady ? _locationProvider.Origin : (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5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endParaRPr lang="ko-KR" sz="115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5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Start()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        =&gt; _locationProvider.StartService();</a:t>
            </a:r>
          </a:p>
          <a:p xmlns:a="http://schemas.openxmlformats.org/drawingml/2006/main">
            <a:pPr algn="l"/>
            <a:r>
              <a:rPr lang="ko-KR" sz="115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88" name="RoundRect88"/>
          <p:cNvSpPr/>
          <p:nvPr/>
        </p:nvSpPr>
        <p:spPr>
          <a:xfrm xmlns:a="http://schemas.openxmlformats.org/drawingml/2006/main">
            <a:off x="6900000" y="2400000"/>
            <a:ext cx="4900000" cy="2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89" name="Rect89"/>
          <p:cNvSpPr/>
          <p:nvPr/>
        </p:nvSpPr>
        <p:spPr>
          <a:xfrm xmlns:a="http://schemas.openxmlformats.org/drawingml/2006/main">
            <a:off x="6900000" y="2400000"/>
            <a:ext cx="476000" cy="47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0" name="TextBox90"/>
          <p:cNvSpPr/>
          <p:nvPr/>
        </p:nvSpPr>
        <p:spPr>
          <a:xfrm xmlns:a="http://schemas.openxmlformats.org/drawingml/2006/main">
            <a:off x="7100000" y="2500000"/>
            <a:ext cx="45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GPSService를 사용하는 컴포넌트</a:t>
            </a:r>
          </a:p>
        </p:txBody>
      </p:sp>
      <p:sp>
        <p:nvSpPr>
          <p:cNvPr id="91" name="RoundRect91"/>
          <p:cNvSpPr/>
          <p:nvPr/>
        </p:nvSpPr>
        <p:spPr>
          <a:xfrm xmlns:a="http://schemas.openxmlformats.org/drawingml/2006/main">
            <a:off x="7100000" y="3100000"/>
            <a:ext cx="45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2" name="TextBox92"/>
          <p:cNvSpPr/>
          <p:nvPr/>
        </p:nvSpPr>
        <p:spPr>
          <a:xfrm xmlns:a="http://schemas.openxmlformats.org/drawingml/2006/main">
            <a:off x="7300000" y="3150000"/>
            <a:ext cx="41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MapTileManager</a:t>
            </a:r>
          </a:p>
        </p:txBody>
      </p:sp>
      <p:sp>
        <p:nvSpPr>
          <p:cNvPr id="93" name="TextBox93"/>
          <p:cNvSpPr/>
          <p:nvPr/>
        </p:nvSpPr>
        <p:spPr>
          <a:xfrm xmlns:a="http://schemas.openxmlformats.org/drawingml/2006/main">
            <a:off x="7300000" y="3430000"/>
            <a:ext cx="41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타일 위치 계산에 GPS 사용</a:t>
            </a:r>
          </a:p>
        </p:txBody>
      </p:sp>
      <p:sp>
        <p:nvSpPr>
          <p:cNvPr id="94" name="RoundRect94"/>
          <p:cNvSpPr/>
          <p:nvPr/>
        </p:nvSpPr>
        <p:spPr>
          <a:xfrm xmlns:a="http://schemas.openxmlformats.org/drawingml/2006/main">
            <a:off x="7100000" y="3730000"/>
            <a:ext cx="45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5" name="TextBox95"/>
          <p:cNvSpPr/>
          <p:nvPr/>
        </p:nvSpPr>
        <p:spPr>
          <a:xfrm xmlns:a="http://schemas.openxmlformats.org/drawingml/2006/main">
            <a:off x="7300000" y="3780000"/>
            <a:ext cx="41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FruitSpawnManager</a:t>
            </a:r>
          </a:p>
        </p:txBody>
      </p:sp>
      <p:sp>
        <p:nvSpPr>
          <p:cNvPr id="96" name="TextBox96"/>
          <p:cNvSpPr/>
          <p:nvPr/>
        </p:nvSpPr>
        <p:spPr>
          <a:xfrm xmlns:a="http://schemas.openxmlformats.org/drawingml/2006/main">
            <a:off x="7300000" y="4060000"/>
            <a:ext cx="41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플레이어 주변 과일 스폰</a:t>
            </a:r>
          </a:p>
        </p:txBody>
      </p:sp>
      <p:sp>
        <p:nvSpPr>
          <p:cNvPr id="97" name="RoundRect97"/>
          <p:cNvSpPr/>
          <p:nvPr/>
        </p:nvSpPr>
        <p:spPr>
          <a:xfrm xmlns:a="http://schemas.openxmlformats.org/drawingml/2006/main">
            <a:off x="7100000" y="4360000"/>
            <a:ext cx="4500000" cy="5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98" name="TextBox98"/>
          <p:cNvSpPr/>
          <p:nvPr/>
        </p:nvSpPr>
        <p:spPr>
          <a:xfrm xmlns:a="http://schemas.openxmlformats.org/drawingml/2006/main">
            <a:off x="7300000" y="4410000"/>
            <a:ext cx="41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PlayerInMapPresenter</a:t>
            </a:r>
          </a:p>
        </p:txBody>
      </p:sp>
      <p:sp>
        <p:nvSpPr>
          <p:cNvPr id="99" name="TextBox99"/>
          <p:cNvSpPr/>
          <p:nvPr/>
        </p:nvSpPr>
        <p:spPr>
          <a:xfrm xmlns:a="http://schemas.openxmlformats.org/drawingml/2006/main">
            <a:off x="7300000" y="4690000"/>
            <a:ext cx="4100000" cy="2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B0BEC5"/>
                </a:solidFill>
                <a:latin typeface="맑은 고딕"/>
                <a:ea typeface="맑은 고딕"/>
              </a:rPr>
              <a:t>플레이어 지도 위 위치 갱신</a:t>
            </a:r>
          </a:p>
        </p:txBody>
      </p:sp>
      <p:sp>
        <p:nvSpPr>
          <p:cNvPr id="100" name="TextBox100"/>
          <p:cNvSpPr/>
          <p:nvPr/>
        </p:nvSpPr>
        <p:spPr>
          <a:xfrm xmlns:a="http://schemas.openxmlformats.org/drawingml/2006/main">
            <a:off x="600000" y="5600000"/>
            <a:ext cx="109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파사드 패턴의 이점: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●  null 안전 처리를 한 곳에 집중  ●  Start()에서 자동으로 서비스 시작  ●  API 단순화</a:t>
            </a:r>
          </a:p>
        </p:txBody>
      </p:sp>
    </p:spTree>
  </p:cSld>
  <p:clrMapOvr>
    <a:masterClrMapping xmlns:a="http://schemas.openxmlformats.org/drawingml/2006/main"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Rect101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2" name="Rect102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3" name="TextBox103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5. Mercator 투영과 타일 좌표계</a:t>
            </a:r>
          </a:p>
        </p:txBody>
      </p:sp>
      <p:sp>
        <p:nvSpPr>
          <p:cNvPr id="104" name="RoundRect104"/>
          <p:cNvSpPr/>
          <p:nvPr/>
        </p:nvSpPr>
        <p:spPr>
          <a:xfrm xmlns:a="http://schemas.openxmlformats.org/drawingml/2006/main">
            <a:off x="600000" y="1450000"/>
            <a:ext cx="10900000" cy="7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5" name="TextBox105"/>
          <p:cNvSpPr/>
          <p:nvPr/>
        </p:nvSpPr>
        <p:spPr>
          <a:xfrm xmlns:a="http://schemas.openxmlformats.org/drawingml/2006/main">
            <a:off x="800000" y="15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Google Maps 타일 시스템은 Web Mercator 투영을 사용</a:t>
            </a:r>
          </a:p>
        </p:txBody>
      </p:sp>
      <p:sp>
        <p:nvSpPr>
          <p:cNvPr id="106" name="TextBox106"/>
          <p:cNvSpPr/>
          <p:nvPr/>
        </p:nvSpPr>
        <p:spPr>
          <a:xfrm xmlns:a="http://schemas.openxmlformats.org/drawingml/2006/main">
            <a:off x="800000" y="1800000"/>
            <a:ext cx="105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0" dirty="0">
                <a:solidFill>
                  <a:srgbClr val="FFFFFF"/>
                </a:solidFill>
                <a:latin typeface="맑은 고딕"/>
                <a:ea typeface="맑은 고딕"/>
              </a:rPr>
              <a:t>구면 지구를 2D 평면으로 펼쳐서 정사각형 타일로 분할</a:t>
            </a:r>
          </a:p>
        </p:txBody>
      </p:sp>
      <p:sp>
        <p:nvSpPr>
          <p:cNvPr id="107" name="RoundRect107"/>
          <p:cNvSpPr/>
          <p:nvPr/>
        </p:nvSpPr>
        <p:spPr>
          <a:xfrm xmlns:a="http://schemas.openxmlformats.org/drawingml/2006/main">
            <a:off x="300000" y="2400000"/>
            <a:ext cx="26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8" name="Rect108"/>
          <p:cNvSpPr/>
          <p:nvPr/>
        </p:nvSpPr>
        <p:spPr>
          <a:xfrm xmlns:a="http://schemas.openxmlformats.org/drawingml/2006/main">
            <a:off x="300000" y="2400000"/>
            <a:ext cx="26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09" name="Rect109"/>
          <p:cNvSpPr/>
          <p:nvPr/>
        </p:nvSpPr>
        <p:spPr>
          <a:xfrm xmlns:a="http://schemas.openxmlformats.org/drawingml/2006/main">
            <a:off x="300000" y="2400000"/>
            <a:ext cx="2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0" name="TextBox110"/>
          <p:cNvSpPr/>
          <p:nvPr/>
        </p:nvSpPr>
        <p:spPr>
          <a:xfrm xmlns:a="http://schemas.openxmlformats.org/drawingml/2006/main">
            <a:off x="450000" y="2600000"/>
            <a:ext cx="2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GPS 좌표</a:t>
            </a:r>
          </a:p>
        </p:txBody>
      </p:sp>
      <p:sp>
        <p:nvSpPr>
          <p:cNvPr id="111" name="TextBox111"/>
          <p:cNvSpPr/>
          <p:nvPr/>
        </p:nvSpPr>
        <p:spPr>
          <a:xfrm xmlns:a="http://schemas.openxmlformats.org/drawingml/2006/main">
            <a:off x="450000" y="305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위도(37.49°)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경도(127.03°)</a:t>
            </a:r>
          </a:p>
        </p:txBody>
      </p:sp>
      <p:sp>
        <p:nvSpPr>
          <p:cNvPr id="112" name="TextBox112"/>
          <p:cNvSpPr/>
          <p:nvPr/>
        </p:nvSpPr>
        <p:spPr>
          <a:xfrm xmlns:a="http://schemas.openxmlformats.org/drawingml/2006/main">
            <a:off x="450000" y="36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지구 상의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실제 위치</a:t>
            </a:r>
          </a:p>
        </p:txBody>
      </p:sp>
      <p:sp>
        <p:nvSpPr>
          <p:cNvPr id="113" name="TextBox113"/>
          <p:cNvSpPr/>
          <p:nvPr/>
        </p:nvSpPr>
        <p:spPr>
          <a:xfrm xmlns:a="http://schemas.openxmlformats.org/drawingml/2006/main">
            <a:off x="2900000" y="29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14" name="RoundRect114"/>
          <p:cNvSpPr/>
          <p:nvPr/>
        </p:nvSpPr>
        <p:spPr>
          <a:xfrm xmlns:a="http://schemas.openxmlformats.org/drawingml/2006/main">
            <a:off x="3200000" y="2400000"/>
            <a:ext cx="26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5" name="Rect115"/>
          <p:cNvSpPr/>
          <p:nvPr/>
        </p:nvSpPr>
        <p:spPr>
          <a:xfrm xmlns:a="http://schemas.openxmlformats.org/drawingml/2006/main">
            <a:off x="3200000" y="2400000"/>
            <a:ext cx="26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6" name="Rect116"/>
          <p:cNvSpPr/>
          <p:nvPr/>
        </p:nvSpPr>
        <p:spPr>
          <a:xfrm xmlns:a="http://schemas.openxmlformats.org/drawingml/2006/main">
            <a:off x="3200000" y="2400000"/>
            <a:ext cx="2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17" name="TextBox117"/>
          <p:cNvSpPr/>
          <p:nvPr/>
        </p:nvSpPr>
        <p:spPr>
          <a:xfrm xmlns:a="http://schemas.openxmlformats.org/drawingml/2006/main">
            <a:off x="3350000" y="2600000"/>
            <a:ext cx="2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66BB6A"/>
                </a:solidFill>
                <a:latin typeface="맑은 고딕"/>
                <a:ea typeface="맑은 고딕"/>
              </a:rPr>
              <a:t>픽셀 좌표</a:t>
            </a:r>
          </a:p>
        </p:txBody>
      </p:sp>
      <p:sp>
        <p:nvSpPr>
          <p:cNvPr id="118" name="TextBox118"/>
          <p:cNvSpPr/>
          <p:nvPr/>
        </p:nvSpPr>
        <p:spPr>
          <a:xfrm xmlns:a="http://schemas.openxmlformats.org/drawingml/2006/main">
            <a:off x="3350000" y="305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LonToX()</a:t>
            </a:r>
          </a:p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LatToY()</a:t>
            </a:r>
          </a:p>
        </p:txBody>
      </p:sp>
      <p:sp>
        <p:nvSpPr>
          <p:cNvPr id="119" name="TextBox119"/>
          <p:cNvSpPr/>
          <p:nvPr/>
        </p:nvSpPr>
        <p:spPr>
          <a:xfrm xmlns:a="http://schemas.openxmlformats.org/drawingml/2006/main">
            <a:off x="3350000" y="36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줌 레벨 21 기준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전역 픽셀 좌표</a:t>
            </a:r>
          </a:p>
        </p:txBody>
      </p:sp>
      <p:sp>
        <p:nvSpPr>
          <p:cNvPr id="120" name="TextBox120"/>
          <p:cNvSpPr/>
          <p:nvPr/>
        </p:nvSpPr>
        <p:spPr>
          <a:xfrm xmlns:a="http://schemas.openxmlformats.org/drawingml/2006/main">
            <a:off x="5800000" y="29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1" name="RoundRect121"/>
          <p:cNvSpPr/>
          <p:nvPr/>
        </p:nvSpPr>
        <p:spPr>
          <a:xfrm xmlns:a="http://schemas.openxmlformats.org/drawingml/2006/main">
            <a:off x="6100000" y="2400000"/>
            <a:ext cx="26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2" name="Rect122"/>
          <p:cNvSpPr/>
          <p:nvPr/>
        </p:nvSpPr>
        <p:spPr>
          <a:xfrm xmlns:a="http://schemas.openxmlformats.org/drawingml/2006/main">
            <a:off x="6100000" y="2400000"/>
            <a:ext cx="26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3" name="Rect123"/>
          <p:cNvSpPr/>
          <p:nvPr/>
        </p:nvSpPr>
        <p:spPr>
          <a:xfrm xmlns:a="http://schemas.openxmlformats.org/drawingml/2006/main">
            <a:off x="6100000" y="2400000"/>
            <a:ext cx="2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4" name="TextBox124"/>
          <p:cNvSpPr/>
          <p:nvPr/>
        </p:nvSpPr>
        <p:spPr>
          <a:xfrm xmlns:a="http://schemas.openxmlformats.org/drawingml/2006/main">
            <a:off x="6250000" y="2600000"/>
            <a:ext cx="2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A726"/>
                </a:solidFill>
                <a:latin typeface="맑은 고딕"/>
                <a:ea typeface="맑은 고딕"/>
              </a:rPr>
              <a:t>줌 보정</a:t>
            </a:r>
          </a:p>
        </p:txBody>
      </p:sp>
      <p:sp>
        <p:nvSpPr>
          <p:cNvPr id="125" name="TextBox125"/>
          <p:cNvSpPr/>
          <p:nvPr/>
        </p:nvSpPr>
        <p:spPr>
          <a:xfrm xmlns:a="http://schemas.openxmlformats.org/drawingml/2006/main">
            <a:off x="6250000" y="305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&gt;&gt; (21 - zoom)</a:t>
            </a:r>
          </a:p>
        </p:txBody>
      </p:sp>
      <p:sp>
        <p:nvSpPr>
          <p:cNvPr id="126" name="TextBox126"/>
          <p:cNvSpPr/>
          <p:nvPr/>
        </p:nvSpPr>
        <p:spPr>
          <a:xfrm xmlns:a="http://schemas.openxmlformats.org/drawingml/2006/main">
            <a:off x="6250000" y="36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현재 줌 레벨에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맞게 축소</a:t>
            </a:r>
          </a:p>
        </p:txBody>
      </p:sp>
      <p:sp>
        <p:nvSpPr>
          <p:cNvPr id="127" name="TextBox127"/>
          <p:cNvSpPr/>
          <p:nvPr/>
        </p:nvSpPr>
        <p:spPr>
          <a:xfrm xmlns:a="http://schemas.openxmlformats.org/drawingml/2006/main">
            <a:off x="8700000" y="2900000"/>
            <a:ext cx="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000" b="1" dirty="0">
                <a:solidFill>
                  <a:srgbClr val="B0BEC5"/>
                </a:solidFill>
                <a:latin typeface="맑은 고딕"/>
                <a:ea typeface="맑은 고딕"/>
              </a:rPr>
              <a:t>→</a:t>
            </a:r>
          </a:p>
        </p:txBody>
      </p:sp>
      <p:sp>
        <p:nvSpPr>
          <p:cNvPr id="128" name="RoundRect128"/>
          <p:cNvSpPr/>
          <p:nvPr/>
        </p:nvSpPr>
        <p:spPr>
          <a:xfrm xmlns:a="http://schemas.openxmlformats.org/drawingml/2006/main">
            <a:off x="9000000" y="2400000"/>
            <a:ext cx="2600000" cy="2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29" name="Rect129"/>
          <p:cNvSpPr/>
          <p:nvPr/>
        </p:nvSpPr>
        <p:spPr>
          <a:xfrm xmlns:a="http://schemas.openxmlformats.org/drawingml/2006/main">
            <a:off x="9000000" y="2400000"/>
            <a:ext cx="2600000" cy="37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0" name="Rect130"/>
          <p:cNvSpPr/>
          <p:nvPr/>
        </p:nvSpPr>
        <p:spPr>
          <a:xfrm xmlns:a="http://schemas.openxmlformats.org/drawingml/2006/main">
            <a:off x="9000000" y="2400000"/>
            <a:ext cx="2600000" cy="6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1" name="TextBox131"/>
          <p:cNvSpPr/>
          <p:nvPr/>
        </p:nvSpPr>
        <p:spPr>
          <a:xfrm xmlns:a="http://schemas.openxmlformats.org/drawingml/2006/main">
            <a:off x="9150000" y="2600000"/>
            <a:ext cx="23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FFEE58"/>
                </a:solidFill>
                <a:latin typeface="맑은 고딕"/>
                <a:ea typeface="맑은 고딕"/>
              </a:rPr>
              <a:t>Unity 좌표</a:t>
            </a:r>
          </a:p>
        </p:txBody>
      </p:sp>
      <p:sp>
        <p:nvSpPr>
          <p:cNvPr id="132" name="TextBox132"/>
          <p:cNvSpPr/>
          <p:nvPr/>
        </p:nvSpPr>
        <p:spPr>
          <a:xfrm xmlns:a="http://schemas.openxmlformats.org/drawingml/2006/main">
            <a:off x="9150000" y="305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× UNITS_PER_PIXEL</a:t>
            </a:r>
          </a:p>
        </p:txBody>
      </p:sp>
      <p:sp>
        <p:nvSpPr>
          <p:cNvPr id="133" name="TextBox133"/>
          <p:cNvSpPr/>
          <p:nvPr/>
        </p:nvSpPr>
        <p:spPr>
          <a:xfrm xmlns:a="http://schemas.openxmlformats.org/drawingml/2006/main">
            <a:off x="9150000" y="3600000"/>
            <a:ext cx="23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Unity 월드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B0BEC5"/>
                </a:solidFill>
                <a:latin typeface="맑은 고딕"/>
                <a:ea typeface="맑은 고딕"/>
              </a:rPr>
              <a:t>좌표(float)</a:t>
            </a:r>
          </a:p>
        </p:txBody>
      </p:sp>
      <p:sp>
        <p:nvSpPr>
          <p:cNvPr id="134" name="RoundRect134"/>
          <p:cNvSpPr/>
          <p:nvPr/>
        </p:nvSpPr>
        <p:spPr>
          <a:xfrm xmlns:a="http://schemas.openxmlformats.org/drawingml/2006/main">
            <a:off x="600000" y="4900000"/>
            <a:ext cx="10900000" cy="1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5" name="Rect135"/>
          <p:cNvSpPr/>
          <p:nvPr/>
        </p:nvSpPr>
        <p:spPr>
          <a:xfrm xmlns:a="http://schemas.openxmlformats.org/drawingml/2006/main">
            <a:off x="600000" y="4900000"/>
            <a:ext cx="272000" cy="27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6" name="Code136"/>
          <p:cNvSpPr/>
          <p:nvPr/>
        </p:nvSpPr>
        <p:spPr>
          <a:xfrm xmlns:a="http://schemas.openxmlformats.org/drawingml/2006/main">
            <a:off x="600000" y="4900000"/>
            <a:ext cx="10900000" cy="1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핵심 상수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GOOGLE_OFFSET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268435456.0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2^28 (줌 0에서 전체 지구 = 256px × 2^21)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UNITY_UNIT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100.0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      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타일 한 장 = Unity 100 단위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PIXELS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640.0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               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타일 한 장 = 640 픽셀</a:t>
            </a:r>
          </a:p>
          <a:p xmlns:a="http://schemas.openxmlformats.org/drawingml/2006/main">
            <a:pPr algn="l"/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UNITY_UNITS_PER_PIXEL =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100.0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 / </a:t>
            </a:r>
            <a:r>
              <a:rPr lang="ko-KR" sz="1200" b="0" dirty="0">
                <a:solidFill>
                  <a:srgbClr val="B5CEA8"/>
                </a:solidFill>
                <a:latin typeface="Consolas"/>
                <a:ea typeface="맑은 고딕"/>
              </a:rPr>
              <a:t>640.0</a:t>
            </a:r>
            <a:r>
              <a:rPr lang="ko-KR" sz="1200" b="0" dirty="0">
                <a:solidFill>
                  <a:srgbClr val="D4D4D4"/>
                </a:solidFill>
                <a:latin typeface="Consolas"/>
                <a:ea typeface="맑은 고딕"/>
              </a:rPr>
              <a:t>;  </a:t>
            </a:r>
            <a:r>
              <a:rPr lang="ko-KR" sz="1200" b="0" dirty="0">
                <a:solidFill>
                  <a:srgbClr val="608B4E"/>
                </a:solidFill>
                <a:latin typeface="Consolas"/>
                <a:ea typeface="맑은 고딕"/>
              </a:rPr>
              <a:t>// 픽셀 → Unity 변환 비율</a:t>
            </a:r>
          </a:p>
        </p:txBody>
      </p:sp>
    </p:spTree>
  </p:cSld>
  <p:clrMapOvr>
    <a:masterClrMapping xmlns:a="http://schemas.openxmlformats.org/drawingml/2006/main"/>
  </p:clrMapOvr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7" name="Rect137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8" name="Rect138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39" name="TextBox139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6. MapTileManager (3×3 롤링 버퍼)</a:t>
            </a:r>
          </a:p>
        </p:txBody>
      </p:sp>
      <p:sp>
        <p:nvSpPr>
          <p:cNvPr id="140" name="TextBox140"/>
          <p:cNvSpPr/>
          <p:nvPr/>
        </p:nvSpPr>
        <p:spPr>
          <a:xfrm xmlns:a="http://schemas.openxmlformats.org/drawingml/2006/main">
            <a:off x="600000" y="145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3×3 타일 그리드</a:t>
            </a:r>
          </a:p>
        </p:txBody>
      </p:sp>
      <p:sp>
        <p:nvSpPr>
          <p:cNvPr id="141" name="RoundRect141"/>
          <p:cNvSpPr/>
          <p:nvPr/>
        </p:nvSpPr>
        <p:spPr>
          <a:xfrm xmlns:a="http://schemas.openxmlformats.org/drawingml/2006/main">
            <a:off x="1200000" y="20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2" name="TextBox142"/>
          <p:cNvSpPr/>
          <p:nvPr/>
        </p:nvSpPr>
        <p:spPr>
          <a:xfrm xmlns:a="http://schemas.openxmlformats.org/drawingml/2006/main">
            <a:off x="1200000" y="23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(0,0)</a:t>
            </a:r>
          </a:p>
        </p:txBody>
      </p:sp>
      <p:sp>
        <p:nvSpPr>
          <p:cNvPr id="143" name="RoundRect143"/>
          <p:cNvSpPr/>
          <p:nvPr/>
        </p:nvSpPr>
        <p:spPr>
          <a:xfrm xmlns:a="http://schemas.openxmlformats.org/drawingml/2006/main">
            <a:off x="2500000" y="20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4" name="TextBox144"/>
          <p:cNvSpPr/>
          <p:nvPr/>
        </p:nvSpPr>
        <p:spPr>
          <a:xfrm xmlns:a="http://schemas.openxmlformats.org/drawingml/2006/main">
            <a:off x="2500000" y="23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(1,0)</a:t>
            </a:r>
          </a:p>
        </p:txBody>
      </p:sp>
      <p:sp>
        <p:nvSpPr>
          <p:cNvPr id="145" name="RoundRect145"/>
          <p:cNvSpPr/>
          <p:nvPr/>
        </p:nvSpPr>
        <p:spPr>
          <a:xfrm xmlns:a="http://schemas.openxmlformats.org/drawingml/2006/main">
            <a:off x="3800000" y="20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6" name="TextBox146"/>
          <p:cNvSpPr/>
          <p:nvPr/>
        </p:nvSpPr>
        <p:spPr>
          <a:xfrm xmlns:a="http://schemas.openxmlformats.org/drawingml/2006/main">
            <a:off x="3800000" y="23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(2,0)</a:t>
            </a:r>
          </a:p>
        </p:txBody>
      </p:sp>
      <p:sp>
        <p:nvSpPr>
          <p:cNvPr id="147" name="RoundRect147"/>
          <p:cNvSpPr/>
          <p:nvPr/>
        </p:nvSpPr>
        <p:spPr>
          <a:xfrm xmlns:a="http://schemas.openxmlformats.org/drawingml/2006/main">
            <a:off x="1200000" y="31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48" name="TextBox148"/>
          <p:cNvSpPr/>
          <p:nvPr/>
        </p:nvSpPr>
        <p:spPr>
          <a:xfrm xmlns:a="http://schemas.openxmlformats.org/drawingml/2006/main">
            <a:off x="1200000" y="34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(0,1)</a:t>
            </a:r>
          </a:p>
        </p:txBody>
      </p:sp>
      <p:sp>
        <p:nvSpPr>
          <p:cNvPr id="149" name="RoundRect149"/>
          <p:cNvSpPr/>
          <p:nvPr/>
        </p:nvSpPr>
        <p:spPr>
          <a:xfrm xmlns:a="http://schemas.openxmlformats.org/drawingml/2006/main">
            <a:off x="2500000" y="31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0" name="TextBox150"/>
          <p:cNvSpPr/>
          <p:nvPr/>
        </p:nvSpPr>
        <p:spPr>
          <a:xfrm xmlns:a="http://schemas.openxmlformats.org/drawingml/2006/main">
            <a:off x="2500000" y="34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FFFFFF"/>
                </a:solidFill>
                <a:latin typeface="맑은 고딕"/>
                <a:ea typeface="맑은 고딕"/>
              </a:rPr>
              <a:t>Player</a:t>
            </a:r>
          </a:p>
        </p:txBody>
      </p:sp>
      <p:sp>
        <p:nvSpPr>
          <p:cNvPr id="151" name="RoundRect151"/>
          <p:cNvSpPr/>
          <p:nvPr/>
        </p:nvSpPr>
        <p:spPr>
          <a:xfrm xmlns:a="http://schemas.openxmlformats.org/drawingml/2006/main">
            <a:off x="3800000" y="31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2" name="TextBox152"/>
          <p:cNvSpPr/>
          <p:nvPr/>
        </p:nvSpPr>
        <p:spPr>
          <a:xfrm xmlns:a="http://schemas.openxmlformats.org/drawingml/2006/main">
            <a:off x="3800000" y="34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(2,1)</a:t>
            </a:r>
          </a:p>
        </p:txBody>
      </p:sp>
      <p:sp>
        <p:nvSpPr>
          <p:cNvPr id="153" name="RoundRect153"/>
          <p:cNvSpPr/>
          <p:nvPr/>
        </p:nvSpPr>
        <p:spPr>
          <a:xfrm xmlns:a="http://schemas.openxmlformats.org/drawingml/2006/main">
            <a:off x="1200000" y="42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4" name="TextBox154"/>
          <p:cNvSpPr/>
          <p:nvPr/>
        </p:nvSpPr>
        <p:spPr>
          <a:xfrm xmlns:a="http://schemas.openxmlformats.org/drawingml/2006/main">
            <a:off x="1200000" y="45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(0,2)</a:t>
            </a:r>
          </a:p>
        </p:txBody>
      </p:sp>
      <p:sp>
        <p:nvSpPr>
          <p:cNvPr id="155" name="RoundRect155"/>
          <p:cNvSpPr/>
          <p:nvPr/>
        </p:nvSpPr>
        <p:spPr>
          <a:xfrm xmlns:a="http://schemas.openxmlformats.org/drawingml/2006/main">
            <a:off x="2500000" y="42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6" name="TextBox156"/>
          <p:cNvSpPr/>
          <p:nvPr/>
        </p:nvSpPr>
        <p:spPr>
          <a:xfrm xmlns:a="http://schemas.openxmlformats.org/drawingml/2006/main">
            <a:off x="2500000" y="45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(1,2)</a:t>
            </a:r>
          </a:p>
        </p:txBody>
      </p:sp>
      <p:sp>
        <p:nvSpPr>
          <p:cNvPr id="157" name="RoundRect157"/>
          <p:cNvSpPr/>
          <p:nvPr/>
        </p:nvSpPr>
        <p:spPr>
          <a:xfrm xmlns:a="http://schemas.openxmlformats.org/drawingml/2006/main">
            <a:off x="3800000" y="4200000"/>
            <a:ext cx="12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58" name="TextBox158"/>
          <p:cNvSpPr/>
          <p:nvPr/>
        </p:nvSpPr>
        <p:spPr>
          <a:xfrm xmlns:a="http://schemas.openxmlformats.org/drawingml/2006/main">
            <a:off x="3800000" y="4500000"/>
            <a:ext cx="1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ctr"/>
            <a:r>
              <a:rPr lang="ko-KR" sz="1200" b="1" dirty="0">
                <a:solidFill>
                  <a:srgbClr val="B0BEC5"/>
                </a:solidFill>
                <a:latin typeface="맑은 고딕"/>
                <a:ea typeface="맑은 고딕"/>
              </a:rPr>
              <a:t>(2,2)</a:t>
            </a:r>
          </a:p>
        </p:txBody>
      </p:sp>
      <p:sp>
        <p:nvSpPr>
          <p:cNvPr id="159" name="RoundRect159"/>
          <p:cNvSpPr/>
          <p:nvPr/>
        </p:nvSpPr>
        <p:spPr>
          <a:xfrm xmlns:a="http://schemas.openxmlformats.org/drawingml/2006/main">
            <a:off x="6200000" y="1400000"/>
            <a:ext cx="5600000" cy="52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0" name="Rect160"/>
          <p:cNvSpPr/>
          <p:nvPr/>
        </p:nvSpPr>
        <p:spPr>
          <a:xfrm xmlns:a="http://schemas.openxmlformats.org/drawingml/2006/main">
            <a:off x="6200000" y="1400000"/>
            <a:ext cx="884000" cy="88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61" name="TextBox161"/>
          <p:cNvSpPr/>
          <p:nvPr/>
        </p:nvSpPr>
        <p:spPr>
          <a:xfrm xmlns:a="http://schemas.openxmlformats.org/drawingml/2006/main">
            <a:off x="6400000" y="1500000"/>
            <a:ext cx="52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4FC3F7"/>
                </a:solidFill>
                <a:latin typeface="맑은 고딕"/>
                <a:ea typeface="맑은 고딕"/>
              </a:rPr>
              <a:t>롤링 버퍼 동작 원리</a:t>
            </a:r>
          </a:p>
        </p:txBody>
      </p:sp>
      <p:sp>
        <p:nvSpPr>
          <p:cNvPr id="162" name="TextBox162"/>
          <p:cNvSpPr/>
          <p:nvPr/>
        </p:nvSpPr>
        <p:spPr>
          <a:xfrm xmlns:a="http://schemas.openxmlformats.org/drawingml/2006/main">
            <a:off x="6400000" y="2100000"/>
            <a:ext cx="5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66BB6A"/>
                </a:solidFill>
                <a:latin typeface="맑은 고딕"/>
                <a:ea typeface="맑은 고딕"/>
              </a:rPr>
              <a:t>초기화</a:t>
            </a:r>
          </a:p>
        </p:txBody>
      </p:sp>
      <p:sp>
        <p:nvSpPr>
          <p:cNvPr id="163" name="TextBox163"/>
          <p:cNvSpPr/>
          <p:nvPr/>
        </p:nvSpPr>
        <p:spPr>
          <a:xfrm xmlns:a="http://schemas.openxmlformats.org/drawingml/2006/main">
            <a:off x="6400000" y="2400000"/>
            <a:ext cx="52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GPS 좌표 기준으로 3×3 = 9장의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Google Maps 타일을 다운로드</a:t>
            </a:r>
          </a:p>
        </p:txBody>
      </p:sp>
      <p:sp>
        <p:nvSpPr>
          <p:cNvPr id="164" name="TextBox164"/>
          <p:cNvSpPr/>
          <p:nvPr/>
        </p:nvSpPr>
        <p:spPr>
          <a:xfrm xmlns:a="http://schemas.openxmlformats.org/drawingml/2006/main">
            <a:off x="6400000" y="2880000"/>
            <a:ext cx="5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A726"/>
                </a:solidFill>
                <a:latin typeface="맑은 고딕"/>
                <a:ea typeface="맑은 고딕"/>
              </a:rPr>
              <a:t>이동 감지</a:t>
            </a:r>
          </a:p>
        </p:txBody>
      </p:sp>
      <p:sp>
        <p:nvSpPr>
          <p:cNvPr id="165" name="TextBox165"/>
          <p:cNvSpPr/>
          <p:nvPr/>
        </p:nvSpPr>
        <p:spPr>
          <a:xfrm xmlns:a="http://schemas.openxmlformats.org/drawingml/2006/main">
            <a:off x="6400000" y="3180000"/>
            <a:ext cx="52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0.5초마다 플레이어가 타일 경계를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넘었는지 확인 (UNITY_UNIT 단위)</a:t>
            </a:r>
          </a:p>
        </p:txBody>
      </p:sp>
      <p:sp>
        <p:nvSpPr>
          <p:cNvPr id="166" name="TextBox166"/>
          <p:cNvSpPr/>
          <p:nvPr/>
        </p:nvSpPr>
        <p:spPr>
          <a:xfrm xmlns:a="http://schemas.openxmlformats.org/drawingml/2006/main">
            <a:off x="6400000" y="3660000"/>
            <a:ext cx="5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FFEE58"/>
                </a:solidFill>
                <a:latin typeface="맑은 고딕"/>
                <a:ea typeface="맑은 고딕"/>
              </a:rPr>
              <a:t>행/열 롤링</a:t>
            </a:r>
          </a:p>
        </p:txBody>
      </p:sp>
      <p:sp>
        <p:nvSpPr>
          <p:cNvPr id="167" name="TextBox167"/>
          <p:cNvSpPr/>
          <p:nvPr/>
        </p:nvSpPr>
        <p:spPr>
          <a:xfrm xmlns:a="http://schemas.openxmlformats.org/drawingml/2006/main">
            <a:off x="6400000" y="3960000"/>
            <a:ext cx="52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경계를 넘으면 반대쪽 행(열)의 타일을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재활용하여 새 위치에 배치</a:t>
            </a:r>
          </a:p>
        </p:txBody>
      </p:sp>
      <p:sp>
        <p:nvSpPr>
          <p:cNvPr id="168" name="TextBox168"/>
          <p:cNvSpPr/>
          <p:nvPr/>
        </p:nvSpPr>
        <p:spPr>
          <a:xfrm xmlns:a="http://schemas.openxmlformats.org/drawingml/2006/main">
            <a:off x="6400000" y="4440000"/>
            <a:ext cx="5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4FC3F7"/>
                </a:solidFill>
                <a:latin typeface="맑은 고딕"/>
                <a:ea typeface="맑은 고딕"/>
              </a:rPr>
              <a:t>텍스처 갱신</a:t>
            </a:r>
          </a:p>
        </p:txBody>
      </p:sp>
      <p:sp>
        <p:nvSpPr>
          <p:cNvPr id="169" name="TextBox169"/>
          <p:cNvSpPr/>
          <p:nvPr/>
        </p:nvSpPr>
        <p:spPr>
          <a:xfrm xmlns:a="http://schemas.openxmlformats.org/drawingml/2006/main">
            <a:off x="6400000" y="4740000"/>
            <a:ext cx="52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재배치된 타일만 Google API로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새 텍스처를 로드 (3장만 갱신)</a:t>
            </a:r>
          </a:p>
        </p:txBody>
      </p:sp>
      <p:sp>
        <p:nvSpPr>
          <p:cNvPr id="170" name="TextBox170"/>
          <p:cNvSpPr/>
          <p:nvPr/>
        </p:nvSpPr>
        <p:spPr>
          <a:xfrm xmlns:a="http://schemas.openxmlformats.org/drawingml/2006/main">
            <a:off x="6400000" y="5220000"/>
            <a:ext cx="5200000" cy="3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1" dirty="0">
                <a:solidFill>
                  <a:srgbClr val="EF5350"/>
                </a:solidFill>
                <a:latin typeface="맑은 고딕"/>
                <a:ea typeface="맑은 고딕"/>
              </a:rPr>
              <a:t>과도 이동 방지</a:t>
            </a:r>
          </a:p>
        </p:txBody>
      </p:sp>
      <p:sp>
        <p:nvSpPr>
          <p:cNvPr id="171" name="TextBox171"/>
          <p:cNvSpPr/>
          <p:nvPr/>
        </p:nvSpPr>
        <p:spPr>
          <a:xfrm xmlns:a="http://schemas.openxmlformats.org/drawingml/2006/main">
            <a:off x="6400000" y="5520000"/>
            <a:ext cx="5200000" cy="4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2타일 이상 한번에 이동하면</a:t>
            </a:r>
          </a:p>
          <a:p xmlns:a="http://schemas.openxmlformats.org/drawingml/2006/main">
            <a:pPr algn="l"/>
            <a:r>
              <a:rPr lang="ko-KR" sz="1050" b="0" dirty="0">
                <a:solidFill>
                  <a:srgbClr val="FFFFFF"/>
                </a:solidFill>
                <a:latin typeface="맑은 고딕"/>
                <a:ea typeface="맑은 고딕"/>
              </a:rPr>
              <a:t>앱 종료 (비정상 GPS 점프 방지)</a:t>
            </a:r>
          </a:p>
        </p:txBody>
      </p:sp>
      <p:sp>
        <p:nvSpPr>
          <p:cNvPr id="172" name="TextBox172"/>
          <p:cNvSpPr/>
          <p:nvPr/>
        </p:nvSpPr>
        <p:spPr>
          <a:xfrm xmlns:a="http://schemas.openxmlformats.org/drawingml/2006/main">
            <a:off x="600000" y="5400000"/>
            <a:ext cx="5200000" cy="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롤링 버퍼: 타일 9장을 유지하면서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이동 방향의 타일만 교체</a:t>
            </a:r>
          </a:p>
          <a:p xmlns:a="http://schemas.openxmlformats.org/drawingml/2006/main">
            <a:pPr algn="l"/>
            <a:r>
              <a:rPr lang="ko-KR" sz="1300" b="0" dirty="0">
                <a:solidFill>
                  <a:srgbClr val="B0BEC5"/>
                </a:solidFill>
                <a:latin typeface="맑은 고딕"/>
                <a:ea typeface="맑은 고딕"/>
              </a:rPr>
              <a:t>→ 네트워크 요청 최소화</a:t>
            </a:r>
          </a:p>
        </p:txBody>
      </p:sp>
    </p:spTree>
  </p:cSld>
  <p:clrMapOvr>
    <a:masterClrMapping xmlns:a="http://schemas.openxmlformats.org/drawingml/2006/main"/>
  </p:clrMapOvr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3" name="Rect173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4" name="Rect174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5" name="TextBox175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7. 과일 스폰 시스템</a:t>
            </a:r>
          </a:p>
        </p:txBody>
      </p:sp>
      <p:sp>
        <p:nvSpPr>
          <p:cNvPr id="176" name="TextBox176"/>
          <p:cNvSpPr/>
          <p:nvPr/>
        </p:nvSpPr>
        <p:spPr>
          <a:xfrm xmlns:a="http://schemas.openxmlformats.org/drawingml/2006/main">
            <a:off x="600000" y="1450000"/>
            <a:ext cx="54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FruitSpawnManager</a:t>
            </a:r>
          </a:p>
        </p:txBody>
      </p:sp>
      <p:sp>
        <p:nvSpPr>
          <p:cNvPr id="177" name="RoundRect177"/>
          <p:cNvSpPr/>
          <p:nvPr/>
        </p:nvSpPr>
        <p:spPr>
          <a:xfrm xmlns:a="http://schemas.openxmlformats.org/drawingml/2006/main">
            <a:off x="600000" y="1900000"/>
            <a:ext cx="54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8" name="Rect178"/>
          <p:cNvSpPr/>
          <p:nvPr/>
        </p:nvSpPr>
        <p:spPr>
          <a:xfrm xmlns:a="http://schemas.openxmlformats.org/drawingml/2006/main">
            <a:off x="600000" y="1900000"/>
            <a:ext cx="442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79" name="Code179"/>
          <p:cNvSpPr/>
          <p:nvPr/>
        </p:nvSpPr>
        <p:spPr>
          <a:xfrm xmlns:a="http://schemas.openxmlformats.org/drawingml/2006/main">
            <a:off x="600000" y="1900000"/>
            <a:ext cx="5400000" cy="26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void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SpawnFruits()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ClearDistantSpawnPoints();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먼 곳 정리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toSpawn = MaxFruitSpawns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- _activeSpawnPoints.Count;</a:t>
            </a:r>
          </a:p>
          <a:p xmlns:a="http://schemas.openxmlformats.org/drawingml/2006/main">
            <a:pPr algn="l"/>
            <a:endParaRPr lang="ko-KR" sz="1100" dirty="0">
              <a:latin typeface="Consolas"/>
              <a:ea typeface="맑은 고딕"/>
            </a:endParaRP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for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(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 =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i &lt; toSpawn; i++)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angle = Random.Range(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2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*PI);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float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distance = Random.Range(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   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10f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, UNITY_UNIT * </a:t>
            </a:r>
            <a:r>
              <a:rPr lang="ko-KR" sz="1100" b="0" dirty="0">
                <a:solidFill>
                  <a:srgbClr val="B5CEA8"/>
                </a:solidFill>
                <a:latin typeface="Consolas"/>
                <a:ea typeface="맑은 고딕"/>
              </a:rPr>
              <a:t>0.8f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</a:t>
            </a:r>
            <a:r>
              <a:rPr lang="ko-KR" sz="1100" b="0" dirty="0">
                <a:solidFill>
                  <a:srgbClr val="608B4E"/>
                </a:solidFill>
                <a:latin typeface="Consolas"/>
                <a:ea typeface="맑은 고딕"/>
              </a:rPr>
              <a:t>// 랜덤 위치에 스폰 포인트 배치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FruitSpec spec = _library.GetRandom();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    spawnPoint.Initialize(spec.Id);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80" name="RoundRect180"/>
          <p:cNvSpPr/>
          <p:nvPr/>
        </p:nvSpPr>
        <p:spPr>
          <a:xfrm xmlns:a="http://schemas.openxmlformats.org/drawingml/2006/main">
            <a:off x="6300000" y="1450000"/>
            <a:ext cx="5500000" cy="2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1" name="Rect181"/>
          <p:cNvSpPr/>
          <p:nvPr/>
        </p:nvSpPr>
        <p:spPr>
          <a:xfrm xmlns:a="http://schemas.openxmlformats.org/drawingml/2006/main">
            <a:off x="6300000" y="1450000"/>
            <a:ext cx="442000" cy="44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2" name="TextBox182"/>
          <p:cNvSpPr/>
          <p:nvPr/>
        </p:nvSpPr>
        <p:spPr>
          <a:xfrm xmlns:a="http://schemas.openxmlformats.org/drawingml/2006/main">
            <a:off x="6500000" y="1550000"/>
            <a:ext cx="5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66BB6A"/>
                </a:solidFill>
                <a:latin typeface="맑은 고딕"/>
                <a:ea typeface="맑은 고딕"/>
              </a:rPr>
              <a:t>FruitSpawnPoint</a:t>
            </a:r>
          </a:p>
        </p:txBody>
      </p:sp>
      <p:sp>
        <p:nvSpPr>
          <p:cNvPr id="183" name="RoundRect183"/>
          <p:cNvSpPr/>
          <p:nvPr/>
        </p:nvSpPr>
        <p:spPr>
          <a:xfrm xmlns:a="http://schemas.openxmlformats.org/drawingml/2006/main">
            <a:off x="6500000" y="2000000"/>
            <a:ext cx="5100000" cy="10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4" name="Rect184"/>
          <p:cNvSpPr/>
          <p:nvPr/>
        </p:nvSpPr>
        <p:spPr>
          <a:xfrm xmlns:a="http://schemas.openxmlformats.org/drawingml/2006/main">
            <a:off x="6500000" y="2000000"/>
            <a:ext cx="170000" cy="17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5" name="Code185"/>
          <p:cNvSpPr/>
          <p:nvPr/>
        </p:nvSpPr>
        <p:spPr>
          <a:xfrm xmlns:a="http://schemas.openxmlformats.org/drawingml/2006/main">
            <a:off x="6500000" y="2000000"/>
            <a:ext cx="51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200000" tIns="200000" rIns="200000" bIns="200000" anchor="t"/>
          <a:lstStyle xmlns:a="http://schemas.openxmlformats.org/drawingml/2006/main"/>
          <a:p xmlns:a="http://schemas.openxmlformats.org/drawingml/2006/main">
            <a:pPr algn="l"/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class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FruitSpawnPoint : MonoBehaviour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{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int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FruitSpecId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  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public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bool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IsCollected {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get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private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 </a:t>
            </a:r>
            <a:r>
              <a:rPr lang="ko-KR" sz="1100" b="0" dirty="0">
                <a:solidFill>
                  <a:srgbClr val="569CD6"/>
                </a:solidFill>
                <a:latin typeface="Consolas"/>
                <a:ea typeface="맑은 고딕"/>
              </a:rPr>
              <a:t>set</a:t>
            </a:r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; }</a:t>
            </a:r>
          </a:p>
          <a:p xmlns:a="http://schemas.openxmlformats.org/drawingml/2006/main">
            <a:pPr algn="l"/>
            <a:r>
              <a:rPr lang="ko-KR" sz="1100" b="0" dirty="0">
                <a:solidFill>
                  <a:srgbClr val="D4D4D4"/>
                </a:solidFill>
                <a:latin typeface="Consolas"/>
                <a:ea typeface="맑은 고딕"/>
              </a:rPr>
              <a:t>}</a:t>
            </a:r>
          </a:p>
        </p:txBody>
      </p:sp>
      <p:sp>
        <p:nvSpPr>
          <p:cNvPr id="186" name="TextBox186"/>
          <p:cNvSpPr/>
          <p:nvPr/>
        </p:nvSpPr>
        <p:spPr>
          <a:xfrm xmlns:a="http://schemas.openxmlformats.org/drawingml/2006/main">
            <a:off x="6500000" y="3100000"/>
            <a:ext cx="51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B0BEC5"/>
                </a:solidFill>
                <a:latin typeface="맑은 고딕"/>
                <a:ea typeface="맑은 고딕"/>
              </a:rPr>
              <a:t>스폰 포인트 하나 = 지도 위 과일 하나</a:t>
            </a:r>
          </a:p>
        </p:txBody>
      </p:sp>
      <p:sp>
        <p:nvSpPr>
          <p:cNvPr id="187" name="RoundRect187"/>
          <p:cNvSpPr/>
          <p:nvPr/>
        </p:nvSpPr>
        <p:spPr>
          <a:xfrm xmlns:a="http://schemas.openxmlformats.org/drawingml/2006/main">
            <a:off x="600000" y="4800000"/>
            <a:ext cx="11000000" cy="18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88" name="TextBox188"/>
          <p:cNvSpPr/>
          <p:nvPr/>
        </p:nvSpPr>
        <p:spPr>
          <a:xfrm xmlns:a="http://schemas.openxmlformats.org/drawingml/2006/main">
            <a:off x="800000" y="4900000"/>
            <a:ext cx="10600000" cy="4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600" b="1" dirty="0">
                <a:solidFill>
                  <a:srgbClr val="FFA726"/>
                </a:solidFill>
                <a:latin typeface="맑은 고딕"/>
                <a:ea typeface="맑은 고딕"/>
              </a:rPr>
              <a:t>오브젝트 풀링 패턴</a:t>
            </a:r>
          </a:p>
        </p:txBody>
      </p:sp>
      <p:sp>
        <p:nvSpPr>
          <p:cNvPr id="189" name="TextBox189"/>
          <p:cNvSpPr/>
          <p:nvPr/>
        </p:nvSpPr>
        <p:spPr>
          <a:xfrm xmlns:a="http://schemas.openxmlformats.org/drawingml/2006/main">
            <a:off x="800000" y="5400000"/>
            <a:ext cx="2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4FC3F7"/>
                </a:solidFill>
                <a:latin typeface="맑은 고딕"/>
                <a:ea typeface="맑은 고딕"/>
              </a:rPr>
              <a:t>스폰</a:t>
            </a:r>
          </a:p>
        </p:txBody>
      </p:sp>
      <p:sp>
        <p:nvSpPr>
          <p:cNvPr id="190" name="TextBox190"/>
          <p:cNvSpPr/>
          <p:nvPr/>
        </p:nvSpPr>
        <p:spPr>
          <a:xfrm xmlns:a="http://schemas.openxmlformats.org/drawingml/2006/main">
            <a:off x="3300000" y="5400000"/>
            <a:ext cx="7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Queue&lt;FruitSpawnPoint&gt;에서 꺼내 사용 (없으면 Instantiate)</a:t>
            </a:r>
          </a:p>
        </p:txBody>
      </p:sp>
      <p:sp>
        <p:nvSpPr>
          <p:cNvPr id="191" name="TextBox191"/>
          <p:cNvSpPr/>
          <p:nvPr/>
        </p:nvSpPr>
        <p:spPr>
          <a:xfrm xmlns:a="http://schemas.openxmlformats.org/drawingml/2006/main">
            <a:off x="800000" y="5800000"/>
            <a:ext cx="2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66BB6A"/>
                </a:solidFill>
                <a:latin typeface="맑은 고딕"/>
                <a:ea typeface="맑은 고딕"/>
              </a:rPr>
              <a:t>회수 조건</a:t>
            </a:r>
          </a:p>
        </p:txBody>
      </p:sp>
      <p:sp>
        <p:nvSpPr>
          <p:cNvPr id="192" name="TextBox192"/>
          <p:cNvSpPr/>
          <p:nvPr/>
        </p:nvSpPr>
        <p:spPr>
          <a:xfrm xmlns:a="http://schemas.openxmlformats.org/drawingml/2006/main">
            <a:off x="3300000" y="5800000"/>
            <a:ext cx="7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플레이어로부터 UNITY_UNIT × 2 이상 떨어지거나 IsCollected = true</a:t>
            </a:r>
          </a:p>
        </p:txBody>
      </p:sp>
      <p:sp>
        <p:nvSpPr>
          <p:cNvPr id="193" name="TextBox193"/>
          <p:cNvSpPr/>
          <p:nvPr/>
        </p:nvSpPr>
        <p:spPr>
          <a:xfrm xmlns:a="http://schemas.openxmlformats.org/drawingml/2006/main">
            <a:off x="800000" y="6200000"/>
            <a:ext cx="25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400" b="1" dirty="0">
                <a:solidFill>
                  <a:srgbClr val="FFA726"/>
                </a:solidFill>
                <a:latin typeface="맑은 고딕"/>
                <a:ea typeface="맑은 고딕"/>
              </a:rPr>
              <a:t>풀 반환</a:t>
            </a:r>
          </a:p>
        </p:txBody>
      </p:sp>
      <p:sp>
        <p:nvSpPr>
          <p:cNvPr id="194" name="TextBox194"/>
          <p:cNvSpPr/>
          <p:nvPr/>
        </p:nvSpPr>
        <p:spPr>
          <a:xfrm xmlns:a="http://schemas.openxmlformats.org/drawingml/2006/main">
            <a:off x="3300000" y="6200000"/>
            <a:ext cx="79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00" b="0" dirty="0">
                <a:solidFill>
                  <a:srgbClr val="FFFFFF"/>
                </a:solidFill>
                <a:latin typeface="맑은 고딕"/>
                <a:ea typeface="맑은 고딕"/>
              </a:rPr>
              <a:t>gameObject.SetActive(false) → Queue에 반환 (Destroy 없음)</a:t>
            </a:r>
          </a:p>
        </p:txBody>
      </p:sp>
    </p:spTree>
  </p:cSld>
  <p:clrMapOvr>
    <a:masterClrMapping xmlns:a="http://schemas.openxmlformats.org/drawingml/2006/main"/>
  </p:clrMapOvr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B2A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Rect195"/>
          <p:cNvSpPr/>
          <p:nvPr/>
        </p:nvSpPr>
        <p:spPr>
          <a:xfrm xmlns:a="http://schemas.openxmlformats.org/drawingml/2006/main">
            <a:off x="0" y="0"/>
            <a:ext cx="12192000" cy="12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6" name="Rect196"/>
          <p:cNvSpPr/>
          <p:nvPr/>
        </p:nvSpPr>
        <p:spPr>
          <a:xfrm xmlns:a="http://schemas.openxmlformats.org/drawingml/2006/main">
            <a:off x="0" y="1150000"/>
            <a:ext cx="12192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7" name="TextBox197"/>
          <p:cNvSpPr/>
          <p:nvPr/>
        </p:nvSpPr>
        <p:spPr>
          <a:xfrm xmlns:a="http://schemas.openxmlformats.org/drawingml/2006/main">
            <a:off x="600000" y="200000"/>
            <a:ext cx="10992000" cy="8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2800" b="1" dirty="0">
                <a:solidFill>
                  <a:srgbClr val="FFFFFF"/>
                </a:solidFill>
                <a:latin typeface="맑은 고딕"/>
                <a:ea typeface="맑은 고딕"/>
              </a:rPr>
              <a:t>8. 요약</a:t>
            </a:r>
          </a:p>
        </p:txBody>
      </p:sp>
      <p:sp>
        <p:nvSpPr>
          <p:cNvPr id="198" name="RoundRect198"/>
          <p:cNvSpPr/>
          <p:nvPr/>
        </p:nvSpPr>
        <p:spPr>
          <a:xfrm xmlns:a="http://schemas.openxmlformats.org/drawingml/2006/main">
            <a:off x="600000" y="16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199" name="Rect199"/>
          <p:cNvSpPr/>
          <p:nvPr/>
        </p:nvSpPr>
        <p:spPr>
          <a:xfrm xmlns:a="http://schemas.openxmlformats.org/drawingml/2006/main">
            <a:off x="600000" y="16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0" name="Rect200"/>
          <p:cNvSpPr/>
          <p:nvPr/>
        </p:nvSpPr>
        <p:spPr>
          <a:xfrm xmlns:a="http://schemas.openxmlformats.org/drawingml/2006/main">
            <a:off x="600000" y="16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1" name="TextBox201"/>
          <p:cNvSpPr/>
          <p:nvPr/>
        </p:nvSpPr>
        <p:spPr>
          <a:xfrm xmlns:a="http://schemas.openxmlformats.org/drawingml/2006/main">
            <a:off x="900000" y="16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ILocationProvider</a:t>
            </a:r>
          </a:p>
        </p:txBody>
      </p:sp>
      <p:sp>
        <p:nvSpPr>
          <p:cNvPr id="202" name="TextBox202"/>
          <p:cNvSpPr/>
          <p:nvPr/>
        </p:nvSpPr>
        <p:spPr>
          <a:xfrm xmlns:a="http://schemas.openxmlformats.org/drawingml/2006/main">
            <a:off x="900000" y="20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실제 GPS(DeviceLocationProvider)와 Mock(MockLocationProvider)을 인터페이스로 추상화</a:t>
            </a:r>
          </a:p>
        </p:txBody>
      </p:sp>
      <p:sp>
        <p:nvSpPr>
          <p:cNvPr id="203" name="RoundRect203"/>
          <p:cNvSpPr/>
          <p:nvPr/>
        </p:nvSpPr>
        <p:spPr>
          <a:xfrm xmlns:a="http://schemas.openxmlformats.org/drawingml/2006/main">
            <a:off x="600000" y="24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4" name="Rect204"/>
          <p:cNvSpPr/>
          <p:nvPr/>
        </p:nvSpPr>
        <p:spPr>
          <a:xfrm xmlns:a="http://schemas.openxmlformats.org/drawingml/2006/main">
            <a:off x="600000" y="24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5" name="Rect205"/>
          <p:cNvSpPr/>
          <p:nvPr/>
        </p:nvSpPr>
        <p:spPr>
          <a:xfrm xmlns:a="http://schemas.openxmlformats.org/drawingml/2006/main">
            <a:off x="600000" y="24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BB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6" name="TextBox206"/>
          <p:cNvSpPr/>
          <p:nvPr/>
        </p:nvSpPr>
        <p:spPr>
          <a:xfrm xmlns:a="http://schemas.openxmlformats.org/drawingml/2006/main">
            <a:off x="900000" y="25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66BB6A"/>
                </a:solidFill>
                <a:latin typeface="맑은 고딕"/>
                <a:ea typeface="맑은 고딕"/>
              </a:rPr>
              <a:t>GPSService 파사드</a:t>
            </a:r>
          </a:p>
        </p:txBody>
      </p:sp>
      <p:sp>
        <p:nvSpPr>
          <p:cNvPr id="207" name="TextBox207"/>
          <p:cNvSpPr/>
          <p:nvPr/>
        </p:nvSpPr>
        <p:spPr>
          <a:xfrm xmlns:a="http://schemas.openxmlformats.org/drawingml/2006/main">
            <a:off x="900000" y="28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위치 서비스를 감싸 null 안전성과 API 단순화를 제공하는 파사드 패턴</a:t>
            </a:r>
          </a:p>
        </p:txBody>
      </p:sp>
      <p:sp>
        <p:nvSpPr>
          <p:cNvPr id="208" name="RoundRect208"/>
          <p:cNvSpPr/>
          <p:nvPr/>
        </p:nvSpPr>
        <p:spPr>
          <a:xfrm xmlns:a="http://schemas.openxmlformats.org/drawingml/2006/main">
            <a:off x="600000" y="33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09" name="Rect209"/>
          <p:cNvSpPr/>
          <p:nvPr/>
        </p:nvSpPr>
        <p:spPr>
          <a:xfrm xmlns:a="http://schemas.openxmlformats.org/drawingml/2006/main">
            <a:off x="600000" y="33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0" name="Rect210"/>
          <p:cNvSpPr/>
          <p:nvPr/>
        </p:nvSpPr>
        <p:spPr>
          <a:xfrm xmlns:a="http://schemas.openxmlformats.org/drawingml/2006/main">
            <a:off x="600000" y="33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A72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1" name="TextBox211"/>
          <p:cNvSpPr/>
          <p:nvPr/>
        </p:nvSpPr>
        <p:spPr>
          <a:xfrm xmlns:a="http://schemas.openxmlformats.org/drawingml/2006/main">
            <a:off x="900000" y="33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A726"/>
                </a:solidFill>
                <a:latin typeface="맑은 고딕"/>
                <a:ea typeface="맑은 고딕"/>
              </a:rPr>
              <a:t>Mercator 투영</a:t>
            </a:r>
          </a:p>
        </p:txBody>
      </p:sp>
      <p:sp>
        <p:nvSpPr>
          <p:cNvPr id="212" name="TextBox212"/>
          <p:cNvSpPr/>
          <p:nvPr/>
        </p:nvSpPr>
        <p:spPr>
          <a:xfrm xmlns:a="http://schemas.openxmlformats.org/drawingml/2006/main">
            <a:off x="900000" y="37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GPS 좌표 → 픽셀 → Unity 좌표 변환으로 지도 위 정확한 오브젝트 배치</a:t>
            </a:r>
          </a:p>
        </p:txBody>
      </p:sp>
      <p:sp>
        <p:nvSpPr>
          <p:cNvPr id="213" name="RoundRect213"/>
          <p:cNvSpPr/>
          <p:nvPr/>
        </p:nvSpPr>
        <p:spPr>
          <a:xfrm xmlns:a="http://schemas.openxmlformats.org/drawingml/2006/main">
            <a:off x="600000" y="415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4" name="Rect214"/>
          <p:cNvSpPr/>
          <p:nvPr/>
        </p:nvSpPr>
        <p:spPr>
          <a:xfrm xmlns:a="http://schemas.openxmlformats.org/drawingml/2006/main">
            <a:off x="600000" y="415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5" name="Rect215"/>
          <p:cNvSpPr/>
          <p:nvPr/>
        </p:nvSpPr>
        <p:spPr>
          <a:xfrm xmlns:a="http://schemas.openxmlformats.org/drawingml/2006/main">
            <a:off x="600000" y="415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58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6" name="TextBox216"/>
          <p:cNvSpPr/>
          <p:nvPr/>
        </p:nvSpPr>
        <p:spPr>
          <a:xfrm xmlns:a="http://schemas.openxmlformats.org/drawingml/2006/main">
            <a:off x="900000" y="42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FFEE58"/>
                </a:solidFill>
                <a:latin typeface="맑은 고딕"/>
                <a:ea typeface="맑은 고딕"/>
              </a:rPr>
              <a:t>3×3 롤링 버퍼</a:t>
            </a:r>
          </a:p>
        </p:txBody>
      </p:sp>
      <p:sp>
        <p:nvSpPr>
          <p:cNvPr id="217" name="TextBox217"/>
          <p:cNvSpPr/>
          <p:nvPr/>
        </p:nvSpPr>
        <p:spPr>
          <a:xfrm xmlns:a="http://schemas.openxmlformats.org/drawingml/2006/main">
            <a:off x="900000" y="45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9장 타일을 유지하면서 이동 시 3장만 교체 → 네트워크 요청 최소화</a:t>
            </a:r>
          </a:p>
        </p:txBody>
      </p:sp>
      <p:sp>
        <p:nvSpPr>
          <p:cNvPr id="218" name="RoundRect218"/>
          <p:cNvSpPr/>
          <p:nvPr/>
        </p:nvSpPr>
        <p:spPr>
          <a:xfrm xmlns:a="http://schemas.openxmlformats.org/drawingml/2006/main">
            <a:off x="600000" y="5000000"/>
            <a:ext cx="10900000" cy="75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19" name="Rect219"/>
          <p:cNvSpPr/>
          <p:nvPr/>
        </p:nvSpPr>
        <p:spPr>
          <a:xfrm xmlns:a="http://schemas.openxmlformats.org/drawingml/2006/main">
            <a:off x="600000" y="5000000"/>
            <a:ext cx="1275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0" name="Rect220"/>
          <p:cNvSpPr/>
          <p:nvPr/>
        </p:nvSpPr>
        <p:spPr>
          <a:xfrm xmlns:a="http://schemas.openxmlformats.org/drawingml/2006/main">
            <a:off x="600000" y="5000000"/>
            <a:ext cx="80000" cy="7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C3F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1" name="TextBox221"/>
          <p:cNvSpPr/>
          <p:nvPr/>
        </p:nvSpPr>
        <p:spPr>
          <a:xfrm xmlns:a="http://schemas.openxmlformats.org/drawingml/2006/main">
            <a:off x="900000" y="505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700" b="1" dirty="0">
                <a:solidFill>
                  <a:srgbClr val="4FC3F7"/>
                </a:solidFill>
                <a:latin typeface="맑은 고딕"/>
                <a:ea typeface="맑은 고딕"/>
              </a:rPr>
              <a:t>오브젝트 풀링</a:t>
            </a:r>
          </a:p>
        </p:txBody>
      </p:sp>
      <p:sp>
        <p:nvSpPr>
          <p:cNvPr id="222" name="TextBox222"/>
          <p:cNvSpPr/>
          <p:nvPr/>
        </p:nvSpPr>
        <p:spPr>
          <a:xfrm xmlns:a="http://schemas.openxmlformats.org/drawingml/2006/main">
            <a:off x="900000" y="5400000"/>
            <a:ext cx="10400000" cy="35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250" b="0" dirty="0">
                <a:solidFill>
                  <a:srgbClr val="B0BEC5"/>
                </a:solidFill>
                <a:latin typeface="맑은 고딕"/>
                <a:ea typeface="맑은 고딕"/>
              </a:rPr>
              <a:t>FruitSpawnPoint를 Queue로 관리, Destroy 없이 재활용 → GC 부담 감소</a:t>
            </a:r>
          </a:p>
        </p:txBody>
      </p:sp>
      <p:sp>
        <p:nvSpPr>
          <p:cNvPr id="223" name="RoundRect223"/>
          <p:cNvSpPr/>
          <p:nvPr/>
        </p:nvSpPr>
        <p:spPr>
          <a:xfrm xmlns:a="http://schemas.openxmlformats.org/drawingml/2006/main">
            <a:off x="600000" y="5900000"/>
            <a:ext cx="10900000" cy="600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63859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ko-KR"/>
          </a:p>
        </p:txBody>
      </p:sp>
      <p:sp>
        <p:nvSpPr>
          <p:cNvPr id="224" name="TextBox224"/>
          <p:cNvSpPr/>
          <p:nvPr/>
        </p:nvSpPr>
        <p:spPr>
          <a:xfrm xmlns:a="http://schemas.openxmlformats.org/drawingml/2006/main">
            <a:off x="800000" y="5950000"/>
            <a:ext cx="10500000" cy="5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/>
          <a:lstStyle xmlns:a="http://schemas.openxmlformats.org/drawingml/2006/main"/>
          <a:p xmlns:a="http://schemas.openxmlformats.org/drawingml/2006/main">
            <a:pPr algn="l"/>
            <a:r>
              <a:rPr lang="ko-KR" sz="1500" b="1" dirty="0">
                <a:solidFill>
                  <a:srgbClr val="4FC3F7"/>
                </a:solidFill>
                <a:latin typeface="맑은 고딕"/>
                <a:ea typeface="맑은 고딕"/>
              </a:rPr>
              <a:t>위치 기반 게임의 핵심: GPS → 좌표 변환 → 타일 스트리밍 → 오브젝트 배치의 파이프라인</a:t>
            </a:r>
          </a:p>
        </p:txBody>
      </p:sp>
    </p:spTree>
  </p:cSld>
  <p:clrMapOvr>
    <a:masterClrMapping xmlns:a="http://schemas.openxmlformats.org/drawingml/2006/main"/>
  </p:clrMapOvr>
</p:sld>
</file>

<file path=ppt/theme/theme1.xml><?xml version="1.0" encoding="utf-8"?>
<a:theme xmlns:a="http://schemas.openxmlformats.org/drawingml/2006/main" name="CustomTheme">
  <a:themeElements>
    <a:clrScheme name="Custom">
      <a:dk1>
        <a:sysClr val="windowText" lastClr="000000"/>
      </a:dk1>
      <a:lt1>
        <a:sysClr val="window" lastClr="FFFFFF"/>
      </a:lt1>
      <a:dk2>
        <a:srgbClr val="1B2A4A"/>
      </a:dk2>
      <a:lt2>
        <a:srgbClr val="E7E6E6"/>
      </a:lt2>
      <a:accent1>
        <a:srgbClr val="4FC3F7"/>
      </a:accent1>
      <a:accent2>
        <a:srgbClr val="66BB6A"/>
      </a:accent2>
      <a:accent3>
        <a:srgbClr val="FFA726"/>
      </a:accent3>
      <a:accent4>
        <a:srgbClr val="FFEE58"/>
      </a:accent4>
      <a:accent5>
        <a:srgbClr val="EF5350"/>
      </a:accent5>
      <a:accent6>
        <a:srgbClr val="B0BEC5"/>
      </a:accent6>
      <a:hlink>
        <a:srgbClr val="4FC3F7"/>
      </a:hlink>
      <a:folHlink>
        <a:srgbClr val="B0BEC5"/>
      </a:folHlink>
    </a:clrScheme>
    <a:fontScheme name="Custom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Custom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