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entation.xml" ContentType="application/vnd.openxmlformats-officedocument.presentationml.presentation.main+xml"/>
</Types>
</file>

<file path=_rels/.rels>&#65279;<?xml version="1.0" encoding="utf-8"?>
<Relationships xmlns="http://schemas.openxmlformats.org/package/2006/relationships">
  <Relationship Type="http://schemas.openxmlformats.org/officeDocument/2006/relationships/officeDocument" Target="ppt/presentation.xml" Id="Re3d669c855e344f8" />
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"/>
  </p:sldMasterIdLst>
  <p:sldIdLst>
    <p:sldId xmlns:r="http://schemas.openxmlformats.org/officeDocument/2006/relationships" id="256" r:id="rId1"/>
    <p:sldId xmlns:r="http://schemas.openxmlformats.org/officeDocument/2006/relationships" id="257" r:id="rId2"/>
    <p:sldId xmlns:r="http://schemas.openxmlformats.org/officeDocument/2006/relationships" id="258" r:id="rId3"/>
    <p:sldId xmlns:r="http://schemas.openxmlformats.org/officeDocument/2006/relationships" id="259" r:id="rId4"/>
    <p:sldId xmlns:r="http://schemas.openxmlformats.org/officeDocument/2006/relationships" id="260" r:id="rId5"/>
    <p:sldId xmlns:r="http://schemas.openxmlformats.org/officeDocument/2006/relationships" id="261" r:id="rId6"/>
    <p:sldId xmlns:r="http://schemas.openxmlformats.org/officeDocument/2006/relationships" id="262" r:id="rId7"/>
    <p:sldId xmlns:r="http://schemas.openxmlformats.org/officeDocument/2006/relationships" id="263" r:id="rId8"/>
    <p:sldId xmlns:r="http://schemas.openxmlformats.org/officeDocument/2006/relationships" id="264" r:id="rId9"/>
    <p:sldId xmlns:r="http://schemas.openxmlformats.org/officeDocument/2006/relationships" id="265" r:id="rId10"/>
  </p:sldIdLst>
  <p:sldSz cx="12192000" cy="6858000" type="custom"/>
  <p:notesSz cx="6858000" cy="9144000"/>
</p:presentation>
</file>

<file path=ppt/_rels/presentation.xml.rels>&#65279;<?xml version="1.0" encoding="utf-8"?>
<Relationships xmlns="http://schemas.openxmlformats.org/package/2006/relationships">
  <Relationship Type="http://schemas.openxmlformats.org/officeDocument/2006/relationships/theme" Target="theme/theme1.xml" Id="rIdTheme" />
  <Relationship Type="http://schemas.openxmlformats.org/officeDocument/2006/relationships/slideMaster" Target="slideMasters/slideMaster1.xml" Id="rIdMaster" />
  <Relationship Type="http://schemas.openxmlformats.org/officeDocument/2006/relationships/slide" Target="slides/slide1.xml" Id="rId1" />
  <Relationship Type="http://schemas.openxmlformats.org/officeDocument/2006/relationships/slide" Target="slides/slide2.xml" Id="rId2" />
  <Relationship Type="http://schemas.openxmlformats.org/officeDocument/2006/relationships/slide" Target="slides/slide3.xml" Id="rId3" />
  <Relationship Type="http://schemas.openxmlformats.org/officeDocument/2006/relationships/slide" Target="slides/slide4.xml" Id="rId4" />
  <Relationship Type="http://schemas.openxmlformats.org/officeDocument/2006/relationships/slide" Target="slides/slide5.xml" Id="rId5" />
  <Relationship Type="http://schemas.openxmlformats.org/officeDocument/2006/relationships/slide" Target="slides/slide6.xml" Id="rId6" />
  <Relationship Type="http://schemas.openxmlformats.org/officeDocument/2006/relationships/slide" Target="slides/slide7.xml" Id="rId7" />
  <Relationship Type="http://schemas.openxmlformats.org/officeDocument/2006/relationships/slide" Target="slides/slide8.xml" Id="rId8" />
  <Relationship Type="http://schemas.openxmlformats.org/officeDocument/2006/relationships/slide" Target="slides/slide9.xml" Id="rId9" />
  <Relationship Type="http://schemas.openxmlformats.org/officeDocument/2006/relationships/slide" Target="slides/slide10.xml" Id="rId10" />
</Relationships>
</file>

<file path=ppt/slideLayouts/_rels/slideLayout1.xml.rels>&#65279;<?xml version="1.0" encoding="utf-8"?>
<Relationships xmlns="http://schemas.openxmlformats.org/package/2006/relationships">
  <Relationship Type="http://schemas.openxmlformats.org/officeDocument/2006/relationships/slideMaster" Target="../slideMasters/slideMaster1.xml" Id="rIdSldMaster" />
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  <Relationship Type="http://schemas.openxmlformats.org/officeDocument/2006/relationships/theme" Target="../theme/theme1.xml" Id="rIdTheme" />
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"/>
  </p:sldLayoutIdLst>
  <p:txStyles>
    <p:titleStyle>
      <a:lvl1pPr xmlns:a="http://schemas.openxmlformats.org/drawingml/2006/main">
        <a:defRPr sz="2400"/>
      </a:lvl1pPr>
    </p:titleStyle>
    <p:bodyStyle>
      <a:lvl1pPr xmlns:a="http://schemas.openxmlformats.org/drawingml/2006/main">
        <a:defRPr sz="1800"/>
      </a:lvl1pPr>
    </p:bodyStyle>
    <p:otherStyle>
      <a:lvl1pPr xmlns:a="http://schemas.openxmlformats.org/drawingml/2006/main">
        <a:defRPr sz="1400"/>
      </a:lvl1pPr>
    </p:otherStyle>
  </p:txStyles>
</p:sldMaster>
</file>

<file path=ppt/slides/_rels/slide1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2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3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4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5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6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7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8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9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10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2"/>
          <p:cNvSpPr/>
          <p:nvPr/>
        </p:nvSpPr>
        <p:spPr>
          <a:xfrm xmlns:a="http://schemas.openxmlformats.org/drawingml/2006/main">
            <a:off x="0" y="0"/>
            <a:ext cx="12192000" cy="1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3" name="TextBox3"/>
          <p:cNvSpPr/>
          <p:nvPr/>
        </p:nvSpPr>
        <p:spPr>
          <a:xfrm xmlns:a="http://schemas.openxmlformats.org/drawingml/2006/main">
            <a:off x="800000" y="1800000"/>
            <a:ext cx="10500000" cy="1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4400" b="1" dirty="0">
                <a:solidFill>
                  <a:srgbClr val="FFFFFF"/>
                </a:solidFill>
                <a:latin typeface="맑은 고딕"/>
                <a:ea typeface="맑은 고딕"/>
              </a:rPr>
              <a:t>GoldenFruit 프로젝트</a:t>
            </a:r>
          </a:p>
        </p:txBody>
      </p:sp>
      <p:sp>
        <p:nvSpPr>
          <p:cNvPr id="4" name="TextBox4"/>
          <p:cNvSpPr/>
          <p:nvPr/>
        </p:nvSpPr>
        <p:spPr>
          <a:xfrm xmlns:a="http://schemas.openxmlformats.org/drawingml/2006/main">
            <a:off x="800000" y="3000000"/>
            <a:ext cx="10500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4FC3F7"/>
                </a:solidFill>
                <a:latin typeface="맑은 고딕"/>
                <a:ea typeface="맑은 고딕"/>
              </a:rPr>
              <a:t>Chapter 6: AR Foundation 상호작용</a:t>
            </a:r>
          </a:p>
        </p:txBody>
      </p:sp>
      <p:sp>
        <p:nvSpPr>
          <p:cNvPr id="5" name="TextBox5"/>
          <p:cNvSpPr/>
          <p:nvPr/>
        </p:nvSpPr>
        <p:spPr>
          <a:xfrm xmlns:a="http://schemas.openxmlformats.org/drawingml/2006/main">
            <a:off x="800000" y="3900000"/>
            <a:ext cx="10500000" cy="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B0BEC5"/>
                </a:solidFill>
                <a:latin typeface="맑은 고딕"/>
                <a:ea typeface="맑은 고딕"/>
              </a:rPr>
              <a:t>과일 수집, 배치, 던지기 메카닉</a:t>
            </a:r>
          </a:p>
        </p:txBody>
      </p:sp>
      <p:sp>
        <p:nvSpPr>
          <p:cNvPr id="6" name="Rect6"/>
          <p:cNvSpPr/>
          <p:nvPr/>
        </p:nvSpPr>
        <p:spPr>
          <a:xfrm xmlns:a="http://schemas.openxmlformats.org/drawingml/2006/main">
            <a:off x="4500000" y="4800000"/>
            <a:ext cx="3200000" cy="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7" name="TextBox7"/>
          <p:cNvSpPr/>
          <p:nvPr/>
        </p:nvSpPr>
        <p:spPr>
          <a:xfrm xmlns:a="http://schemas.openxmlformats.org/drawingml/2006/main">
            <a:off x="800000" y="5100000"/>
            <a:ext cx="105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ko-KR" sz="1800" b="0" dirty="0">
                <a:solidFill>
                  <a:srgbClr val="B0BEC5"/>
                </a:solidFill>
                <a:latin typeface="맑은 고딕"/>
                <a:ea typeface="맑은 고딕"/>
              </a:rPr>
              <a:t>조영민 강사</a:t>
            </a:r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8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9" name="Rect9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0" name="TextBox10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목 차</a:t>
            </a:r>
          </a:p>
        </p:txBody>
      </p:sp>
      <p:sp>
        <p:nvSpPr>
          <p:cNvPr id="11" name="TextBox11"/>
          <p:cNvSpPr/>
          <p:nvPr/>
        </p:nvSpPr>
        <p:spPr>
          <a:xfrm xmlns:a="http://schemas.openxmlformats.org/drawingml/2006/main">
            <a:off x="1500000" y="160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1.  AR Foundation 구성 요소</a:t>
            </a:r>
          </a:p>
        </p:txBody>
      </p:sp>
      <p:sp>
        <p:nvSpPr>
          <p:cNvPr id="12" name="TextBox12"/>
          <p:cNvSpPr/>
          <p:nvPr/>
        </p:nvSpPr>
        <p:spPr>
          <a:xfrm xmlns:a="http://schemas.openxmlformats.org/drawingml/2006/main">
            <a:off x="1500000" y="212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2.  ARSessionHelper (세션 관리)</a:t>
            </a:r>
          </a:p>
        </p:txBody>
      </p:sp>
      <p:sp>
        <p:nvSpPr>
          <p:cNvPr id="13" name="TextBox13"/>
          <p:cNvSpPr/>
          <p:nvPr/>
        </p:nvSpPr>
        <p:spPr>
          <a:xfrm xmlns:a="http://schemas.openxmlformats.org/drawingml/2006/main">
            <a:off x="1500000" y="264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3.  FruitCollectionController (수집)</a:t>
            </a:r>
          </a:p>
        </p:txBody>
      </p:sp>
      <p:sp>
        <p:nvSpPr>
          <p:cNvPr id="14" name="TextBox14"/>
          <p:cNvSpPr/>
          <p:nvPr/>
        </p:nvSpPr>
        <p:spPr>
          <a:xfrm xmlns:a="http://schemas.openxmlformats.org/drawingml/2006/main">
            <a:off x="1500000" y="316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4.  탐지 결과 → AR 배치 흐름</a:t>
            </a:r>
          </a:p>
        </p:txBody>
      </p:sp>
      <p:sp>
        <p:nvSpPr>
          <p:cNvPr id="15" name="TextBox15"/>
          <p:cNvSpPr/>
          <p:nvPr/>
        </p:nvSpPr>
        <p:spPr>
          <a:xfrm xmlns:a="http://schemas.openxmlformats.org/drawingml/2006/main">
            <a:off x="1500000" y="368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5.  FruitPlacementController (배치)</a:t>
            </a:r>
          </a:p>
        </p:txBody>
      </p:sp>
      <p:sp>
        <p:nvSpPr>
          <p:cNvPr id="16" name="TextBox16"/>
          <p:cNvSpPr/>
          <p:nvPr/>
        </p:nvSpPr>
        <p:spPr>
          <a:xfrm xmlns:a="http://schemas.openxmlformats.org/drawingml/2006/main">
            <a:off x="1500000" y="420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6.  FruitThrowController (던지기)</a:t>
            </a:r>
          </a:p>
        </p:txBody>
      </p:sp>
      <p:sp>
        <p:nvSpPr>
          <p:cNvPr id="17" name="TextBox17"/>
          <p:cNvSpPr/>
          <p:nvPr/>
        </p:nvSpPr>
        <p:spPr>
          <a:xfrm xmlns:a="http://schemas.openxmlformats.org/drawingml/2006/main">
            <a:off x="1500000" y="472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7.  Input System 연동</a:t>
            </a:r>
          </a:p>
        </p:txBody>
      </p:sp>
      <p:sp>
        <p:nvSpPr>
          <p:cNvPr id="18" name="TextBox18"/>
          <p:cNvSpPr/>
          <p:nvPr/>
        </p:nvSpPr>
        <p:spPr>
          <a:xfrm xmlns:a="http://schemas.openxmlformats.org/drawingml/2006/main">
            <a:off x="1500000" y="524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8.  요약</a:t>
            </a:r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19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0" name="Rect20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1" name="TextBox21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1. AR Foundation 구성 요소</a:t>
            </a:r>
          </a:p>
        </p:txBody>
      </p:sp>
      <p:sp>
        <p:nvSpPr>
          <p:cNvPr id="22" name="RoundRect22"/>
          <p:cNvSpPr/>
          <p:nvPr/>
        </p:nvSpPr>
        <p:spPr>
          <a:xfrm xmlns:a="http://schemas.openxmlformats.org/drawingml/2006/main">
            <a:off x="600000" y="1450000"/>
            <a:ext cx="10900000" cy="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3" name="TextBox23"/>
          <p:cNvSpPr/>
          <p:nvPr/>
        </p:nvSpPr>
        <p:spPr>
          <a:xfrm xmlns:a="http://schemas.openxmlformats.org/drawingml/2006/main">
            <a:off x="800000" y="1500000"/>
            <a:ext cx="105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4FC3F7"/>
                </a:solidFill>
                <a:latin typeface="맑은 고딕"/>
                <a:ea typeface="맑은 고딕"/>
              </a:rPr>
              <a:t>AR Foundation = Unity의 크로스 플랫폼 AR 프레임워크</a:t>
            </a:r>
          </a:p>
        </p:txBody>
      </p:sp>
      <p:sp>
        <p:nvSpPr>
          <p:cNvPr id="24" name="TextBox24"/>
          <p:cNvSpPr/>
          <p:nvPr/>
        </p:nvSpPr>
        <p:spPr>
          <a:xfrm xmlns:a="http://schemas.openxmlformats.org/drawingml/2006/main">
            <a:off x="800000" y="1850000"/>
            <a:ext cx="105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0" dirty="0">
                <a:solidFill>
                  <a:srgbClr val="FFFFFF"/>
                </a:solidFill>
                <a:latin typeface="맑은 고딕"/>
                <a:ea typeface="맑은 고딕"/>
              </a:rPr>
              <a:t>ARCore(Android)와 ARKit(iOS)를 하나의 API로 추상화</a:t>
            </a:r>
          </a:p>
        </p:txBody>
      </p:sp>
      <p:sp>
        <p:nvSpPr>
          <p:cNvPr id="25" name="RoundRect25"/>
          <p:cNvSpPr/>
          <p:nvPr/>
        </p:nvSpPr>
        <p:spPr>
          <a:xfrm xmlns:a="http://schemas.openxmlformats.org/drawingml/2006/main">
            <a:off x="300000" y="2600000"/>
            <a:ext cx="2800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6" name="Rect26"/>
          <p:cNvSpPr/>
          <p:nvPr/>
        </p:nvSpPr>
        <p:spPr>
          <a:xfrm xmlns:a="http://schemas.openxmlformats.org/drawingml/2006/main">
            <a:off x="300000" y="2600000"/>
            <a:ext cx="2800000" cy="3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7" name="Rect27"/>
          <p:cNvSpPr/>
          <p:nvPr/>
        </p:nvSpPr>
        <p:spPr>
          <a:xfrm xmlns:a="http://schemas.openxmlformats.org/drawingml/2006/main">
            <a:off x="300000" y="2600000"/>
            <a:ext cx="2800000" cy="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8" name="TextBox28"/>
          <p:cNvSpPr/>
          <p:nvPr/>
        </p:nvSpPr>
        <p:spPr>
          <a:xfrm xmlns:a="http://schemas.openxmlformats.org/drawingml/2006/main">
            <a:off x="450000" y="2800000"/>
            <a:ext cx="2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4FC3F7"/>
                </a:solidFill>
                <a:latin typeface="맑은 고딕"/>
                <a:ea typeface="맑은 고딕"/>
              </a:rPr>
              <a:t>ARSession</a:t>
            </a:r>
          </a:p>
        </p:txBody>
      </p:sp>
      <p:sp>
        <p:nvSpPr>
          <p:cNvPr id="29" name="TextBox29"/>
          <p:cNvSpPr/>
          <p:nvPr/>
        </p:nvSpPr>
        <p:spPr>
          <a:xfrm xmlns:a="http://schemas.openxmlformats.org/drawingml/2006/main">
            <a:off x="450000" y="3300000"/>
            <a:ext cx="2500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AR 세션의 생명주기 관리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(시작, 일시정지, 리셋)</a:t>
            </a:r>
          </a:p>
        </p:txBody>
      </p:sp>
      <p:sp>
        <p:nvSpPr>
          <p:cNvPr id="30" name="RoundRect30"/>
          <p:cNvSpPr/>
          <p:nvPr/>
        </p:nvSpPr>
        <p:spPr>
          <a:xfrm xmlns:a="http://schemas.openxmlformats.org/drawingml/2006/main">
            <a:off x="3250000" y="2600000"/>
            <a:ext cx="2800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31" name="Rect31"/>
          <p:cNvSpPr/>
          <p:nvPr/>
        </p:nvSpPr>
        <p:spPr>
          <a:xfrm xmlns:a="http://schemas.openxmlformats.org/drawingml/2006/main">
            <a:off x="3250000" y="2600000"/>
            <a:ext cx="2800000" cy="3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32" name="Rect32"/>
          <p:cNvSpPr/>
          <p:nvPr/>
        </p:nvSpPr>
        <p:spPr>
          <a:xfrm xmlns:a="http://schemas.openxmlformats.org/drawingml/2006/main">
            <a:off x="3250000" y="2600000"/>
            <a:ext cx="2800000" cy="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BB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33" name="TextBox33"/>
          <p:cNvSpPr/>
          <p:nvPr/>
        </p:nvSpPr>
        <p:spPr>
          <a:xfrm xmlns:a="http://schemas.openxmlformats.org/drawingml/2006/main">
            <a:off x="3400000" y="2800000"/>
            <a:ext cx="2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66BB6A"/>
                </a:solidFill>
                <a:latin typeface="맑은 고딕"/>
                <a:ea typeface="맑은 고딕"/>
              </a:rPr>
              <a:t>ARCameraManager</a:t>
            </a:r>
          </a:p>
        </p:txBody>
      </p:sp>
      <p:sp>
        <p:nvSpPr>
          <p:cNvPr id="34" name="TextBox34"/>
          <p:cNvSpPr/>
          <p:nvPr/>
        </p:nvSpPr>
        <p:spPr>
          <a:xfrm xmlns:a="http://schemas.openxmlformats.org/drawingml/2006/main">
            <a:off x="3400000" y="3300000"/>
            <a:ext cx="2500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AR 카메라 프레임 제공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XRCpuImage 캡처</a:t>
            </a:r>
          </a:p>
        </p:txBody>
      </p:sp>
      <p:sp>
        <p:nvSpPr>
          <p:cNvPr id="35" name="RoundRect35"/>
          <p:cNvSpPr/>
          <p:nvPr/>
        </p:nvSpPr>
        <p:spPr>
          <a:xfrm xmlns:a="http://schemas.openxmlformats.org/drawingml/2006/main">
            <a:off x="6200000" y="2600000"/>
            <a:ext cx="2800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36" name="Rect36"/>
          <p:cNvSpPr/>
          <p:nvPr/>
        </p:nvSpPr>
        <p:spPr>
          <a:xfrm xmlns:a="http://schemas.openxmlformats.org/drawingml/2006/main">
            <a:off x="6200000" y="2600000"/>
            <a:ext cx="2800000" cy="3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37" name="Rect37"/>
          <p:cNvSpPr/>
          <p:nvPr/>
        </p:nvSpPr>
        <p:spPr>
          <a:xfrm xmlns:a="http://schemas.openxmlformats.org/drawingml/2006/main">
            <a:off x="6200000" y="2600000"/>
            <a:ext cx="2800000" cy="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72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38" name="TextBox38"/>
          <p:cNvSpPr/>
          <p:nvPr/>
        </p:nvSpPr>
        <p:spPr>
          <a:xfrm xmlns:a="http://schemas.openxmlformats.org/drawingml/2006/main">
            <a:off x="6350000" y="2800000"/>
            <a:ext cx="2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FFA726"/>
                </a:solidFill>
                <a:latin typeface="맑은 고딕"/>
                <a:ea typeface="맑은 고딕"/>
              </a:rPr>
              <a:t>ARRaycastManager</a:t>
            </a:r>
          </a:p>
        </p:txBody>
      </p:sp>
      <p:sp>
        <p:nvSpPr>
          <p:cNvPr id="39" name="TextBox39"/>
          <p:cNvSpPr/>
          <p:nvPr/>
        </p:nvSpPr>
        <p:spPr>
          <a:xfrm xmlns:a="http://schemas.openxmlformats.org/drawingml/2006/main">
            <a:off x="6350000" y="3300000"/>
            <a:ext cx="2500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화면 좌표 → AR 평면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충돌 지점 계산</a:t>
            </a:r>
          </a:p>
        </p:txBody>
      </p:sp>
      <p:sp>
        <p:nvSpPr>
          <p:cNvPr id="40" name="RoundRect40"/>
          <p:cNvSpPr/>
          <p:nvPr/>
        </p:nvSpPr>
        <p:spPr>
          <a:xfrm xmlns:a="http://schemas.openxmlformats.org/drawingml/2006/main">
            <a:off x="9150000" y="2600000"/>
            <a:ext cx="2800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41" name="Rect41"/>
          <p:cNvSpPr/>
          <p:nvPr/>
        </p:nvSpPr>
        <p:spPr>
          <a:xfrm xmlns:a="http://schemas.openxmlformats.org/drawingml/2006/main">
            <a:off x="9150000" y="2600000"/>
            <a:ext cx="2800000" cy="3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42" name="Rect42"/>
          <p:cNvSpPr/>
          <p:nvPr/>
        </p:nvSpPr>
        <p:spPr>
          <a:xfrm xmlns:a="http://schemas.openxmlformats.org/drawingml/2006/main">
            <a:off x="9150000" y="2600000"/>
            <a:ext cx="2800000" cy="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E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43" name="TextBox43"/>
          <p:cNvSpPr/>
          <p:nvPr/>
        </p:nvSpPr>
        <p:spPr>
          <a:xfrm xmlns:a="http://schemas.openxmlformats.org/drawingml/2006/main">
            <a:off x="9300000" y="2800000"/>
            <a:ext cx="2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FFEE58"/>
                </a:solidFill>
                <a:latin typeface="맑은 고딕"/>
                <a:ea typeface="맑은 고딕"/>
              </a:rPr>
              <a:t>ARPlaneManager</a:t>
            </a:r>
          </a:p>
        </p:txBody>
      </p:sp>
      <p:sp>
        <p:nvSpPr>
          <p:cNvPr id="44" name="TextBox44"/>
          <p:cNvSpPr/>
          <p:nvPr/>
        </p:nvSpPr>
        <p:spPr>
          <a:xfrm xmlns:a="http://schemas.openxmlformats.org/drawingml/2006/main">
            <a:off x="9300000" y="3300000"/>
            <a:ext cx="2500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실제 바닥/벽/천장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평면 탐지 및 추적</a:t>
            </a:r>
          </a:p>
        </p:txBody>
      </p:sp>
      <p:sp>
        <p:nvSpPr>
          <p:cNvPr id="45" name="RoundRect45"/>
          <p:cNvSpPr/>
          <p:nvPr/>
        </p:nvSpPr>
        <p:spPr>
          <a:xfrm xmlns:a="http://schemas.openxmlformats.org/drawingml/2006/main">
            <a:off x="600000" y="4800000"/>
            <a:ext cx="10900000" cy="17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46" name="TextBox46"/>
          <p:cNvSpPr/>
          <p:nvPr/>
        </p:nvSpPr>
        <p:spPr>
          <a:xfrm xmlns:a="http://schemas.openxmlformats.org/drawingml/2006/main">
            <a:off x="800000" y="4900000"/>
            <a:ext cx="10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600" b="1" dirty="0">
                <a:solidFill>
                  <a:srgbClr val="4FC3F7"/>
                </a:solidFill>
                <a:latin typeface="맑은 고딕"/>
                <a:ea typeface="맑은 고딕"/>
              </a:rPr>
              <a:t>GoldenFruit의 AR Assembly 구성</a:t>
            </a:r>
          </a:p>
        </p:txBody>
      </p:sp>
      <p:sp>
        <p:nvSpPr>
          <p:cNvPr id="47" name="TextBox47"/>
          <p:cNvSpPr/>
          <p:nvPr/>
        </p:nvSpPr>
        <p:spPr>
          <a:xfrm xmlns:a="http://schemas.openxmlformats.org/drawingml/2006/main">
            <a:off x="800000" y="5400000"/>
            <a:ext cx="3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66BB6A"/>
                </a:solidFill>
                <a:latin typeface="맑은 고딕"/>
                <a:ea typeface="맑은 고딕"/>
              </a:rPr>
              <a:t>FruitCollectionController</a:t>
            </a:r>
          </a:p>
        </p:txBody>
      </p:sp>
      <p:sp>
        <p:nvSpPr>
          <p:cNvPr id="48" name="TextBox48"/>
          <p:cNvSpPr/>
          <p:nvPr/>
        </p:nvSpPr>
        <p:spPr>
          <a:xfrm xmlns:a="http://schemas.openxmlformats.org/drawingml/2006/main">
            <a:off x="4300000" y="5400000"/>
            <a:ext cx="69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FFFFFF"/>
                </a:solidFill>
                <a:latin typeface="맑은 고딕"/>
                <a:ea typeface="맑은 고딕"/>
              </a:rPr>
              <a:t>카메라 탐지 → AR 평면에 과일 배치 → 수집</a:t>
            </a:r>
          </a:p>
        </p:txBody>
      </p:sp>
      <p:sp>
        <p:nvSpPr>
          <p:cNvPr id="49" name="TextBox49"/>
          <p:cNvSpPr/>
          <p:nvPr/>
        </p:nvSpPr>
        <p:spPr>
          <a:xfrm xmlns:a="http://schemas.openxmlformats.org/drawingml/2006/main">
            <a:off x="800000" y="5730000"/>
            <a:ext cx="3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FFA726"/>
                </a:solidFill>
                <a:latin typeface="맑은 고딕"/>
                <a:ea typeface="맑은 고딕"/>
              </a:rPr>
              <a:t>FruitPlacementController</a:t>
            </a:r>
          </a:p>
        </p:txBody>
      </p:sp>
      <p:sp>
        <p:nvSpPr>
          <p:cNvPr id="50" name="TextBox50"/>
          <p:cNvSpPr/>
          <p:nvPr/>
        </p:nvSpPr>
        <p:spPr>
          <a:xfrm xmlns:a="http://schemas.openxmlformats.org/drawingml/2006/main">
            <a:off x="4300000" y="5730000"/>
            <a:ext cx="69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FFFFFF"/>
                </a:solidFill>
                <a:latin typeface="맑은 고딕"/>
                <a:ea typeface="맑은 고딕"/>
              </a:rPr>
              <a:t>인벤토리에서 과일 선택 → 터치 위치에 배치</a:t>
            </a:r>
          </a:p>
        </p:txBody>
      </p:sp>
      <p:sp>
        <p:nvSpPr>
          <p:cNvPr id="51" name="TextBox51"/>
          <p:cNvSpPr/>
          <p:nvPr/>
        </p:nvSpPr>
        <p:spPr>
          <a:xfrm xmlns:a="http://schemas.openxmlformats.org/drawingml/2006/main">
            <a:off x="800000" y="6060000"/>
            <a:ext cx="3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FFEE58"/>
                </a:solidFill>
                <a:latin typeface="맑은 고딕"/>
                <a:ea typeface="맑은 고딕"/>
              </a:rPr>
              <a:t>FruitThrowController</a:t>
            </a:r>
          </a:p>
        </p:txBody>
      </p:sp>
      <p:sp>
        <p:nvSpPr>
          <p:cNvPr id="52" name="TextBox52"/>
          <p:cNvSpPr/>
          <p:nvPr/>
        </p:nvSpPr>
        <p:spPr>
          <a:xfrm xmlns:a="http://schemas.openxmlformats.org/drawingml/2006/main">
            <a:off x="4300000" y="6060000"/>
            <a:ext cx="69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FFFFFF"/>
                </a:solidFill>
                <a:latin typeface="맑은 고딕"/>
                <a:ea typeface="맑은 고딕"/>
              </a:rPr>
              <a:t>배치된 과일을 물리 기반으로 던지기</a:t>
            </a:r>
          </a:p>
        </p:txBody>
      </p:sp>
      <p:sp>
        <p:nvSpPr>
          <p:cNvPr id="53" name="TextBox53"/>
          <p:cNvSpPr/>
          <p:nvPr/>
        </p:nvSpPr>
        <p:spPr>
          <a:xfrm xmlns:a="http://schemas.openxmlformats.org/drawingml/2006/main">
            <a:off x="800000" y="6390000"/>
            <a:ext cx="3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4FC3F7"/>
                </a:solidFill>
                <a:latin typeface="맑은 고딕"/>
                <a:ea typeface="맑은 고딕"/>
              </a:rPr>
              <a:t>ARSessionHelper</a:t>
            </a:r>
          </a:p>
        </p:txBody>
      </p:sp>
      <p:sp>
        <p:nvSpPr>
          <p:cNvPr id="54" name="TextBox54"/>
          <p:cNvSpPr/>
          <p:nvPr/>
        </p:nvSpPr>
        <p:spPr>
          <a:xfrm xmlns:a="http://schemas.openxmlformats.org/drawingml/2006/main">
            <a:off x="4300000" y="6390000"/>
            <a:ext cx="69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FFFFFF"/>
                </a:solidFill>
                <a:latin typeface="맑은 고딕"/>
                <a:ea typeface="맑은 고딕"/>
              </a:rPr>
              <a:t>AR 세션 상태 로깅 및 리셋 기능</a:t>
            </a:r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Rect55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56" name="Rect56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57" name="TextBox57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2. ARSessionHelper (세션 관리)</a:t>
            </a:r>
          </a:p>
        </p:txBody>
      </p:sp>
      <p:sp>
        <p:nvSpPr>
          <p:cNvPr id="58" name="RoundRect58"/>
          <p:cNvSpPr/>
          <p:nvPr/>
        </p:nvSpPr>
        <p:spPr>
          <a:xfrm xmlns:a="http://schemas.openxmlformats.org/drawingml/2006/main">
            <a:off x="600000" y="1450000"/>
            <a:ext cx="10900000" cy="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59" name="TextBox59"/>
          <p:cNvSpPr/>
          <p:nvPr/>
        </p:nvSpPr>
        <p:spPr>
          <a:xfrm xmlns:a="http://schemas.openxmlformats.org/drawingml/2006/main">
            <a:off x="800000" y="1500000"/>
            <a:ext cx="105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4FC3F7"/>
                </a:solidFill>
                <a:latin typeface="맑은 고딕"/>
                <a:ea typeface="맑은 고딕"/>
              </a:rPr>
              <a:t>AR 세션의 생명주기를 관리하고 상태 변화를 로깅하는 헬퍼 클래스</a:t>
            </a:r>
          </a:p>
        </p:txBody>
      </p:sp>
      <p:sp>
        <p:nvSpPr>
          <p:cNvPr id="60" name="RoundRect60"/>
          <p:cNvSpPr/>
          <p:nvPr/>
        </p:nvSpPr>
        <p:spPr>
          <a:xfrm xmlns:a="http://schemas.openxmlformats.org/drawingml/2006/main">
            <a:off x="600000" y="2300000"/>
            <a:ext cx="6000000" cy="24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61" name="Rect61"/>
          <p:cNvSpPr/>
          <p:nvPr/>
        </p:nvSpPr>
        <p:spPr>
          <a:xfrm xmlns:a="http://schemas.openxmlformats.org/drawingml/2006/main">
            <a:off x="600000" y="2300000"/>
            <a:ext cx="408000" cy="4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62" name="Code62"/>
          <p:cNvSpPr/>
          <p:nvPr/>
        </p:nvSpPr>
        <p:spPr>
          <a:xfrm xmlns:a="http://schemas.openxmlformats.org/drawingml/2006/main">
            <a:off x="600000" y="2300000"/>
            <a:ext cx="6000000" cy="2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0000" tIns="200000" rIns="200000" bIns="200000" anchor="t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class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ARSessionHelper : MonoBehaviour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{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void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OnEnable()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{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    ARSession.stateChanged += OnStateChanged;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}</a:t>
            </a:r>
          </a:p>
          <a:p xmlns:a="http://schemas.openxmlformats.org/drawingml/2006/main">
            <a:pPr algn="l"/>
            <a:endParaRPr lang="ko-KR" sz="120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void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OnStateChanged(ARSessionStateChangedEventArgs args)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{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    Debug.Log($</a:t>
            </a:r>
            <a:r>
              <a:rPr lang="ko-KR" sz="1200" b="0" dirty="0">
                <a:solidFill>
                  <a:srgbClr val="CE9178"/>
                </a:solidFill>
                <a:latin typeface="Consolas"/>
                <a:ea typeface="맑은 고딕"/>
              </a:rPr>
              <a:t>"AR State: {args.state}"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);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}</a:t>
            </a:r>
          </a:p>
          <a:p xmlns:a="http://schemas.openxmlformats.org/drawingml/2006/main">
            <a:pPr algn="l"/>
            <a:endParaRPr lang="ko-KR" sz="120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void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ResetSession()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{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200" b="0" dirty="0">
                <a:solidFill>
                  <a:srgbClr val="608B4E"/>
                </a:solidFill>
                <a:latin typeface="Consolas"/>
                <a:ea typeface="맑은 고딕"/>
              </a:rPr>
              <a:t>// AR 세션 초기화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}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63" name="RoundRect63"/>
          <p:cNvSpPr/>
          <p:nvPr/>
        </p:nvSpPr>
        <p:spPr>
          <a:xfrm xmlns:a="http://schemas.openxmlformats.org/drawingml/2006/main">
            <a:off x="6900000" y="2300000"/>
            <a:ext cx="4900000" cy="24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64" name="Rect64"/>
          <p:cNvSpPr/>
          <p:nvPr/>
        </p:nvSpPr>
        <p:spPr>
          <a:xfrm xmlns:a="http://schemas.openxmlformats.org/drawingml/2006/main">
            <a:off x="6900000" y="2300000"/>
            <a:ext cx="408000" cy="4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65" name="TextBox65"/>
          <p:cNvSpPr/>
          <p:nvPr/>
        </p:nvSpPr>
        <p:spPr>
          <a:xfrm xmlns:a="http://schemas.openxmlformats.org/drawingml/2006/main">
            <a:off x="7100000" y="2400000"/>
            <a:ext cx="4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4FC3F7"/>
                </a:solidFill>
                <a:latin typeface="맑은 고딕"/>
                <a:ea typeface="맑은 고딕"/>
              </a:rPr>
              <a:t>AR 세션 상태 종류</a:t>
            </a:r>
          </a:p>
        </p:txBody>
      </p:sp>
      <p:sp>
        <p:nvSpPr>
          <p:cNvPr id="66" name="TextBox66"/>
          <p:cNvSpPr/>
          <p:nvPr/>
        </p:nvSpPr>
        <p:spPr>
          <a:xfrm xmlns:a="http://schemas.openxmlformats.org/drawingml/2006/main">
            <a:off x="7100000" y="2900000"/>
            <a:ext cx="22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1" dirty="0">
                <a:solidFill>
                  <a:srgbClr val="B0BEC5"/>
                </a:solidFill>
                <a:latin typeface="맑은 고딕"/>
                <a:ea typeface="맑은 고딕"/>
              </a:rPr>
              <a:t>None</a:t>
            </a:r>
          </a:p>
        </p:txBody>
      </p:sp>
      <p:sp>
        <p:nvSpPr>
          <p:cNvPr id="67" name="TextBox67"/>
          <p:cNvSpPr/>
          <p:nvPr/>
        </p:nvSpPr>
        <p:spPr>
          <a:xfrm xmlns:a="http://schemas.openxmlformats.org/drawingml/2006/main">
            <a:off x="9300000" y="2900000"/>
            <a:ext cx="23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초기 상태</a:t>
            </a:r>
          </a:p>
        </p:txBody>
      </p:sp>
      <p:sp>
        <p:nvSpPr>
          <p:cNvPr id="68" name="TextBox68"/>
          <p:cNvSpPr/>
          <p:nvPr/>
        </p:nvSpPr>
        <p:spPr>
          <a:xfrm xmlns:a="http://schemas.openxmlformats.org/drawingml/2006/main">
            <a:off x="7100000" y="3190000"/>
            <a:ext cx="22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1" dirty="0">
                <a:solidFill>
                  <a:srgbClr val="EF5350"/>
                </a:solidFill>
                <a:latin typeface="맑은 고딕"/>
                <a:ea typeface="맑은 고딕"/>
              </a:rPr>
              <a:t>Unsupported</a:t>
            </a:r>
          </a:p>
        </p:txBody>
      </p:sp>
      <p:sp>
        <p:nvSpPr>
          <p:cNvPr id="69" name="TextBox69"/>
          <p:cNvSpPr/>
          <p:nvPr/>
        </p:nvSpPr>
        <p:spPr>
          <a:xfrm xmlns:a="http://schemas.openxmlformats.org/drawingml/2006/main">
            <a:off x="9300000" y="3190000"/>
            <a:ext cx="23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기기가 AR 미지원</a:t>
            </a:r>
          </a:p>
        </p:txBody>
      </p:sp>
      <p:sp>
        <p:nvSpPr>
          <p:cNvPr id="70" name="TextBox70"/>
          <p:cNvSpPr/>
          <p:nvPr/>
        </p:nvSpPr>
        <p:spPr>
          <a:xfrm xmlns:a="http://schemas.openxmlformats.org/drawingml/2006/main">
            <a:off x="7100000" y="3480000"/>
            <a:ext cx="22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1" dirty="0">
                <a:solidFill>
                  <a:srgbClr val="FFEE58"/>
                </a:solidFill>
                <a:latin typeface="맑은 고딕"/>
                <a:ea typeface="맑은 고딕"/>
              </a:rPr>
              <a:t>CheckingAvailability</a:t>
            </a:r>
          </a:p>
        </p:txBody>
      </p:sp>
      <p:sp>
        <p:nvSpPr>
          <p:cNvPr id="71" name="TextBox71"/>
          <p:cNvSpPr/>
          <p:nvPr/>
        </p:nvSpPr>
        <p:spPr>
          <a:xfrm xmlns:a="http://schemas.openxmlformats.org/drawingml/2006/main">
            <a:off x="9300000" y="3480000"/>
            <a:ext cx="23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AR 지원 여부 확인 중</a:t>
            </a:r>
          </a:p>
        </p:txBody>
      </p:sp>
      <p:sp>
        <p:nvSpPr>
          <p:cNvPr id="72" name="TextBox72"/>
          <p:cNvSpPr/>
          <p:nvPr/>
        </p:nvSpPr>
        <p:spPr>
          <a:xfrm xmlns:a="http://schemas.openxmlformats.org/drawingml/2006/main">
            <a:off x="7100000" y="3770000"/>
            <a:ext cx="22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1" dirty="0">
                <a:solidFill>
                  <a:srgbClr val="FFA726"/>
                </a:solidFill>
                <a:latin typeface="맑은 고딕"/>
                <a:ea typeface="맑은 고딕"/>
              </a:rPr>
              <a:t>NeedsInstall</a:t>
            </a:r>
          </a:p>
        </p:txBody>
      </p:sp>
      <p:sp>
        <p:nvSpPr>
          <p:cNvPr id="73" name="TextBox73"/>
          <p:cNvSpPr/>
          <p:nvPr/>
        </p:nvSpPr>
        <p:spPr>
          <a:xfrm xmlns:a="http://schemas.openxmlformats.org/drawingml/2006/main">
            <a:off x="9300000" y="3770000"/>
            <a:ext cx="23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AR 소프트웨어 설치 필요</a:t>
            </a:r>
          </a:p>
        </p:txBody>
      </p:sp>
      <p:sp>
        <p:nvSpPr>
          <p:cNvPr id="74" name="TextBox74"/>
          <p:cNvSpPr/>
          <p:nvPr/>
        </p:nvSpPr>
        <p:spPr>
          <a:xfrm xmlns:a="http://schemas.openxmlformats.org/drawingml/2006/main">
            <a:off x="7100000" y="4060000"/>
            <a:ext cx="22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1" dirty="0">
                <a:solidFill>
                  <a:srgbClr val="FFA726"/>
                </a:solidFill>
                <a:latin typeface="맑은 고딕"/>
                <a:ea typeface="맑은 고딕"/>
              </a:rPr>
              <a:t>Installing</a:t>
            </a:r>
          </a:p>
        </p:txBody>
      </p:sp>
      <p:sp>
        <p:nvSpPr>
          <p:cNvPr id="75" name="TextBox75"/>
          <p:cNvSpPr/>
          <p:nvPr/>
        </p:nvSpPr>
        <p:spPr>
          <a:xfrm xmlns:a="http://schemas.openxmlformats.org/drawingml/2006/main">
            <a:off x="9300000" y="4060000"/>
            <a:ext cx="23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설치 진행 중</a:t>
            </a:r>
          </a:p>
        </p:txBody>
      </p:sp>
      <p:sp>
        <p:nvSpPr>
          <p:cNvPr id="76" name="TextBox76"/>
          <p:cNvSpPr/>
          <p:nvPr/>
        </p:nvSpPr>
        <p:spPr>
          <a:xfrm xmlns:a="http://schemas.openxmlformats.org/drawingml/2006/main">
            <a:off x="7100000" y="4350000"/>
            <a:ext cx="22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1" dirty="0">
                <a:solidFill>
                  <a:srgbClr val="66BB6A"/>
                </a:solidFill>
                <a:latin typeface="맑은 고딕"/>
                <a:ea typeface="맑은 고딕"/>
              </a:rPr>
              <a:t>Ready</a:t>
            </a:r>
          </a:p>
        </p:txBody>
      </p:sp>
      <p:sp>
        <p:nvSpPr>
          <p:cNvPr id="77" name="TextBox77"/>
          <p:cNvSpPr/>
          <p:nvPr/>
        </p:nvSpPr>
        <p:spPr>
          <a:xfrm xmlns:a="http://schemas.openxmlformats.org/drawingml/2006/main">
            <a:off x="9300000" y="4350000"/>
            <a:ext cx="23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AR 사용 가능</a:t>
            </a:r>
          </a:p>
        </p:txBody>
      </p:sp>
      <p:sp>
        <p:nvSpPr>
          <p:cNvPr id="78" name="TextBox78"/>
          <p:cNvSpPr/>
          <p:nvPr/>
        </p:nvSpPr>
        <p:spPr>
          <a:xfrm xmlns:a="http://schemas.openxmlformats.org/drawingml/2006/main">
            <a:off x="7100000" y="4640000"/>
            <a:ext cx="22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1" dirty="0">
                <a:solidFill>
                  <a:srgbClr val="4FC3F7"/>
                </a:solidFill>
                <a:latin typeface="맑은 고딕"/>
                <a:ea typeface="맑은 고딕"/>
              </a:rPr>
              <a:t>SessionInitializing</a:t>
            </a:r>
          </a:p>
        </p:txBody>
      </p:sp>
      <p:sp>
        <p:nvSpPr>
          <p:cNvPr id="79" name="TextBox79"/>
          <p:cNvSpPr/>
          <p:nvPr/>
        </p:nvSpPr>
        <p:spPr>
          <a:xfrm xmlns:a="http://schemas.openxmlformats.org/drawingml/2006/main">
            <a:off x="9300000" y="4640000"/>
            <a:ext cx="23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세션 초기화 중</a:t>
            </a:r>
          </a:p>
        </p:txBody>
      </p:sp>
      <p:sp>
        <p:nvSpPr>
          <p:cNvPr id="80" name="TextBox80"/>
          <p:cNvSpPr/>
          <p:nvPr/>
        </p:nvSpPr>
        <p:spPr>
          <a:xfrm xmlns:a="http://schemas.openxmlformats.org/drawingml/2006/main">
            <a:off x="7100000" y="4930000"/>
            <a:ext cx="22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1" dirty="0">
                <a:solidFill>
                  <a:srgbClr val="66BB6A"/>
                </a:solidFill>
                <a:latin typeface="맑은 고딕"/>
                <a:ea typeface="맑은 고딕"/>
              </a:rPr>
              <a:t>SessionTracking</a:t>
            </a:r>
          </a:p>
        </p:txBody>
      </p:sp>
      <p:sp>
        <p:nvSpPr>
          <p:cNvPr id="81" name="TextBox81"/>
          <p:cNvSpPr/>
          <p:nvPr/>
        </p:nvSpPr>
        <p:spPr>
          <a:xfrm xmlns:a="http://schemas.openxmlformats.org/drawingml/2006/main">
            <a:off x="9300000" y="4930000"/>
            <a:ext cx="23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정상 추적 중</a:t>
            </a:r>
          </a:p>
        </p:txBody>
      </p:sp>
      <p:sp>
        <p:nvSpPr>
          <p:cNvPr id="82" name="RoundRect82"/>
          <p:cNvSpPr/>
          <p:nvPr/>
        </p:nvSpPr>
        <p:spPr>
          <a:xfrm xmlns:a="http://schemas.openxmlformats.org/drawingml/2006/main">
            <a:off x="600000" y="5100000"/>
            <a:ext cx="10900000" cy="14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83" name="TextBox83"/>
          <p:cNvSpPr/>
          <p:nvPr/>
        </p:nvSpPr>
        <p:spPr>
          <a:xfrm xmlns:a="http://schemas.openxmlformats.org/drawingml/2006/main">
            <a:off x="800000" y="5200000"/>
            <a:ext cx="10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4FC3F7"/>
                </a:solidFill>
                <a:latin typeface="맑은 고딕"/>
                <a:ea typeface="맑은 고딕"/>
              </a:rPr>
              <a:t>AR 세션 관리가 중요한 이유</a:t>
            </a:r>
          </a:p>
        </p:txBody>
      </p:sp>
      <p:sp>
        <p:nvSpPr>
          <p:cNvPr id="84" name="TextBox84"/>
          <p:cNvSpPr/>
          <p:nvPr/>
        </p:nvSpPr>
        <p:spPr>
          <a:xfrm xmlns:a="http://schemas.openxmlformats.org/drawingml/2006/main">
            <a:off x="800000" y="5600000"/>
            <a:ext cx="10500000" cy="7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●  AR 기능은 기기 지원 여부에 따라 사용 불가할 수 있음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●  세션 상태에 따라 UI 피드백 제공 (로딩, 에러 메시지 등)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●  씬 전환 시 세션 리셋으로 추적 데이터 초기화</a:t>
            </a:r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Rect85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86" name="Rect86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87" name="TextBox87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3. FruitCollectionController (수집)</a:t>
            </a:r>
          </a:p>
        </p:txBody>
      </p:sp>
      <p:sp>
        <p:nvSpPr>
          <p:cNvPr id="88" name="RoundRect88"/>
          <p:cNvSpPr/>
          <p:nvPr/>
        </p:nvSpPr>
        <p:spPr>
          <a:xfrm xmlns:a="http://schemas.openxmlformats.org/drawingml/2006/main">
            <a:off x="400000" y="1400000"/>
            <a:ext cx="7000000" cy="52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89" name="Rect89"/>
          <p:cNvSpPr/>
          <p:nvPr/>
        </p:nvSpPr>
        <p:spPr>
          <a:xfrm xmlns:a="http://schemas.openxmlformats.org/drawingml/2006/main">
            <a:off x="400000" y="1400000"/>
            <a:ext cx="884000" cy="88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90" name="Code90"/>
          <p:cNvSpPr/>
          <p:nvPr/>
        </p:nvSpPr>
        <p:spPr>
          <a:xfrm xmlns:a="http://schemas.openxmlformats.org/drawingml/2006/main">
            <a:off x="400000" y="1400000"/>
            <a:ext cx="7000000" cy="5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0000" tIns="200000" rIns="200000" bIns="200000" anchor="t"/>
          <a:lstStyle xmlns:a="http://schemas.openxmlformats.org/drawingml/2006/main"/>
          <a:p xmlns:a="http://schemas.openxmlformats.org/drawingml/2006/main">
            <a:pPr algn="l"/>
            <a:r>
              <a:rPr lang="ko-KR" sz="10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000" b="0" dirty="0">
                <a:solidFill>
                  <a:srgbClr val="569CD6"/>
                </a:solidFill>
                <a:latin typeface="Consolas"/>
                <a:ea typeface="맑은 고딕"/>
              </a:rPr>
              <a:t>class</a:t>
            </a:r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FruitCollectionController : MonoBehaviour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{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[Inject] IFruitDetector _fruitDetector;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[Inject] IFruitRepository _fruitRepository;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[SerializeField] ARCameraManager _arCameraManager;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[SerializeField] ARRaycastManager _arRaycastManager;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[SerializeField] FruitSpecLibrary _fruitSpecLibrary;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[SerializeField] </a:t>
            </a:r>
            <a:r>
              <a:rPr lang="ko-KR" sz="1000" b="0" dirty="0">
                <a:solidFill>
                  <a:srgbClr val="569CD6"/>
                </a:solidFill>
                <a:latin typeface="Consolas"/>
                <a:ea typeface="맑은 고딕"/>
              </a:rPr>
              <a:t>float</a:t>
            </a:r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_detectionInterval = </a:t>
            </a:r>
            <a:r>
              <a:rPr lang="ko-KR" sz="1000" b="0" dirty="0">
                <a:solidFill>
                  <a:srgbClr val="B5CEA8"/>
                </a:solidFill>
                <a:latin typeface="Consolas"/>
                <a:ea typeface="맑은 고딕"/>
              </a:rPr>
              <a:t>1.0f</a:t>
            </a:r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;</a:t>
            </a:r>
          </a:p>
          <a:p xmlns:a="http://schemas.openxmlformats.org/drawingml/2006/main">
            <a:pPr algn="l"/>
            <a:endParaRPr lang="ko-KR" sz="100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000" b="0" dirty="0">
                <a:solidFill>
                  <a:srgbClr val="569CD6"/>
                </a:solidFill>
                <a:latin typeface="Consolas"/>
                <a:ea typeface="맑은 고딕"/>
              </a:rPr>
              <a:t>void</a:t>
            </a:r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Update()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{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000" b="0" dirty="0">
                <a:solidFill>
                  <a:srgbClr val="608B4E"/>
                </a:solidFill>
                <a:latin typeface="Consolas"/>
                <a:ea typeface="맑은 고딕"/>
              </a:rPr>
              <a:t>// 1초 간격으로 탐지 실행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000" b="0" dirty="0">
                <a:solidFill>
                  <a:srgbClr val="569CD6"/>
                </a:solidFill>
                <a:latin typeface="Consolas"/>
                <a:ea typeface="맑은 고딕"/>
              </a:rPr>
              <a:t>if</a:t>
            </a:r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(Time.time - _lastDetectionTime &lt; _detectionInterval)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        </a:t>
            </a:r>
            <a:r>
              <a:rPr lang="ko-KR" sz="1000" b="0" dirty="0">
                <a:solidFill>
                  <a:srgbClr val="569CD6"/>
                </a:solidFill>
                <a:latin typeface="Consolas"/>
                <a:ea typeface="맑은 고딕"/>
              </a:rPr>
              <a:t>return</a:t>
            </a:r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;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    _lastDetectionTime = Time.time;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    TryDetect();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}</a:t>
            </a:r>
          </a:p>
          <a:p xmlns:a="http://schemas.openxmlformats.org/drawingml/2006/main">
            <a:pPr algn="l"/>
            <a:endParaRPr lang="ko-KR" sz="100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000" b="0" dirty="0">
                <a:solidFill>
                  <a:srgbClr val="569CD6"/>
                </a:solidFill>
                <a:latin typeface="Consolas"/>
                <a:ea typeface="맑은 고딕"/>
              </a:rPr>
              <a:t>void</a:t>
            </a:r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TryDetect()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{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000" b="0" dirty="0">
                <a:solidFill>
                  <a:srgbClr val="608B4E"/>
                </a:solidFill>
                <a:latin typeface="Consolas"/>
                <a:ea typeface="맑은 고딕"/>
              </a:rPr>
              <a:t>// AR 카메라에서 CPU 이미지 획득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000" b="0" dirty="0">
                <a:solidFill>
                  <a:srgbClr val="569CD6"/>
                </a:solidFill>
                <a:latin typeface="Consolas"/>
                <a:ea typeface="맑은 고딕"/>
              </a:rPr>
              <a:t>if</a:t>
            </a:r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(!_arCameraManager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        .TryAcquireLatestCpuImage(</a:t>
            </a:r>
            <a:r>
              <a:rPr lang="ko-KR" sz="1000" b="0" dirty="0">
                <a:solidFill>
                  <a:srgbClr val="569CD6"/>
                </a:solidFill>
                <a:latin typeface="Consolas"/>
                <a:ea typeface="맑은 고딕"/>
              </a:rPr>
              <a:t>out</a:t>
            </a:r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XRCpuImage img))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        </a:t>
            </a:r>
            <a:r>
              <a:rPr lang="ko-KR" sz="1000" b="0" dirty="0">
                <a:solidFill>
                  <a:srgbClr val="569CD6"/>
                </a:solidFill>
                <a:latin typeface="Consolas"/>
                <a:ea typeface="맑은 고딕"/>
              </a:rPr>
              <a:t>return</a:t>
            </a:r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;</a:t>
            </a:r>
          </a:p>
          <a:p xmlns:a="http://schemas.openxmlformats.org/drawingml/2006/main">
            <a:pPr algn="l"/>
            <a:endParaRPr lang="ko-KR" sz="100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000" b="0" dirty="0">
                <a:solidFill>
                  <a:srgbClr val="569CD6"/>
                </a:solidFill>
                <a:latin typeface="Consolas"/>
                <a:ea typeface="맑은 고딕"/>
              </a:rPr>
              <a:t>using</a:t>
            </a:r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(img)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    {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        Texture2D tex = ImagePreprocessor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            .XRCpuImageToTexture2D(img);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        _fruitDetector.Detect(tex, results =&gt; {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            Destroy(tex);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            OnDetectionComplete(results);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        });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    }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}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91" name="RoundRect91"/>
          <p:cNvSpPr/>
          <p:nvPr/>
        </p:nvSpPr>
        <p:spPr>
          <a:xfrm xmlns:a="http://schemas.openxmlformats.org/drawingml/2006/main">
            <a:off x="7700000" y="1400000"/>
            <a:ext cx="4100000" cy="52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92" name="Rect92"/>
          <p:cNvSpPr/>
          <p:nvPr/>
        </p:nvSpPr>
        <p:spPr>
          <a:xfrm xmlns:a="http://schemas.openxmlformats.org/drawingml/2006/main">
            <a:off x="7700000" y="1400000"/>
            <a:ext cx="697000" cy="6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93" name="TextBox93"/>
          <p:cNvSpPr/>
          <p:nvPr/>
        </p:nvSpPr>
        <p:spPr>
          <a:xfrm xmlns:a="http://schemas.openxmlformats.org/drawingml/2006/main">
            <a:off x="7900000" y="1500000"/>
            <a:ext cx="37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4FC3F7"/>
                </a:solidFill>
                <a:latin typeface="맑은 고딕"/>
                <a:ea typeface="맑은 고딕"/>
              </a:rPr>
              <a:t>주입받는 의존성</a:t>
            </a:r>
          </a:p>
        </p:txBody>
      </p:sp>
      <p:sp>
        <p:nvSpPr>
          <p:cNvPr id="94" name="TextBox94"/>
          <p:cNvSpPr/>
          <p:nvPr/>
        </p:nvSpPr>
        <p:spPr>
          <a:xfrm xmlns:a="http://schemas.openxmlformats.org/drawingml/2006/main">
            <a:off x="7900000" y="2100000"/>
            <a:ext cx="3700000" cy="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1" dirty="0">
                <a:solidFill>
                  <a:srgbClr val="66BB6A"/>
                </a:solidFill>
                <a:latin typeface="맑은 고딕"/>
                <a:ea typeface="맑은 고딕"/>
              </a:rPr>
              <a:t>IFruitDetector</a:t>
            </a:r>
          </a:p>
        </p:txBody>
      </p:sp>
      <p:sp>
        <p:nvSpPr>
          <p:cNvPr id="95" name="TextBox95"/>
          <p:cNvSpPr/>
          <p:nvPr/>
        </p:nvSpPr>
        <p:spPr>
          <a:xfrm xmlns:a="http://schemas.openxmlformats.org/drawingml/2006/main">
            <a:off x="7900000" y="2370000"/>
            <a:ext cx="37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ML 탐지 (Mock/YOLO)</a:t>
            </a:r>
          </a:p>
        </p:txBody>
      </p:sp>
      <p:sp>
        <p:nvSpPr>
          <p:cNvPr id="96" name="TextBox96"/>
          <p:cNvSpPr/>
          <p:nvPr/>
        </p:nvSpPr>
        <p:spPr>
          <a:xfrm xmlns:a="http://schemas.openxmlformats.org/drawingml/2006/main">
            <a:off x="7900000" y="2680000"/>
            <a:ext cx="3700000" cy="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1" dirty="0">
                <a:solidFill>
                  <a:srgbClr val="FFA726"/>
                </a:solidFill>
                <a:latin typeface="맑은 고딕"/>
                <a:ea typeface="맑은 고딕"/>
              </a:rPr>
              <a:t>IFruitRepository</a:t>
            </a:r>
          </a:p>
        </p:txBody>
      </p:sp>
      <p:sp>
        <p:nvSpPr>
          <p:cNvPr id="97" name="TextBox97"/>
          <p:cNvSpPr/>
          <p:nvPr/>
        </p:nvSpPr>
        <p:spPr>
          <a:xfrm xmlns:a="http://schemas.openxmlformats.org/drawingml/2006/main">
            <a:off x="7900000" y="2950000"/>
            <a:ext cx="37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인벤토리 저장</a:t>
            </a:r>
          </a:p>
        </p:txBody>
      </p:sp>
      <p:sp>
        <p:nvSpPr>
          <p:cNvPr id="98" name="TextBox98"/>
          <p:cNvSpPr/>
          <p:nvPr/>
        </p:nvSpPr>
        <p:spPr>
          <a:xfrm xmlns:a="http://schemas.openxmlformats.org/drawingml/2006/main">
            <a:off x="7900000" y="3260000"/>
            <a:ext cx="3700000" cy="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1" dirty="0">
                <a:solidFill>
                  <a:srgbClr val="FFEE58"/>
                </a:solidFill>
                <a:latin typeface="맑은 고딕"/>
                <a:ea typeface="맑은 고딕"/>
              </a:rPr>
              <a:t>ARCameraManager</a:t>
            </a:r>
          </a:p>
        </p:txBody>
      </p:sp>
      <p:sp>
        <p:nvSpPr>
          <p:cNvPr id="99" name="TextBox99"/>
          <p:cNvSpPr/>
          <p:nvPr/>
        </p:nvSpPr>
        <p:spPr>
          <a:xfrm xmlns:a="http://schemas.openxmlformats.org/drawingml/2006/main">
            <a:off x="7900000" y="3530000"/>
            <a:ext cx="37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카메라 프레임 캡처</a:t>
            </a:r>
          </a:p>
        </p:txBody>
      </p:sp>
      <p:sp>
        <p:nvSpPr>
          <p:cNvPr id="100" name="TextBox100"/>
          <p:cNvSpPr/>
          <p:nvPr/>
        </p:nvSpPr>
        <p:spPr>
          <a:xfrm xmlns:a="http://schemas.openxmlformats.org/drawingml/2006/main">
            <a:off x="7900000" y="3840000"/>
            <a:ext cx="3700000" cy="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1" dirty="0">
                <a:solidFill>
                  <a:srgbClr val="4FC3F7"/>
                </a:solidFill>
                <a:latin typeface="맑은 고딕"/>
                <a:ea typeface="맑은 고딕"/>
              </a:rPr>
              <a:t>ARRaycastManager</a:t>
            </a:r>
          </a:p>
        </p:txBody>
      </p:sp>
      <p:sp>
        <p:nvSpPr>
          <p:cNvPr id="101" name="TextBox101"/>
          <p:cNvSpPr/>
          <p:nvPr/>
        </p:nvSpPr>
        <p:spPr>
          <a:xfrm xmlns:a="http://schemas.openxmlformats.org/drawingml/2006/main">
            <a:off x="7900000" y="4110000"/>
            <a:ext cx="37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AR 평면 충돌 검사</a:t>
            </a:r>
          </a:p>
        </p:txBody>
      </p:sp>
      <p:sp>
        <p:nvSpPr>
          <p:cNvPr id="102" name="TextBox102"/>
          <p:cNvSpPr/>
          <p:nvPr/>
        </p:nvSpPr>
        <p:spPr>
          <a:xfrm xmlns:a="http://schemas.openxmlformats.org/drawingml/2006/main">
            <a:off x="7900000" y="4420000"/>
            <a:ext cx="3700000" cy="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1" dirty="0">
                <a:solidFill>
                  <a:srgbClr val="66BB6A"/>
                </a:solidFill>
                <a:latin typeface="맑은 고딕"/>
                <a:ea typeface="맑은 고딕"/>
              </a:rPr>
              <a:t>FruitSpecLibrary</a:t>
            </a:r>
          </a:p>
        </p:txBody>
      </p:sp>
      <p:sp>
        <p:nvSpPr>
          <p:cNvPr id="103" name="TextBox103"/>
          <p:cNvSpPr/>
          <p:nvPr/>
        </p:nvSpPr>
        <p:spPr>
          <a:xfrm xmlns:a="http://schemas.openxmlformats.org/drawingml/2006/main">
            <a:off x="7900000" y="4690000"/>
            <a:ext cx="37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과일 정의 조회</a:t>
            </a:r>
          </a:p>
        </p:txBody>
      </p:sp>
      <p:sp>
        <p:nvSpPr>
          <p:cNvPr id="104" name="TextBox104"/>
          <p:cNvSpPr/>
          <p:nvPr/>
        </p:nvSpPr>
        <p:spPr>
          <a:xfrm xmlns:a="http://schemas.openxmlformats.org/drawingml/2006/main">
            <a:off x="7900000" y="5300000"/>
            <a:ext cx="37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B0BEC5"/>
                </a:solidFill>
                <a:latin typeface="맑은 고딕"/>
                <a:ea typeface="맑은 고딕"/>
              </a:rPr>
              <a:t>1초 간격 탐지: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B0BEC5"/>
                </a:solidFill>
                <a:latin typeface="맑은 고딕"/>
                <a:ea typeface="맑은 고딕"/>
              </a:rPr>
              <a:t>매 프레임 추론은 성능 낭비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B0BEC5"/>
                </a:solidFill>
                <a:latin typeface="맑은 고딕"/>
                <a:ea typeface="맑은 고딕"/>
              </a:rPr>
              <a:t>→ _detectionInterval로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B0BEC5"/>
                </a:solidFill>
                <a:latin typeface="맑은 고딕"/>
                <a:ea typeface="맑은 고딕"/>
              </a:rPr>
              <a:t>적절한 간격 유지</a:t>
            </a:r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5" name="Rect105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06" name="Rect106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07" name="TextBox107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4. 탐지 결과 → AR 배치 흐름</a:t>
            </a:r>
          </a:p>
        </p:txBody>
      </p:sp>
      <p:sp>
        <p:nvSpPr>
          <p:cNvPr id="108" name="RoundRect108"/>
          <p:cNvSpPr/>
          <p:nvPr/>
        </p:nvSpPr>
        <p:spPr>
          <a:xfrm xmlns:a="http://schemas.openxmlformats.org/drawingml/2006/main">
            <a:off x="600000" y="1500000"/>
            <a:ext cx="10900000" cy="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09" name="TextBox109"/>
          <p:cNvSpPr/>
          <p:nvPr/>
        </p:nvSpPr>
        <p:spPr>
          <a:xfrm xmlns:a="http://schemas.openxmlformats.org/drawingml/2006/main">
            <a:off x="800000" y="1550000"/>
            <a:ext cx="1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4FC3F7"/>
                </a:solidFill>
                <a:latin typeface="맑은 고딕"/>
                <a:ea typeface="맑은 고딕"/>
              </a:rPr>
              <a:t>Step 1</a:t>
            </a:r>
          </a:p>
        </p:txBody>
      </p:sp>
      <p:sp>
        <p:nvSpPr>
          <p:cNvPr id="110" name="TextBox110"/>
          <p:cNvSpPr/>
          <p:nvPr/>
        </p:nvSpPr>
        <p:spPr>
          <a:xfrm xmlns:a="http://schemas.openxmlformats.org/drawingml/2006/main">
            <a:off x="2300000" y="1550000"/>
            <a:ext cx="35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FFFFFF"/>
                </a:solidFill>
                <a:latin typeface="맑은 고딕"/>
                <a:ea typeface="맑은 고딕"/>
              </a:rPr>
              <a:t>탐지 결과 수신</a:t>
            </a:r>
          </a:p>
        </p:txBody>
      </p:sp>
      <p:sp>
        <p:nvSpPr>
          <p:cNvPr id="111" name="TextBox111"/>
          <p:cNvSpPr/>
          <p:nvPr/>
        </p:nvSpPr>
        <p:spPr>
          <a:xfrm xmlns:a="http://schemas.openxmlformats.org/drawingml/2006/main">
            <a:off x="5800000" y="1550000"/>
            <a:ext cx="5500000" cy="7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DetectionResult[] 배열에서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각 과일의 바운딩 박스 추출</a:t>
            </a:r>
          </a:p>
        </p:txBody>
      </p:sp>
      <p:sp>
        <p:nvSpPr>
          <p:cNvPr id="112" name="RoundRect112"/>
          <p:cNvSpPr/>
          <p:nvPr/>
        </p:nvSpPr>
        <p:spPr>
          <a:xfrm xmlns:a="http://schemas.openxmlformats.org/drawingml/2006/main">
            <a:off x="600000" y="2400000"/>
            <a:ext cx="10900000" cy="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13" name="TextBox113"/>
          <p:cNvSpPr/>
          <p:nvPr/>
        </p:nvSpPr>
        <p:spPr>
          <a:xfrm xmlns:a="http://schemas.openxmlformats.org/drawingml/2006/main">
            <a:off x="800000" y="2450000"/>
            <a:ext cx="1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66BB6A"/>
                </a:solidFill>
                <a:latin typeface="맑은 고딕"/>
                <a:ea typeface="맑은 고딕"/>
              </a:rPr>
              <a:t>Step 2</a:t>
            </a:r>
          </a:p>
        </p:txBody>
      </p:sp>
      <p:sp>
        <p:nvSpPr>
          <p:cNvPr id="114" name="TextBox114"/>
          <p:cNvSpPr/>
          <p:nvPr/>
        </p:nvSpPr>
        <p:spPr>
          <a:xfrm xmlns:a="http://schemas.openxmlformats.org/drawingml/2006/main">
            <a:off x="2300000" y="2450000"/>
            <a:ext cx="35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FFFFFF"/>
                </a:solidFill>
                <a:latin typeface="맑은 고딕"/>
                <a:ea typeface="맑은 고딕"/>
              </a:rPr>
              <a:t>화면 좌표 변환</a:t>
            </a:r>
          </a:p>
        </p:txBody>
      </p:sp>
      <p:sp>
        <p:nvSpPr>
          <p:cNvPr id="115" name="TextBox115"/>
          <p:cNvSpPr/>
          <p:nvPr/>
        </p:nvSpPr>
        <p:spPr>
          <a:xfrm xmlns:a="http://schemas.openxmlformats.org/drawingml/2006/main">
            <a:off x="5800000" y="2450000"/>
            <a:ext cx="5500000" cy="7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정규화 좌표(0~1) →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실제 화면 픽셀 좌표로 변환</a:t>
            </a:r>
          </a:p>
        </p:txBody>
      </p:sp>
      <p:sp>
        <p:nvSpPr>
          <p:cNvPr id="116" name="RoundRect116"/>
          <p:cNvSpPr/>
          <p:nvPr/>
        </p:nvSpPr>
        <p:spPr>
          <a:xfrm xmlns:a="http://schemas.openxmlformats.org/drawingml/2006/main">
            <a:off x="600000" y="3300000"/>
            <a:ext cx="10900000" cy="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17" name="TextBox117"/>
          <p:cNvSpPr/>
          <p:nvPr/>
        </p:nvSpPr>
        <p:spPr>
          <a:xfrm xmlns:a="http://schemas.openxmlformats.org/drawingml/2006/main">
            <a:off x="800000" y="3350000"/>
            <a:ext cx="1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FFA726"/>
                </a:solidFill>
                <a:latin typeface="맑은 고딕"/>
                <a:ea typeface="맑은 고딕"/>
              </a:rPr>
              <a:t>Step 3</a:t>
            </a:r>
          </a:p>
        </p:txBody>
      </p:sp>
      <p:sp>
        <p:nvSpPr>
          <p:cNvPr id="118" name="TextBox118"/>
          <p:cNvSpPr/>
          <p:nvPr/>
        </p:nvSpPr>
        <p:spPr>
          <a:xfrm xmlns:a="http://schemas.openxmlformats.org/drawingml/2006/main">
            <a:off x="2300000" y="3350000"/>
            <a:ext cx="35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FFFFFF"/>
                </a:solidFill>
                <a:latin typeface="맑은 고딕"/>
                <a:ea typeface="맑은 고딕"/>
              </a:rPr>
              <a:t>AR Raycast</a:t>
            </a:r>
          </a:p>
        </p:txBody>
      </p:sp>
      <p:sp>
        <p:nvSpPr>
          <p:cNvPr id="119" name="TextBox119"/>
          <p:cNvSpPr/>
          <p:nvPr/>
        </p:nvSpPr>
        <p:spPr>
          <a:xfrm xmlns:a="http://schemas.openxmlformats.org/drawingml/2006/main">
            <a:off x="5800000" y="3350000"/>
            <a:ext cx="5500000" cy="7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화면 좌표에서 AR 평면으로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광선 발사 → 충돌 지점 획득</a:t>
            </a:r>
          </a:p>
        </p:txBody>
      </p:sp>
      <p:sp>
        <p:nvSpPr>
          <p:cNvPr id="120" name="RoundRect120"/>
          <p:cNvSpPr/>
          <p:nvPr/>
        </p:nvSpPr>
        <p:spPr>
          <a:xfrm xmlns:a="http://schemas.openxmlformats.org/drawingml/2006/main">
            <a:off x="600000" y="4200000"/>
            <a:ext cx="10900000" cy="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21" name="TextBox121"/>
          <p:cNvSpPr/>
          <p:nvPr/>
        </p:nvSpPr>
        <p:spPr>
          <a:xfrm xmlns:a="http://schemas.openxmlformats.org/drawingml/2006/main">
            <a:off x="800000" y="4250000"/>
            <a:ext cx="1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FFEE58"/>
                </a:solidFill>
                <a:latin typeface="맑은 고딕"/>
                <a:ea typeface="맑은 고딕"/>
              </a:rPr>
              <a:t>Step 4</a:t>
            </a:r>
          </a:p>
        </p:txBody>
      </p:sp>
      <p:sp>
        <p:nvSpPr>
          <p:cNvPr id="122" name="TextBox122"/>
          <p:cNvSpPr/>
          <p:nvPr/>
        </p:nvSpPr>
        <p:spPr>
          <a:xfrm xmlns:a="http://schemas.openxmlformats.org/drawingml/2006/main">
            <a:off x="2300000" y="4250000"/>
            <a:ext cx="35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FFFFFF"/>
                </a:solidFill>
                <a:latin typeface="맑은 고딕"/>
                <a:ea typeface="맑은 고딕"/>
              </a:rPr>
              <a:t>과일 프리팹 생성</a:t>
            </a:r>
          </a:p>
        </p:txBody>
      </p:sp>
      <p:sp>
        <p:nvSpPr>
          <p:cNvPr id="123" name="TextBox123"/>
          <p:cNvSpPr/>
          <p:nvPr/>
        </p:nvSpPr>
        <p:spPr>
          <a:xfrm xmlns:a="http://schemas.openxmlformats.org/drawingml/2006/main">
            <a:off x="5800000" y="4250000"/>
            <a:ext cx="5500000" cy="7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FruitSpecLibrary에서 프리팹 조회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→ 충돌 지점에 Instantiate</a:t>
            </a:r>
          </a:p>
        </p:txBody>
      </p:sp>
      <p:sp>
        <p:nvSpPr>
          <p:cNvPr id="124" name="RoundRect124"/>
          <p:cNvSpPr/>
          <p:nvPr/>
        </p:nvSpPr>
        <p:spPr>
          <a:xfrm xmlns:a="http://schemas.openxmlformats.org/drawingml/2006/main">
            <a:off x="600000" y="5200000"/>
            <a:ext cx="10900000" cy="15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25" name="Rect125"/>
          <p:cNvSpPr/>
          <p:nvPr/>
        </p:nvSpPr>
        <p:spPr>
          <a:xfrm xmlns:a="http://schemas.openxmlformats.org/drawingml/2006/main">
            <a:off x="600000" y="5200000"/>
            <a:ext cx="255000" cy="25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26" name="Code126"/>
          <p:cNvSpPr/>
          <p:nvPr/>
        </p:nvSpPr>
        <p:spPr>
          <a:xfrm xmlns:a="http://schemas.openxmlformats.org/drawingml/2006/main">
            <a:off x="600000" y="5200000"/>
            <a:ext cx="10900000" cy="1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0000" tIns="200000" rIns="200000" bIns="200000" anchor="t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void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OnDetectionComplete(DetectionResult[] results)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{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foreach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(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var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result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in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results)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{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050" b="0" dirty="0">
                <a:solidFill>
                  <a:srgbClr val="608B4E"/>
                </a:solidFill>
                <a:latin typeface="Consolas"/>
                <a:ea typeface="맑은 고딕"/>
              </a:rPr>
              <a:t>// 바운딩 박스 중심 → 화면 좌표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Vector2 screenPoint =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new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Vector2(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    (result.BoundingBox.x + result.BoundingBox.width / </a:t>
            </a:r>
            <a:r>
              <a:rPr lang="ko-KR" sz="1050" b="0" dirty="0">
                <a:solidFill>
                  <a:srgbClr val="B5CEA8"/>
                </a:solidFill>
                <a:latin typeface="Consolas"/>
                <a:ea typeface="맑은 고딕"/>
              </a:rPr>
              <a:t>2f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) * Screen.width,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    (result.BoundingBox.y + result.BoundingBox.height / </a:t>
            </a:r>
            <a:r>
              <a:rPr lang="ko-KR" sz="1050" b="0" dirty="0">
                <a:solidFill>
                  <a:srgbClr val="B5CEA8"/>
                </a:solidFill>
                <a:latin typeface="Consolas"/>
                <a:ea typeface="맑은 고딕"/>
              </a:rPr>
              <a:t>2f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) * Screen.height);</a:t>
            </a:r>
          </a:p>
          <a:p xmlns:a="http://schemas.openxmlformats.org/drawingml/2006/main">
            <a:pPr algn="l"/>
            <a:endParaRPr lang="ko-KR" sz="105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050" b="0" dirty="0">
                <a:solidFill>
                  <a:srgbClr val="608B4E"/>
                </a:solidFill>
                <a:latin typeface="Consolas"/>
                <a:ea typeface="맑은 고딕"/>
              </a:rPr>
              <a:t>// AR 평면에 충돌 시 과일 스폰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if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(_arRaycastManager.Raycast(screenPoint, _hits, TrackableType.PlaneWithinPolygon))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    SpawnCollectible(result.FruitType, _hits[</a:t>
            </a:r>
            <a:r>
              <a:rPr lang="ko-KR" sz="1050" b="0" dirty="0">
                <a:solidFill>
                  <a:srgbClr val="B5CEA8"/>
                </a:solidFill>
                <a:latin typeface="Consolas"/>
                <a:ea typeface="맑은 고딕"/>
              </a:rPr>
              <a:t>0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].pose);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}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}</a:t>
            </a:r>
          </a:p>
        </p:txBody>
      </p:sp>
    </p:spTree>
  </p:cSld>
  <p:clrMapOvr>
    <a:masterClrMapping xmlns:a="http://schemas.openxmlformats.org/drawingml/2006/main"/>
  </p:clrMapOvr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7" name="Rect127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28" name="Rect128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29" name="TextBox129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5. FruitPlacementController (배치)</a:t>
            </a:r>
          </a:p>
        </p:txBody>
      </p:sp>
      <p:sp>
        <p:nvSpPr>
          <p:cNvPr id="130" name="RoundRect130"/>
          <p:cNvSpPr/>
          <p:nvPr/>
        </p:nvSpPr>
        <p:spPr>
          <a:xfrm xmlns:a="http://schemas.openxmlformats.org/drawingml/2006/main">
            <a:off x="600000" y="1450000"/>
            <a:ext cx="10900000" cy="7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31" name="TextBox131"/>
          <p:cNvSpPr/>
          <p:nvPr/>
        </p:nvSpPr>
        <p:spPr>
          <a:xfrm xmlns:a="http://schemas.openxmlformats.org/drawingml/2006/main">
            <a:off x="800000" y="1500000"/>
            <a:ext cx="10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4FC3F7"/>
                </a:solidFill>
                <a:latin typeface="맑은 고딕"/>
                <a:ea typeface="맑은 고딕"/>
              </a:rPr>
              <a:t>인벤토리에서 과일을 선택하여 AR 공간에 배치하는 컨트롤러</a:t>
            </a:r>
          </a:p>
        </p:txBody>
      </p:sp>
      <p:sp>
        <p:nvSpPr>
          <p:cNvPr id="132" name="TextBox132"/>
          <p:cNvSpPr/>
          <p:nvPr/>
        </p:nvSpPr>
        <p:spPr>
          <a:xfrm xmlns:a="http://schemas.openxmlformats.org/drawingml/2006/main">
            <a:off x="800000" y="1800000"/>
            <a:ext cx="10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0" dirty="0">
                <a:solidFill>
                  <a:srgbClr val="FFFFFF"/>
                </a:solidFill>
                <a:latin typeface="맑은 고딕"/>
                <a:ea typeface="맑은 고딕"/>
              </a:rPr>
              <a:t>수집(Collection)과 반대 방향: 인벤토리 → AR 세계</a:t>
            </a:r>
          </a:p>
        </p:txBody>
      </p:sp>
      <p:sp>
        <p:nvSpPr>
          <p:cNvPr id="133" name="RoundRect133"/>
          <p:cNvSpPr/>
          <p:nvPr/>
        </p:nvSpPr>
        <p:spPr>
          <a:xfrm xmlns:a="http://schemas.openxmlformats.org/drawingml/2006/main">
            <a:off x="600000" y="2400000"/>
            <a:ext cx="6000000" cy="2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34" name="Rect134"/>
          <p:cNvSpPr/>
          <p:nvPr/>
        </p:nvSpPr>
        <p:spPr>
          <a:xfrm xmlns:a="http://schemas.openxmlformats.org/drawingml/2006/main">
            <a:off x="600000" y="2400000"/>
            <a:ext cx="442000" cy="44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35" name="Code135"/>
          <p:cNvSpPr/>
          <p:nvPr/>
        </p:nvSpPr>
        <p:spPr>
          <a:xfrm xmlns:a="http://schemas.openxmlformats.org/drawingml/2006/main">
            <a:off x="600000" y="2400000"/>
            <a:ext cx="6000000" cy="2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0000" tIns="200000" rIns="200000" bIns="200000" anchor="t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class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FruitPlacementController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: MonoBehaviour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{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[Inject] IFruitRepository _fruitRepository;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[SerializeField] ARRaycastManager _arRaycast;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[SerializeField] FruitSpecLibrary _library;</a:t>
            </a:r>
          </a:p>
          <a:p xmlns:a="http://schemas.openxmlformats.org/drawingml/2006/main">
            <a:pPr algn="l"/>
            <a:endParaRPr lang="ko-KR" sz="105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050" b="0" dirty="0">
                <a:solidFill>
                  <a:srgbClr val="608B4E"/>
                </a:solidFill>
                <a:latin typeface="Consolas"/>
                <a:ea typeface="맑은 고딕"/>
              </a:rPr>
              <a:t>// 터치 위치에 과일 배치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void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PlaceFruit(Vector2 screenPos,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            FruitType type)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{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if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(_arRaycast.Raycast(screenPos,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    _hits, TrackableType.Plane...))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{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    Pose pose = _hits[</a:t>
            </a:r>
            <a:r>
              <a:rPr lang="ko-KR" sz="1050" b="0" dirty="0">
                <a:solidFill>
                  <a:srgbClr val="B5CEA8"/>
                </a:solidFill>
                <a:latin typeface="Consolas"/>
                <a:ea typeface="맑은 고딕"/>
              </a:rPr>
              <a:t>0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].pose;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    FruitSpec spec = _library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        .GetByType(type);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    Instantiate(spec.Prefab,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        pose.position, pose.rotation);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}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}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136" name="RoundRect136"/>
          <p:cNvSpPr/>
          <p:nvPr/>
        </p:nvSpPr>
        <p:spPr>
          <a:xfrm xmlns:a="http://schemas.openxmlformats.org/drawingml/2006/main">
            <a:off x="6900000" y="2400000"/>
            <a:ext cx="4900000" cy="20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37" name="Rect137"/>
          <p:cNvSpPr/>
          <p:nvPr/>
        </p:nvSpPr>
        <p:spPr>
          <a:xfrm xmlns:a="http://schemas.openxmlformats.org/drawingml/2006/main">
            <a:off x="6900000" y="2400000"/>
            <a:ext cx="4900000" cy="3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38" name="Rect138"/>
          <p:cNvSpPr/>
          <p:nvPr/>
        </p:nvSpPr>
        <p:spPr>
          <a:xfrm xmlns:a="http://schemas.openxmlformats.org/drawingml/2006/main">
            <a:off x="6900000" y="2400000"/>
            <a:ext cx="4900000" cy="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BB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39" name="TextBox139"/>
          <p:cNvSpPr/>
          <p:nvPr/>
        </p:nvSpPr>
        <p:spPr>
          <a:xfrm xmlns:a="http://schemas.openxmlformats.org/drawingml/2006/main">
            <a:off x="7100000" y="2600000"/>
            <a:ext cx="4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66BB6A"/>
                </a:solidFill>
                <a:latin typeface="맑은 고딕"/>
                <a:ea typeface="맑은 고딕"/>
              </a:rPr>
              <a:t>Collection vs Placement</a:t>
            </a:r>
          </a:p>
        </p:txBody>
      </p:sp>
      <p:sp>
        <p:nvSpPr>
          <p:cNvPr id="140" name="TextBox140"/>
          <p:cNvSpPr/>
          <p:nvPr/>
        </p:nvSpPr>
        <p:spPr>
          <a:xfrm xmlns:a="http://schemas.openxmlformats.org/drawingml/2006/main">
            <a:off x="7100000" y="3100000"/>
            <a:ext cx="4500000" cy="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Collection: 카메라 탐지 → AR 배치 → 수집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(외부 세계 → 인벤토리)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Placement: 인벤토리 선택 → AR 배치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(인벤토리 → 외부 세계)</a:t>
            </a:r>
          </a:p>
        </p:txBody>
      </p:sp>
      <p:sp>
        <p:nvSpPr>
          <p:cNvPr id="141" name="RoundRect141"/>
          <p:cNvSpPr/>
          <p:nvPr/>
        </p:nvSpPr>
        <p:spPr>
          <a:xfrm xmlns:a="http://schemas.openxmlformats.org/drawingml/2006/main">
            <a:off x="600000" y="5300000"/>
            <a:ext cx="10900000" cy="13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42" name="TextBox142"/>
          <p:cNvSpPr/>
          <p:nvPr/>
        </p:nvSpPr>
        <p:spPr>
          <a:xfrm xmlns:a="http://schemas.openxmlformats.org/drawingml/2006/main">
            <a:off x="800000" y="5400000"/>
            <a:ext cx="10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FFA726"/>
                </a:solidFill>
                <a:latin typeface="맑은 고딕"/>
                <a:ea typeface="맑은 고딕"/>
              </a:rPr>
              <a:t>CollectFruit() — 과일 수집 시 인벤토리에 저장</a:t>
            </a:r>
          </a:p>
        </p:txBody>
      </p:sp>
      <p:sp>
        <p:nvSpPr>
          <p:cNvPr id="143" name="RoundRect143"/>
          <p:cNvSpPr/>
          <p:nvPr/>
        </p:nvSpPr>
        <p:spPr>
          <a:xfrm xmlns:a="http://schemas.openxmlformats.org/drawingml/2006/main">
            <a:off x="800000" y="5800000"/>
            <a:ext cx="10300000" cy="7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44" name="Rect144"/>
          <p:cNvSpPr/>
          <p:nvPr/>
        </p:nvSpPr>
        <p:spPr>
          <a:xfrm xmlns:a="http://schemas.openxmlformats.org/drawingml/2006/main">
            <a:off x="800000" y="5800000"/>
            <a:ext cx="119000" cy="11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45" name="Code145"/>
          <p:cNvSpPr/>
          <p:nvPr/>
        </p:nvSpPr>
        <p:spPr>
          <a:xfrm xmlns:a="http://schemas.openxmlformats.org/drawingml/2006/main">
            <a:off x="800000" y="5800000"/>
            <a:ext cx="10300000" cy="7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0000" tIns="200000" rIns="200000" bIns="200000" anchor="t"/>
          <a:lstStyle xmlns:a="http://schemas.openxmlformats.org/drawingml/2006/main"/>
          <a:p xmlns:a="http://schemas.openxmlformats.org/drawingml/2006/main">
            <a:pPr algn="l"/>
            <a:r>
              <a:rPr lang="ko-KR" sz="10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000" b="0" dirty="0">
                <a:solidFill>
                  <a:srgbClr val="569CD6"/>
                </a:solidFill>
                <a:latin typeface="Consolas"/>
                <a:ea typeface="맑은 고딕"/>
              </a:rPr>
              <a:t>void</a:t>
            </a:r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CollectFruit(FruitType fruitType, GameObject fruitObject)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{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_fruitRepository.InsertItem(</a:t>
            </a:r>
            <a:r>
              <a:rPr lang="ko-KR" sz="1000" b="0" dirty="0">
                <a:solidFill>
                  <a:srgbClr val="569CD6"/>
                </a:solidFill>
                <a:latin typeface="Consolas"/>
                <a:ea typeface="맑은 고딕"/>
              </a:rPr>
              <a:t>new</a:t>
            </a:r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FruitItem(spec.Id, </a:t>
            </a:r>
            <a:r>
              <a:rPr lang="ko-KR" sz="1000" b="0" dirty="0">
                <a:solidFill>
                  <a:srgbClr val="B5CEA8"/>
                </a:solidFill>
                <a:latin typeface="Consolas"/>
                <a:ea typeface="맑은 고딕"/>
              </a:rPr>
              <a:t>1</a:t>
            </a:r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));  </a:t>
            </a:r>
            <a:r>
              <a:rPr lang="ko-KR" sz="1000" b="0" dirty="0">
                <a:solidFill>
                  <a:srgbClr val="608B4E"/>
                </a:solidFill>
                <a:latin typeface="Consolas"/>
                <a:ea typeface="맑은 고딕"/>
              </a:rPr>
              <a:t>// 인벤토리 추가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_fruitRepository.Save();                                 </a:t>
            </a:r>
            <a:r>
              <a:rPr lang="ko-KR" sz="1000" b="0" dirty="0">
                <a:solidFill>
                  <a:srgbClr val="608B4E"/>
                </a:solidFill>
                <a:latin typeface="Consolas"/>
                <a:ea typeface="맑은 고딕"/>
              </a:rPr>
              <a:t>// 영구 저장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Destroy(fruitObject);                                    </a:t>
            </a:r>
            <a:r>
              <a:rPr lang="ko-KR" sz="1000" b="0" dirty="0">
                <a:solidFill>
                  <a:srgbClr val="608B4E"/>
                </a:solidFill>
                <a:latin typeface="Consolas"/>
                <a:ea typeface="맑은 고딕"/>
              </a:rPr>
              <a:t>// AR 오브젝트 제거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}</a:t>
            </a:r>
          </a:p>
        </p:txBody>
      </p:sp>
    </p:spTree>
  </p:cSld>
  <p:clrMapOvr>
    <a:masterClrMapping xmlns:a="http://schemas.openxmlformats.org/drawingml/2006/main"/>
  </p:clrMapOvr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6" name="Rect146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47" name="Rect147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48" name="TextBox148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6. FruitThrowController (던지기)</a:t>
            </a:r>
          </a:p>
        </p:txBody>
      </p:sp>
      <p:sp>
        <p:nvSpPr>
          <p:cNvPr id="149" name="RoundRect149"/>
          <p:cNvSpPr/>
          <p:nvPr/>
        </p:nvSpPr>
        <p:spPr>
          <a:xfrm xmlns:a="http://schemas.openxmlformats.org/drawingml/2006/main">
            <a:off x="400000" y="1400000"/>
            <a:ext cx="7000000" cy="45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50" name="Rect150"/>
          <p:cNvSpPr/>
          <p:nvPr/>
        </p:nvSpPr>
        <p:spPr>
          <a:xfrm xmlns:a="http://schemas.openxmlformats.org/drawingml/2006/main">
            <a:off x="400000" y="1400000"/>
            <a:ext cx="765000" cy="76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51" name="Code151"/>
          <p:cNvSpPr/>
          <p:nvPr/>
        </p:nvSpPr>
        <p:spPr>
          <a:xfrm xmlns:a="http://schemas.openxmlformats.org/drawingml/2006/main">
            <a:off x="400000" y="1400000"/>
            <a:ext cx="7000000" cy="4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0000" tIns="200000" rIns="200000" bIns="200000" anchor="t"/>
          <a:lstStyle xmlns:a="http://schemas.openxmlformats.org/drawingml/2006/main"/>
          <a:p xmlns:a="http://schemas.openxmlformats.org/drawingml/2006/main">
            <a:pPr algn="l"/>
            <a:r>
              <a:rPr lang="ko-KR" sz="10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000" b="0" dirty="0">
                <a:solidFill>
                  <a:srgbClr val="569CD6"/>
                </a:solidFill>
                <a:latin typeface="Consolas"/>
                <a:ea typeface="맑은 고딕"/>
              </a:rPr>
              <a:t>class</a:t>
            </a:r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FruitThrowController : MonoBehaviour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{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[SerializeField] GameObject _fruitBallPrefab;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[SerializeField] </a:t>
            </a:r>
            <a:r>
              <a:rPr lang="ko-KR" sz="1000" b="0" dirty="0">
                <a:solidFill>
                  <a:srgbClr val="569CD6"/>
                </a:solidFill>
                <a:latin typeface="Consolas"/>
                <a:ea typeface="맑은 고딕"/>
              </a:rPr>
              <a:t>float</a:t>
            </a:r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_shootVelocity = </a:t>
            </a:r>
            <a:r>
              <a:rPr lang="ko-KR" sz="1000" b="0" dirty="0">
                <a:solidFill>
                  <a:srgbClr val="B5CEA8"/>
                </a:solidFill>
                <a:latin typeface="Consolas"/>
                <a:ea typeface="맑은 고딕"/>
              </a:rPr>
              <a:t>5f</a:t>
            </a:r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;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[SerializeField] </a:t>
            </a:r>
            <a:r>
              <a:rPr lang="ko-KR" sz="1000" b="0" dirty="0">
                <a:solidFill>
                  <a:srgbClr val="569CD6"/>
                </a:solidFill>
                <a:latin typeface="Consolas"/>
                <a:ea typeface="맑은 고딕"/>
              </a:rPr>
              <a:t>float</a:t>
            </a:r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_ballOffsetZ = </a:t>
            </a:r>
            <a:r>
              <a:rPr lang="ko-KR" sz="1000" b="0" dirty="0">
                <a:solidFill>
                  <a:srgbClr val="B5CEA8"/>
                </a:solidFill>
                <a:latin typeface="Consolas"/>
                <a:ea typeface="맑은 고딕"/>
              </a:rPr>
              <a:t>0.2f</a:t>
            </a:r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;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[SerializeField] InputActionReference _clickInput;</a:t>
            </a:r>
          </a:p>
          <a:p xmlns:a="http://schemas.openxmlformats.org/drawingml/2006/main">
            <a:pPr algn="l"/>
            <a:endParaRPr lang="ko-KR" sz="100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000" b="0" dirty="0">
                <a:solidFill>
                  <a:srgbClr val="569CD6"/>
                </a:solidFill>
                <a:latin typeface="Consolas"/>
                <a:ea typeface="맑은 고딕"/>
              </a:rPr>
              <a:t>void</a:t>
            </a:r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OnClickPerformed(InputAction.CallbackContext ctx)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{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000" b="0" dirty="0">
                <a:solidFill>
                  <a:srgbClr val="569CD6"/>
                </a:solidFill>
                <a:latin typeface="Consolas"/>
                <a:ea typeface="맑은 고딕"/>
              </a:rPr>
              <a:t>if</a:t>
            </a:r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(ctx.ReadValueAsButton())  </a:t>
            </a:r>
            <a:r>
              <a:rPr lang="ko-KR" sz="1000" b="0" dirty="0">
                <a:solidFill>
                  <a:srgbClr val="608B4E"/>
                </a:solidFill>
                <a:latin typeface="Consolas"/>
                <a:ea typeface="맑은 고딕"/>
              </a:rPr>
              <a:t>// 누름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    {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        </a:t>
            </a:r>
            <a:r>
              <a:rPr lang="ko-KR" sz="1000" b="0" dirty="0">
                <a:solidFill>
                  <a:srgbClr val="608B4E"/>
                </a:solidFill>
                <a:latin typeface="Consolas"/>
                <a:ea typeface="맑은 고딕"/>
              </a:rPr>
              <a:t>// 카메라 앞에 공 생성 (Kinematic)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        _standbyBall = Instantiate(_fruitBallPrefab);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        rb.isKinematic = </a:t>
            </a:r>
            <a:r>
              <a:rPr lang="ko-KR" sz="1000" b="0" dirty="0">
                <a:solidFill>
                  <a:srgbClr val="569CD6"/>
                </a:solidFill>
                <a:latin typeface="Consolas"/>
                <a:ea typeface="맑은 고딕"/>
              </a:rPr>
              <a:t>true</a:t>
            </a:r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;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        PlaceBall();  </a:t>
            </a:r>
            <a:r>
              <a:rPr lang="ko-KR" sz="1000" b="0" dirty="0">
                <a:solidFill>
                  <a:srgbClr val="608B4E"/>
                </a:solidFill>
                <a:latin typeface="Consolas"/>
                <a:ea typeface="맑은 고딕"/>
              </a:rPr>
              <a:t>// 화면 터치 위치에 배치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    }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000" b="0" dirty="0">
                <a:solidFill>
                  <a:srgbClr val="569CD6"/>
                </a:solidFill>
                <a:latin typeface="Consolas"/>
                <a:ea typeface="맑은 고딕"/>
              </a:rPr>
              <a:t>else</a:t>
            </a:r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</a:t>
            </a:r>
            <a:r>
              <a:rPr lang="ko-KR" sz="1000" b="0" dirty="0">
                <a:solidFill>
                  <a:srgbClr val="608B4E"/>
                </a:solidFill>
                <a:latin typeface="Consolas"/>
                <a:ea typeface="맑은 고딕"/>
              </a:rPr>
              <a:t>// 뗌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    {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        </a:t>
            </a:r>
            <a:r>
              <a:rPr lang="ko-KR" sz="1000" b="0" dirty="0">
                <a:solidFill>
                  <a:srgbClr val="608B4E"/>
                </a:solidFill>
                <a:latin typeface="Consolas"/>
                <a:ea typeface="맑은 고딕"/>
              </a:rPr>
              <a:t>// 물리 활성화 + 힘 적용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        rb.isKinematic = </a:t>
            </a:r>
            <a:r>
              <a:rPr lang="ko-KR" sz="1000" b="0" dirty="0">
                <a:solidFill>
                  <a:srgbClr val="569CD6"/>
                </a:solidFill>
                <a:latin typeface="Consolas"/>
                <a:ea typeface="맑은 고딕"/>
              </a:rPr>
              <a:t>false</a:t>
            </a:r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;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        Vector3 direction =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            (_camera.forward + _camera.up)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            .normalized;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        rb.AddForce(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            direction * _shootVelocity,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            ForceMode.VelocityChange);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    }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    }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D4D4D4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152" name="RoundRect152"/>
          <p:cNvSpPr/>
          <p:nvPr/>
        </p:nvSpPr>
        <p:spPr>
          <a:xfrm xmlns:a="http://schemas.openxmlformats.org/drawingml/2006/main">
            <a:off x="7700000" y="1400000"/>
            <a:ext cx="4200000" cy="45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53" name="Rect153"/>
          <p:cNvSpPr/>
          <p:nvPr/>
        </p:nvSpPr>
        <p:spPr>
          <a:xfrm xmlns:a="http://schemas.openxmlformats.org/drawingml/2006/main">
            <a:off x="7700000" y="1400000"/>
            <a:ext cx="714000" cy="71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54" name="TextBox154"/>
          <p:cNvSpPr/>
          <p:nvPr/>
        </p:nvSpPr>
        <p:spPr>
          <a:xfrm xmlns:a="http://schemas.openxmlformats.org/drawingml/2006/main">
            <a:off x="7900000" y="1500000"/>
            <a:ext cx="38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4FC3F7"/>
                </a:solidFill>
                <a:latin typeface="맑은 고딕"/>
                <a:ea typeface="맑은 고딕"/>
              </a:rPr>
              <a:t>던지기 메카닉 단계</a:t>
            </a:r>
          </a:p>
        </p:txBody>
      </p:sp>
      <p:sp>
        <p:nvSpPr>
          <p:cNvPr id="155" name="TextBox155"/>
          <p:cNvSpPr/>
          <p:nvPr/>
        </p:nvSpPr>
        <p:spPr>
          <a:xfrm xmlns:a="http://schemas.openxmlformats.org/drawingml/2006/main">
            <a:off x="7900000" y="2100000"/>
            <a:ext cx="38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66BB6A"/>
                </a:solidFill>
                <a:latin typeface="맑은 고딕"/>
                <a:ea typeface="맑은 고딕"/>
              </a:rPr>
              <a:t>1. 터치 시작</a:t>
            </a:r>
          </a:p>
        </p:txBody>
      </p:sp>
      <p:sp>
        <p:nvSpPr>
          <p:cNvPr id="156" name="TextBox156"/>
          <p:cNvSpPr/>
          <p:nvPr/>
        </p:nvSpPr>
        <p:spPr>
          <a:xfrm xmlns:a="http://schemas.openxmlformats.org/drawingml/2006/main">
            <a:off x="7900000" y="2380000"/>
            <a:ext cx="38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과일 공 프리팹을 Instantiate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isKinematic = true (물리 비활성)</a:t>
            </a:r>
          </a:p>
        </p:txBody>
      </p:sp>
      <p:sp>
        <p:nvSpPr>
          <p:cNvPr id="157" name="TextBox157"/>
          <p:cNvSpPr/>
          <p:nvPr/>
        </p:nvSpPr>
        <p:spPr>
          <a:xfrm xmlns:a="http://schemas.openxmlformats.org/drawingml/2006/main">
            <a:off x="7900000" y="2850000"/>
            <a:ext cx="38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FFA726"/>
                </a:solidFill>
                <a:latin typeface="맑은 고딕"/>
                <a:ea typeface="맑은 고딕"/>
              </a:rPr>
              <a:t>2. 터치 이동</a:t>
            </a:r>
          </a:p>
        </p:txBody>
      </p:sp>
      <p:sp>
        <p:nvSpPr>
          <p:cNvPr id="158" name="TextBox158"/>
          <p:cNvSpPr/>
          <p:nvPr/>
        </p:nvSpPr>
        <p:spPr>
          <a:xfrm xmlns:a="http://schemas.openxmlformats.org/drawingml/2006/main">
            <a:off x="7900000" y="3130000"/>
            <a:ext cx="38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ScreenPointToRay()로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카메라 앞 0.2m에 공 배치</a:t>
            </a:r>
          </a:p>
        </p:txBody>
      </p:sp>
      <p:sp>
        <p:nvSpPr>
          <p:cNvPr id="159" name="TextBox159"/>
          <p:cNvSpPr/>
          <p:nvPr/>
        </p:nvSpPr>
        <p:spPr>
          <a:xfrm xmlns:a="http://schemas.openxmlformats.org/drawingml/2006/main">
            <a:off x="7900000" y="3600000"/>
            <a:ext cx="38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FFEE58"/>
                </a:solidFill>
                <a:latin typeface="맑은 고딕"/>
                <a:ea typeface="맑은 고딕"/>
              </a:rPr>
              <a:t>3. 터치 해제</a:t>
            </a:r>
          </a:p>
        </p:txBody>
      </p:sp>
      <p:sp>
        <p:nvSpPr>
          <p:cNvPr id="160" name="TextBox160"/>
          <p:cNvSpPr/>
          <p:nvPr/>
        </p:nvSpPr>
        <p:spPr>
          <a:xfrm xmlns:a="http://schemas.openxmlformats.org/drawingml/2006/main">
            <a:off x="7900000" y="3880000"/>
            <a:ext cx="38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isKinematic = false로 전환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물리 엔진이 공을 제어</a:t>
            </a:r>
          </a:p>
        </p:txBody>
      </p:sp>
      <p:sp>
        <p:nvSpPr>
          <p:cNvPr id="161" name="TextBox161"/>
          <p:cNvSpPr/>
          <p:nvPr/>
        </p:nvSpPr>
        <p:spPr>
          <a:xfrm xmlns:a="http://schemas.openxmlformats.org/drawingml/2006/main">
            <a:off x="7900000" y="4350000"/>
            <a:ext cx="38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4FC3F7"/>
                </a:solidFill>
                <a:latin typeface="맑은 고딕"/>
                <a:ea typeface="맑은 고딕"/>
              </a:rPr>
              <a:t>4. 힘 적용</a:t>
            </a:r>
          </a:p>
        </p:txBody>
      </p:sp>
      <p:sp>
        <p:nvSpPr>
          <p:cNvPr id="162" name="TextBox162"/>
          <p:cNvSpPr/>
          <p:nvPr/>
        </p:nvSpPr>
        <p:spPr>
          <a:xfrm xmlns:a="http://schemas.openxmlformats.org/drawingml/2006/main">
            <a:off x="7900000" y="4630000"/>
            <a:ext cx="38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카메라 전방 + 상방 합산 벡터로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VelocityChange 모드 힘 적용</a:t>
            </a:r>
          </a:p>
        </p:txBody>
      </p:sp>
      <p:sp>
        <p:nvSpPr>
          <p:cNvPr id="163" name="TextBox163"/>
          <p:cNvSpPr/>
          <p:nvPr/>
        </p:nvSpPr>
        <p:spPr>
          <a:xfrm xmlns:a="http://schemas.openxmlformats.org/drawingml/2006/main">
            <a:off x="600000" y="6100000"/>
            <a:ext cx="110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B0BEC5"/>
                </a:solidFill>
                <a:latin typeface="맑은 고딕"/>
                <a:ea typeface="맑은 고딕"/>
              </a:rPr>
              <a:t>VelocityChange: 질량 무시, 속도를 직접 설정 → 일관된 던지기 느낌</a:t>
            </a:r>
          </a:p>
        </p:txBody>
      </p:sp>
    </p:spTree>
  </p:cSld>
  <p:clrMapOvr>
    <a:masterClrMapping xmlns:a="http://schemas.openxmlformats.org/drawingml/2006/main"/>
  </p:clrMapOvr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4" name="Rect164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65" name="Rect165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66" name="TextBox166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7. Input System 연동</a:t>
            </a:r>
          </a:p>
        </p:txBody>
      </p:sp>
      <p:sp>
        <p:nvSpPr>
          <p:cNvPr id="167" name="RoundRect167"/>
          <p:cNvSpPr/>
          <p:nvPr/>
        </p:nvSpPr>
        <p:spPr>
          <a:xfrm xmlns:a="http://schemas.openxmlformats.org/drawingml/2006/main">
            <a:off x="600000" y="1450000"/>
            <a:ext cx="10900000" cy="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68" name="TextBox168"/>
          <p:cNvSpPr/>
          <p:nvPr/>
        </p:nvSpPr>
        <p:spPr>
          <a:xfrm xmlns:a="http://schemas.openxmlformats.org/drawingml/2006/main">
            <a:off x="800000" y="1500000"/>
            <a:ext cx="105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4FC3F7"/>
                </a:solidFill>
                <a:latin typeface="맑은 고딕"/>
                <a:ea typeface="맑은 고딕"/>
              </a:rPr>
              <a:t>Unity New Input System + XR Interaction Toolkit을 통한 입력 처리</a:t>
            </a:r>
          </a:p>
        </p:txBody>
      </p:sp>
      <p:sp>
        <p:nvSpPr>
          <p:cNvPr id="169" name="TextBox169"/>
          <p:cNvSpPr/>
          <p:nvPr/>
        </p:nvSpPr>
        <p:spPr>
          <a:xfrm xmlns:a="http://schemas.openxmlformats.org/drawingml/2006/main">
            <a:off x="800000" y="1850000"/>
            <a:ext cx="105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0" dirty="0">
                <a:solidFill>
                  <a:srgbClr val="FFFFFF"/>
                </a:solidFill>
                <a:latin typeface="맑은 고딕"/>
                <a:ea typeface="맑은 고딕"/>
              </a:rPr>
              <a:t>InputActionReference로 입력 액션을 Inspector에서 바인딩</a:t>
            </a:r>
          </a:p>
        </p:txBody>
      </p:sp>
      <p:sp>
        <p:nvSpPr>
          <p:cNvPr id="170" name="RoundRect170"/>
          <p:cNvSpPr/>
          <p:nvPr/>
        </p:nvSpPr>
        <p:spPr>
          <a:xfrm xmlns:a="http://schemas.openxmlformats.org/drawingml/2006/main">
            <a:off x="600000" y="2500000"/>
            <a:ext cx="6000000" cy="2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71" name="Rect171"/>
          <p:cNvSpPr/>
          <p:nvPr/>
        </p:nvSpPr>
        <p:spPr>
          <a:xfrm xmlns:a="http://schemas.openxmlformats.org/drawingml/2006/main">
            <a:off x="600000" y="2500000"/>
            <a:ext cx="442000" cy="44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72" name="Code172"/>
          <p:cNvSpPr/>
          <p:nvPr/>
        </p:nvSpPr>
        <p:spPr>
          <a:xfrm xmlns:a="http://schemas.openxmlformats.org/drawingml/2006/main">
            <a:off x="600000" y="2500000"/>
            <a:ext cx="6000000" cy="2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0000" tIns="200000" rIns="200000" bIns="200000" anchor="t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608B4E"/>
                </a:solidFill>
                <a:latin typeface="Consolas"/>
                <a:ea typeface="맑은 고딕"/>
              </a:rPr>
              <a:t>// 입력 액션을 Inspector에서 할당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[SerializeField]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InputActionReference _clickInputAction;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[SerializeField]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InputActionReference _pointInputAction;</a:t>
            </a:r>
          </a:p>
          <a:p xmlns:a="http://schemas.openxmlformats.org/drawingml/2006/main">
            <a:pPr algn="l"/>
            <a:endParaRPr lang="ko-KR" sz="105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void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OnEnable()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{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_clickInputAction.action.performed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+= OnClickPerformed;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_pointInputAction.action.performed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+= OnPointPerformed;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}</a:t>
            </a:r>
          </a:p>
          <a:p xmlns:a="http://schemas.openxmlformats.org/drawingml/2006/main">
            <a:pPr algn="l"/>
            <a:endParaRPr lang="ko-KR" sz="105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void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OnDisable()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{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050" b="0" dirty="0">
                <a:solidFill>
                  <a:srgbClr val="608B4E"/>
                </a:solidFill>
                <a:latin typeface="Consolas"/>
                <a:ea typeface="맑은 고딕"/>
              </a:rPr>
              <a:t>// 구독 해제 (메모리 누수 방지)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_clickInputAction.action.performed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-= OnClickPerformed;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173" name="RoundRect173"/>
          <p:cNvSpPr/>
          <p:nvPr/>
        </p:nvSpPr>
        <p:spPr>
          <a:xfrm xmlns:a="http://schemas.openxmlformats.org/drawingml/2006/main">
            <a:off x="6900000" y="2500000"/>
            <a:ext cx="4900000" cy="2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74" name="Rect174"/>
          <p:cNvSpPr/>
          <p:nvPr/>
        </p:nvSpPr>
        <p:spPr>
          <a:xfrm xmlns:a="http://schemas.openxmlformats.org/drawingml/2006/main">
            <a:off x="6900000" y="2500000"/>
            <a:ext cx="442000" cy="44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75" name="TextBox175"/>
          <p:cNvSpPr/>
          <p:nvPr/>
        </p:nvSpPr>
        <p:spPr>
          <a:xfrm xmlns:a="http://schemas.openxmlformats.org/drawingml/2006/main">
            <a:off x="7100000" y="2600000"/>
            <a:ext cx="4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66BB6A"/>
                </a:solidFill>
                <a:latin typeface="맑은 고딕"/>
                <a:ea typeface="맑은 고딕"/>
              </a:rPr>
              <a:t>Input System의 이점</a:t>
            </a:r>
          </a:p>
        </p:txBody>
      </p:sp>
      <p:sp>
        <p:nvSpPr>
          <p:cNvPr id="176" name="TextBox176"/>
          <p:cNvSpPr/>
          <p:nvPr/>
        </p:nvSpPr>
        <p:spPr>
          <a:xfrm xmlns:a="http://schemas.openxmlformats.org/drawingml/2006/main">
            <a:off x="7100000" y="3100000"/>
            <a:ext cx="4500000" cy="2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4FC3F7"/>
                </a:solidFill>
                <a:latin typeface="맑은 고딕"/>
                <a:ea typeface="맑은 고딕"/>
              </a:rPr>
              <a:t>플랫폼 독립</a:t>
            </a:r>
          </a:p>
        </p:txBody>
      </p:sp>
      <p:sp>
        <p:nvSpPr>
          <p:cNvPr id="177" name="TextBox177"/>
          <p:cNvSpPr/>
          <p:nvPr/>
        </p:nvSpPr>
        <p:spPr>
          <a:xfrm xmlns:a="http://schemas.openxmlformats.org/drawingml/2006/main">
            <a:off x="7100000" y="3350000"/>
            <a:ext cx="45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마우스, 터치, VR 컨트롤러를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같은 액션으로 처리</a:t>
            </a:r>
          </a:p>
        </p:txBody>
      </p:sp>
      <p:sp>
        <p:nvSpPr>
          <p:cNvPr id="178" name="TextBox178"/>
          <p:cNvSpPr/>
          <p:nvPr/>
        </p:nvSpPr>
        <p:spPr>
          <a:xfrm xmlns:a="http://schemas.openxmlformats.org/drawingml/2006/main">
            <a:off x="7100000" y="3720000"/>
            <a:ext cx="4500000" cy="2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66BB6A"/>
                </a:solidFill>
                <a:latin typeface="맑은 고딕"/>
                <a:ea typeface="맑은 고딕"/>
              </a:rPr>
              <a:t>Inspector 바인딩</a:t>
            </a:r>
          </a:p>
        </p:txBody>
      </p:sp>
      <p:sp>
        <p:nvSpPr>
          <p:cNvPr id="179" name="TextBox179"/>
          <p:cNvSpPr/>
          <p:nvPr/>
        </p:nvSpPr>
        <p:spPr>
          <a:xfrm xmlns:a="http://schemas.openxmlformats.org/drawingml/2006/main">
            <a:off x="7100000" y="3970000"/>
            <a:ext cx="45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코드 수정 없이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Input Action Asset에서 매핑 변경</a:t>
            </a:r>
          </a:p>
        </p:txBody>
      </p:sp>
      <p:sp>
        <p:nvSpPr>
          <p:cNvPr id="180" name="TextBox180"/>
          <p:cNvSpPr/>
          <p:nvPr/>
        </p:nvSpPr>
        <p:spPr>
          <a:xfrm xmlns:a="http://schemas.openxmlformats.org/drawingml/2006/main">
            <a:off x="7100000" y="4340000"/>
            <a:ext cx="4500000" cy="2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FFA726"/>
                </a:solidFill>
                <a:latin typeface="맑은 고딕"/>
                <a:ea typeface="맑은 고딕"/>
              </a:rPr>
              <a:t>이벤트 기반</a:t>
            </a:r>
          </a:p>
        </p:txBody>
      </p:sp>
      <p:sp>
        <p:nvSpPr>
          <p:cNvPr id="181" name="TextBox181"/>
          <p:cNvSpPr/>
          <p:nvPr/>
        </p:nvSpPr>
        <p:spPr>
          <a:xfrm xmlns:a="http://schemas.openxmlformats.org/drawingml/2006/main">
            <a:off x="7100000" y="4590000"/>
            <a:ext cx="45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폴링 대신 performed 이벤트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→ 불필요한 Update() 체크 제거</a:t>
            </a:r>
          </a:p>
        </p:txBody>
      </p:sp>
      <p:sp>
        <p:nvSpPr>
          <p:cNvPr id="182" name="TextBox182"/>
          <p:cNvSpPr/>
          <p:nvPr/>
        </p:nvSpPr>
        <p:spPr>
          <a:xfrm xmlns:a="http://schemas.openxmlformats.org/drawingml/2006/main">
            <a:off x="7100000" y="4960000"/>
            <a:ext cx="4500000" cy="2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EF5350"/>
                </a:solidFill>
                <a:latin typeface="맑은 고딕"/>
                <a:ea typeface="맑은 고딕"/>
              </a:rPr>
              <a:t>구독 해제</a:t>
            </a:r>
          </a:p>
        </p:txBody>
      </p:sp>
      <p:sp>
        <p:nvSpPr>
          <p:cNvPr id="183" name="TextBox183"/>
          <p:cNvSpPr/>
          <p:nvPr/>
        </p:nvSpPr>
        <p:spPr>
          <a:xfrm xmlns:a="http://schemas.openxmlformats.org/drawingml/2006/main">
            <a:off x="7100000" y="5210000"/>
            <a:ext cx="45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OnDisable에서 -= 필수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→ 메모리 누수 방지</a:t>
            </a:r>
          </a:p>
        </p:txBody>
      </p:sp>
      <p:sp>
        <p:nvSpPr>
          <p:cNvPr id="184" name="RoundRect184"/>
          <p:cNvSpPr/>
          <p:nvPr/>
        </p:nvSpPr>
        <p:spPr>
          <a:xfrm xmlns:a="http://schemas.openxmlformats.org/drawingml/2006/main">
            <a:off x="600000" y="5500000"/>
            <a:ext cx="10900000" cy="10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85" name="TextBox185"/>
          <p:cNvSpPr/>
          <p:nvPr/>
        </p:nvSpPr>
        <p:spPr>
          <a:xfrm xmlns:a="http://schemas.openxmlformats.org/drawingml/2006/main">
            <a:off x="800000" y="5550000"/>
            <a:ext cx="10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1" dirty="0">
                <a:solidFill>
                  <a:srgbClr val="FFEE58"/>
                </a:solidFill>
                <a:latin typeface="맑은 고딕"/>
                <a:ea typeface="맑은 고딕"/>
              </a:rPr>
              <a:t>PlaceBall() — 화면 터치 위치에 공 배치</a:t>
            </a:r>
          </a:p>
        </p:txBody>
      </p:sp>
      <p:sp>
        <p:nvSpPr>
          <p:cNvPr id="186" name="RoundRect186"/>
          <p:cNvSpPr/>
          <p:nvPr/>
        </p:nvSpPr>
        <p:spPr>
          <a:xfrm xmlns:a="http://schemas.openxmlformats.org/drawingml/2006/main">
            <a:off x="800000" y="5950000"/>
            <a:ext cx="10500000" cy="5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87" name="Rect187"/>
          <p:cNvSpPr/>
          <p:nvPr/>
        </p:nvSpPr>
        <p:spPr>
          <a:xfrm xmlns:a="http://schemas.openxmlformats.org/drawingml/2006/main">
            <a:off x="800000" y="5950000"/>
            <a:ext cx="85000" cy="8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88" name="Code188"/>
          <p:cNvSpPr/>
          <p:nvPr/>
        </p:nvSpPr>
        <p:spPr>
          <a:xfrm xmlns:a="http://schemas.openxmlformats.org/drawingml/2006/main">
            <a:off x="800000" y="5950000"/>
            <a:ext cx="105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0000" tIns="200000" rIns="200000" bIns="200000" anchor="t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Ray ray = _camera.ScreenPointToRay(_cachedTapPosition);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_standbyBall.position = ray.GetPoint(_ballOffsetZ);  </a:t>
            </a:r>
            <a:r>
              <a:rPr lang="ko-KR" sz="1100" b="0" dirty="0">
                <a:solidFill>
                  <a:srgbClr val="608B4E"/>
                </a:solidFill>
                <a:latin typeface="Consolas"/>
                <a:ea typeface="맑은 고딕"/>
              </a:rPr>
              <a:t>// 카메라 앞 0.2m</a:t>
            </a:r>
          </a:p>
        </p:txBody>
      </p:sp>
    </p:spTree>
  </p:cSld>
  <p:clrMapOvr>
    <a:masterClrMapping xmlns:a="http://schemas.openxmlformats.org/drawingml/2006/main"/>
  </p:clrMapOvr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9" name="Rect189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90" name="Rect190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91" name="TextBox191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8. 요약</a:t>
            </a:r>
          </a:p>
        </p:txBody>
      </p:sp>
      <p:sp>
        <p:nvSpPr>
          <p:cNvPr id="192" name="RoundRect192"/>
          <p:cNvSpPr/>
          <p:nvPr/>
        </p:nvSpPr>
        <p:spPr>
          <a:xfrm xmlns:a="http://schemas.openxmlformats.org/drawingml/2006/main">
            <a:off x="600000" y="1600000"/>
            <a:ext cx="10900000" cy="7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93" name="Rect193"/>
          <p:cNvSpPr/>
          <p:nvPr/>
        </p:nvSpPr>
        <p:spPr>
          <a:xfrm xmlns:a="http://schemas.openxmlformats.org/drawingml/2006/main">
            <a:off x="600000" y="1600000"/>
            <a:ext cx="1275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94" name="Rect194"/>
          <p:cNvSpPr/>
          <p:nvPr/>
        </p:nvSpPr>
        <p:spPr>
          <a:xfrm xmlns:a="http://schemas.openxmlformats.org/drawingml/2006/main">
            <a:off x="600000" y="1600000"/>
            <a:ext cx="800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95" name="TextBox195"/>
          <p:cNvSpPr/>
          <p:nvPr/>
        </p:nvSpPr>
        <p:spPr>
          <a:xfrm xmlns:a="http://schemas.openxmlformats.org/drawingml/2006/main">
            <a:off x="900000" y="165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4FC3F7"/>
                </a:solidFill>
                <a:latin typeface="맑은 고딕"/>
                <a:ea typeface="맑은 고딕"/>
              </a:rPr>
              <a:t>AR Foundation</a:t>
            </a:r>
          </a:p>
        </p:txBody>
      </p:sp>
      <p:sp>
        <p:nvSpPr>
          <p:cNvPr id="196" name="TextBox196"/>
          <p:cNvSpPr/>
          <p:nvPr/>
        </p:nvSpPr>
        <p:spPr>
          <a:xfrm xmlns:a="http://schemas.openxmlformats.org/drawingml/2006/main">
            <a:off x="900000" y="200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ARCore/ARKit을 추상화한 크로스 플랫폼 프레임워크, 4개 핵심 매니저 사용</a:t>
            </a:r>
          </a:p>
        </p:txBody>
      </p:sp>
      <p:sp>
        <p:nvSpPr>
          <p:cNvPr id="197" name="RoundRect197"/>
          <p:cNvSpPr/>
          <p:nvPr/>
        </p:nvSpPr>
        <p:spPr>
          <a:xfrm xmlns:a="http://schemas.openxmlformats.org/drawingml/2006/main">
            <a:off x="600000" y="2450000"/>
            <a:ext cx="10900000" cy="7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98" name="Rect198"/>
          <p:cNvSpPr/>
          <p:nvPr/>
        </p:nvSpPr>
        <p:spPr>
          <a:xfrm xmlns:a="http://schemas.openxmlformats.org/drawingml/2006/main">
            <a:off x="600000" y="2450000"/>
            <a:ext cx="1275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99" name="Rect199"/>
          <p:cNvSpPr/>
          <p:nvPr/>
        </p:nvSpPr>
        <p:spPr>
          <a:xfrm xmlns:a="http://schemas.openxmlformats.org/drawingml/2006/main">
            <a:off x="600000" y="2450000"/>
            <a:ext cx="800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BB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00" name="TextBox200"/>
          <p:cNvSpPr/>
          <p:nvPr/>
        </p:nvSpPr>
        <p:spPr>
          <a:xfrm xmlns:a="http://schemas.openxmlformats.org/drawingml/2006/main">
            <a:off x="900000" y="250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66BB6A"/>
                </a:solidFill>
                <a:latin typeface="맑은 고딕"/>
                <a:ea typeface="맑은 고딕"/>
              </a:rPr>
              <a:t>과일 수집 흐름</a:t>
            </a:r>
          </a:p>
        </p:txBody>
      </p:sp>
      <p:sp>
        <p:nvSpPr>
          <p:cNvPr id="201" name="TextBox201"/>
          <p:cNvSpPr/>
          <p:nvPr/>
        </p:nvSpPr>
        <p:spPr>
          <a:xfrm xmlns:a="http://schemas.openxmlformats.org/drawingml/2006/main">
            <a:off x="900000" y="285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카메라 캡처 → ML 탐지 → 바운딩 박스 → AR Raycast → 프리팹 배치 → 인벤토리 저장</a:t>
            </a:r>
          </a:p>
        </p:txBody>
      </p:sp>
      <p:sp>
        <p:nvSpPr>
          <p:cNvPr id="202" name="RoundRect202"/>
          <p:cNvSpPr/>
          <p:nvPr/>
        </p:nvSpPr>
        <p:spPr>
          <a:xfrm xmlns:a="http://schemas.openxmlformats.org/drawingml/2006/main">
            <a:off x="600000" y="3300000"/>
            <a:ext cx="10900000" cy="7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03" name="Rect203"/>
          <p:cNvSpPr/>
          <p:nvPr/>
        </p:nvSpPr>
        <p:spPr>
          <a:xfrm xmlns:a="http://schemas.openxmlformats.org/drawingml/2006/main">
            <a:off x="600000" y="3300000"/>
            <a:ext cx="1275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04" name="Rect204"/>
          <p:cNvSpPr/>
          <p:nvPr/>
        </p:nvSpPr>
        <p:spPr>
          <a:xfrm xmlns:a="http://schemas.openxmlformats.org/drawingml/2006/main">
            <a:off x="600000" y="3300000"/>
            <a:ext cx="800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72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05" name="TextBox205"/>
          <p:cNvSpPr/>
          <p:nvPr/>
        </p:nvSpPr>
        <p:spPr>
          <a:xfrm xmlns:a="http://schemas.openxmlformats.org/drawingml/2006/main">
            <a:off x="900000" y="335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FFA726"/>
                </a:solidFill>
                <a:latin typeface="맑은 고딕"/>
                <a:ea typeface="맑은 고딕"/>
              </a:rPr>
              <a:t>과일 배치</a:t>
            </a:r>
          </a:p>
        </p:txBody>
      </p:sp>
      <p:sp>
        <p:nvSpPr>
          <p:cNvPr id="206" name="TextBox206"/>
          <p:cNvSpPr/>
          <p:nvPr/>
        </p:nvSpPr>
        <p:spPr>
          <a:xfrm xmlns:a="http://schemas.openxmlformats.org/drawingml/2006/main">
            <a:off x="900000" y="370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인벤토리에서 과일 선택 → 터치 위치에 AR Raycast → 프리팹 Instantiate</a:t>
            </a:r>
          </a:p>
        </p:txBody>
      </p:sp>
      <p:sp>
        <p:nvSpPr>
          <p:cNvPr id="207" name="RoundRect207"/>
          <p:cNvSpPr/>
          <p:nvPr/>
        </p:nvSpPr>
        <p:spPr>
          <a:xfrm xmlns:a="http://schemas.openxmlformats.org/drawingml/2006/main">
            <a:off x="600000" y="4150000"/>
            <a:ext cx="10900000" cy="7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08" name="Rect208"/>
          <p:cNvSpPr/>
          <p:nvPr/>
        </p:nvSpPr>
        <p:spPr>
          <a:xfrm xmlns:a="http://schemas.openxmlformats.org/drawingml/2006/main">
            <a:off x="600000" y="4150000"/>
            <a:ext cx="1275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09" name="Rect209"/>
          <p:cNvSpPr/>
          <p:nvPr/>
        </p:nvSpPr>
        <p:spPr>
          <a:xfrm xmlns:a="http://schemas.openxmlformats.org/drawingml/2006/main">
            <a:off x="600000" y="4150000"/>
            <a:ext cx="800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E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10" name="TextBox210"/>
          <p:cNvSpPr/>
          <p:nvPr/>
        </p:nvSpPr>
        <p:spPr>
          <a:xfrm xmlns:a="http://schemas.openxmlformats.org/drawingml/2006/main">
            <a:off x="900000" y="420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FFEE58"/>
                </a:solidFill>
                <a:latin typeface="맑은 고딕"/>
                <a:ea typeface="맑은 고딕"/>
              </a:rPr>
              <a:t>던지기 메카닉</a:t>
            </a:r>
          </a:p>
        </p:txBody>
      </p:sp>
      <p:sp>
        <p:nvSpPr>
          <p:cNvPr id="211" name="TextBox211"/>
          <p:cNvSpPr/>
          <p:nvPr/>
        </p:nvSpPr>
        <p:spPr>
          <a:xfrm xmlns:a="http://schemas.openxmlformats.org/drawingml/2006/main">
            <a:off x="900000" y="455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터치 시작(Kinematic 공 생성) → 터치 해제(물리 활성화 + AddForce)</a:t>
            </a:r>
          </a:p>
        </p:txBody>
      </p:sp>
      <p:sp>
        <p:nvSpPr>
          <p:cNvPr id="212" name="RoundRect212"/>
          <p:cNvSpPr/>
          <p:nvPr/>
        </p:nvSpPr>
        <p:spPr>
          <a:xfrm xmlns:a="http://schemas.openxmlformats.org/drawingml/2006/main">
            <a:off x="600000" y="5000000"/>
            <a:ext cx="10900000" cy="7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13" name="Rect213"/>
          <p:cNvSpPr/>
          <p:nvPr/>
        </p:nvSpPr>
        <p:spPr>
          <a:xfrm xmlns:a="http://schemas.openxmlformats.org/drawingml/2006/main">
            <a:off x="600000" y="5000000"/>
            <a:ext cx="1275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14" name="Rect214"/>
          <p:cNvSpPr/>
          <p:nvPr/>
        </p:nvSpPr>
        <p:spPr>
          <a:xfrm xmlns:a="http://schemas.openxmlformats.org/drawingml/2006/main">
            <a:off x="600000" y="5000000"/>
            <a:ext cx="800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15" name="TextBox215"/>
          <p:cNvSpPr/>
          <p:nvPr/>
        </p:nvSpPr>
        <p:spPr>
          <a:xfrm xmlns:a="http://schemas.openxmlformats.org/drawingml/2006/main">
            <a:off x="900000" y="505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4FC3F7"/>
                </a:solidFill>
                <a:latin typeface="맑은 고딕"/>
                <a:ea typeface="맑은 고딕"/>
              </a:rPr>
              <a:t>Input System</a:t>
            </a:r>
          </a:p>
        </p:txBody>
      </p:sp>
      <p:sp>
        <p:nvSpPr>
          <p:cNvPr id="216" name="TextBox216"/>
          <p:cNvSpPr/>
          <p:nvPr/>
        </p:nvSpPr>
        <p:spPr>
          <a:xfrm xmlns:a="http://schemas.openxmlformats.org/drawingml/2006/main">
            <a:off x="900000" y="540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InputActionReference로 플랫폼 독립적 입력 처리, 이벤트 기반 구독/해제</a:t>
            </a:r>
          </a:p>
        </p:txBody>
      </p:sp>
      <p:sp>
        <p:nvSpPr>
          <p:cNvPr id="217" name="RoundRect217"/>
          <p:cNvSpPr/>
          <p:nvPr/>
        </p:nvSpPr>
        <p:spPr>
          <a:xfrm xmlns:a="http://schemas.openxmlformats.org/drawingml/2006/main">
            <a:off x="600000" y="5900000"/>
            <a:ext cx="10900000" cy="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18" name="TextBox218"/>
          <p:cNvSpPr/>
          <p:nvPr/>
        </p:nvSpPr>
        <p:spPr>
          <a:xfrm xmlns:a="http://schemas.openxmlformats.org/drawingml/2006/main">
            <a:off x="800000" y="5950000"/>
            <a:ext cx="105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4FC3F7"/>
                </a:solidFill>
                <a:latin typeface="맑은 고딕"/>
                <a:ea typeface="맑은 고딕"/>
              </a:rPr>
              <a:t>AR 상호작용의 핵심: 화면 좌표 → AR Raycast → 3D 공간 배치의 변환 파이프라인</a:t>
            </a:r>
          </a:p>
        </p:txBody>
      </p:sp>
    </p:spTree>
  </p:cSld>
  <p:clrMapOvr>
    <a:masterClrMapping xmlns:a="http://schemas.openxmlformats.org/drawingml/2006/main"/>
  </p:clrMapOvr>
</p:sld>
</file>

<file path=ppt/theme/theme1.xml><?xml version="1.0" encoding="utf-8"?>
<a:theme xmlns:a="http://schemas.openxmlformats.org/drawingml/2006/main" name="CustomTheme">
  <a:themeElements>
    <a:clrScheme name="Custom">
      <a:dk1>
        <a:sysClr val="windowText" lastClr="000000"/>
      </a:dk1>
      <a:lt1>
        <a:sysClr val="window" lastClr="FFFFFF"/>
      </a:lt1>
      <a:dk2>
        <a:srgbClr val="1B2A4A"/>
      </a:dk2>
      <a:lt2>
        <a:srgbClr val="E7E6E6"/>
      </a:lt2>
      <a:accent1>
        <a:srgbClr val="4FC3F7"/>
      </a:accent1>
      <a:accent2>
        <a:srgbClr val="66BB6A"/>
      </a:accent2>
      <a:accent3>
        <a:srgbClr val="FFA726"/>
      </a:accent3>
      <a:accent4>
        <a:srgbClr val="FFEE58"/>
      </a:accent4>
      <a:accent5>
        <a:srgbClr val="EF5350"/>
      </a:accent5>
      <a:accent6>
        <a:srgbClr val="B0BEC5"/>
      </a:accent6>
      <a:hlink>
        <a:srgbClr val="4FC3F7"/>
      </a:hlink>
      <a:folHlink>
        <a:srgbClr val="B0BEC5"/>
      </a:folHlink>
    </a:clrScheme>
    <a:fontScheme name="Custom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Custom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