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entation.xml" ContentType="application/vnd.openxmlformats-officedocument.presentationml.presentation.main+xml"/>
</Types>
</file>

<file path=_rels/.rels>&#65279;<?xml version="1.0" encoding="utf-8"?>
<Relationships xmlns="http://schemas.openxmlformats.org/package/2006/relationships">
  <Relationship Type="http://schemas.openxmlformats.org/officeDocument/2006/relationships/officeDocument" Target="ppt/presentation.xml" Id="Rc5f487d982564cf1" />
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Master"/>
  </p:sldMasterIdLst>
  <p:sldIdLst>
    <p:sldId xmlns:r="http://schemas.openxmlformats.org/officeDocument/2006/relationships" id="256" r:id="rId1"/>
    <p:sldId xmlns:r="http://schemas.openxmlformats.org/officeDocument/2006/relationships" id="257" r:id="rId2"/>
    <p:sldId xmlns:r="http://schemas.openxmlformats.org/officeDocument/2006/relationships" id="258" r:id="rId3"/>
    <p:sldId xmlns:r="http://schemas.openxmlformats.org/officeDocument/2006/relationships" id="259" r:id="rId4"/>
    <p:sldId xmlns:r="http://schemas.openxmlformats.org/officeDocument/2006/relationships" id="260" r:id="rId5"/>
    <p:sldId xmlns:r="http://schemas.openxmlformats.org/officeDocument/2006/relationships" id="261" r:id="rId6"/>
    <p:sldId xmlns:r="http://schemas.openxmlformats.org/officeDocument/2006/relationships" id="262" r:id="rId7"/>
    <p:sldId xmlns:r="http://schemas.openxmlformats.org/officeDocument/2006/relationships" id="263" r:id="rId8"/>
    <p:sldId xmlns:r="http://schemas.openxmlformats.org/officeDocument/2006/relationships" id="264" r:id="rId9"/>
    <p:sldId xmlns:r="http://schemas.openxmlformats.org/officeDocument/2006/relationships" id="265" r:id="rId10"/>
  </p:sldIdLst>
  <p:sldSz cx="12192000" cy="6858000" type="custom"/>
  <p:notesSz cx="6858000" cy="9144000"/>
</p:presentation>
</file>

<file path=ppt/_rels/presentation.xml.rels>&#65279;<?xml version="1.0" encoding="utf-8"?>
<Relationships xmlns="http://schemas.openxmlformats.org/package/2006/relationships">
  <Relationship Type="http://schemas.openxmlformats.org/officeDocument/2006/relationships/theme" Target="theme/theme1.xml" Id="rIdTheme" />
  <Relationship Type="http://schemas.openxmlformats.org/officeDocument/2006/relationships/slideMaster" Target="slideMasters/slideMaster1.xml" Id="rIdMaster" />
  <Relationship Type="http://schemas.openxmlformats.org/officeDocument/2006/relationships/slide" Target="slides/slide1.xml" Id="rId1" />
  <Relationship Type="http://schemas.openxmlformats.org/officeDocument/2006/relationships/slide" Target="slides/slide2.xml" Id="rId2" />
  <Relationship Type="http://schemas.openxmlformats.org/officeDocument/2006/relationships/slide" Target="slides/slide3.xml" Id="rId3" />
  <Relationship Type="http://schemas.openxmlformats.org/officeDocument/2006/relationships/slide" Target="slides/slide4.xml" Id="rId4" />
  <Relationship Type="http://schemas.openxmlformats.org/officeDocument/2006/relationships/slide" Target="slides/slide5.xml" Id="rId5" />
  <Relationship Type="http://schemas.openxmlformats.org/officeDocument/2006/relationships/slide" Target="slides/slide6.xml" Id="rId6" />
  <Relationship Type="http://schemas.openxmlformats.org/officeDocument/2006/relationships/slide" Target="slides/slide7.xml" Id="rId7" />
  <Relationship Type="http://schemas.openxmlformats.org/officeDocument/2006/relationships/slide" Target="slides/slide8.xml" Id="rId8" />
  <Relationship Type="http://schemas.openxmlformats.org/officeDocument/2006/relationships/slide" Target="slides/slide9.xml" Id="rId9" />
  <Relationship Type="http://schemas.openxmlformats.org/officeDocument/2006/relationships/slide" Target="slides/slide10.xml" Id="rId10" />
</Relationships>
</file>

<file path=ppt/slideLayouts/_rels/slideLayout1.xml.rels>&#65279;<?xml version="1.0" encoding="utf-8"?>
<Relationships xmlns="http://schemas.openxmlformats.org/package/2006/relationships">
  <Relationship Type="http://schemas.openxmlformats.org/officeDocument/2006/relationships/slideMaster" Target="../slideMasters/slideMaster1.xml" Id="rIdSldMaster" />
</Relationships>
</file>

<file path=ppt/slideLayouts/slideLayout1.xml><?xml version="1.0" encoding="utf-8"?>
<p:sldLayout xmlns:p="http://schemas.openxmlformats.org/presentationml/2006/main" type="blank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
<Relationships xmlns="http://schemas.openxmlformats.org/package/2006/relationships">
  <Relationship Type="http://schemas.openxmlformats.org/officeDocument/2006/relationships/slideLayout" Target="../slideLayouts/slideLayout1.xml" Id="rIdLayout" />
  <Relationship Type="http://schemas.openxmlformats.org/officeDocument/2006/relationships/theme" Target="../theme/theme1.xml" Id="rIdTheme" />
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Layout"/>
  </p:sldLayoutIdLst>
  <p:txStyles>
    <p:titleStyle>
      <a:lvl1pPr xmlns:a="http://schemas.openxmlformats.org/drawingml/2006/main">
        <a:defRPr sz="2400"/>
      </a:lvl1pPr>
    </p:titleStyle>
    <p:bodyStyle>
      <a:lvl1pPr xmlns:a="http://schemas.openxmlformats.org/drawingml/2006/main">
        <a:defRPr sz="1800"/>
      </a:lvl1pPr>
    </p:bodyStyle>
    <p:otherStyle>
      <a:lvl1pPr xmlns:a="http://schemas.openxmlformats.org/drawingml/2006/main">
        <a:defRPr sz="1400"/>
      </a:lvl1pPr>
    </p:otherStyle>
  </p:txStyles>
</p:sldMaster>
</file>

<file path=ppt/slides/_rels/slide1.xml.rels>&#65279;<?xml version="1.0" encoding="utf-8"?>
<Relationships xmlns="http://schemas.openxmlformats.org/package/2006/relationships">
  <Relationship Type="http://schemas.openxmlformats.org/officeDocument/2006/relationships/slideLayout" Target="../slideLayouts/slideLayout1.xml" Id="rIdLayout" />
</Relationships>
</file>

<file path=ppt/slides/_rels/slide2.xml.rels>&#65279;<?xml version="1.0" encoding="utf-8"?>
<Relationships xmlns="http://schemas.openxmlformats.org/package/2006/relationships">
  <Relationship Type="http://schemas.openxmlformats.org/officeDocument/2006/relationships/slideLayout" Target="../slideLayouts/slideLayout1.xml" Id="rIdLayout" />
</Relationships>
</file>

<file path=ppt/slides/_rels/slide3.xml.rels>&#65279;<?xml version="1.0" encoding="utf-8"?>
<Relationships xmlns="http://schemas.openxmlformats.org/package/2006/relationships">
  <Relationship Type="http://schemas.openxmlformats.org/officeDocument/2006/relationships/slideLayout" Target="../slideLayouts/slideLayout1.xml" Id="rIdLayout" />
</Relationships>
</file>

<file path=ppt/slides/_rels/slide4.xml.rels>&#65279;<?xml version="1.0" encoding="utf-8"?>
<Relationships xmlns="http://schemas.openxmlformats.org/package/2006/relationships">
  <Relationship Type="http://schemas.openxmlformats.org/officeDocument/2006/relationships/slideLayout" Target="../slideLayouts/slideLayout1.xml" Id="rIdLayout" />
</Relationships>
</file>

<file path=ppt/slides/_rels/slide5.xml.rels>&#65279;<?xml version="1.0" encoding="utf-8"?>
<Relationships xmlns="http://schemas.openxmlformats.org/package/2006/relationships">
  <Relationship Type="http://schemas.openxmlformats.org/officeDocument/2006/relationships/slideLayout" Target="../slideLayouts/slideLayout1.xml" Id="rIdLayout" />
</Relationships>
</file>

<file path=ppt/slides/_rels/slide6.xml.rels>&#65279;<?xml version="1.0" encoding="utf-8"?>
<Relationships xmlns="http://schemas.openxmlformats.org/package/2006/relationships">
  <Relationship Type="http://schemas.openxmlformats.org/officeDocument/2006/relationships/slideLayout" Target="../slideLayouts/slideLayout1.xml" Id="rIdLayout" />
</Relationships>
</file>

<file path=ppt/slides/_rels/slide7.xml.rels>&#65279;<?xml version="1.0" encoding="utf-8"?>
<Relationships xmlns="http://schemas.openxmlformats.org/package/2006/relationships">
  <Relationship Type="http://schemas.openxmlformats.org/officeDocument/2006/relationships/slideLayout" Target="../slideLayouts/slideLayout1.xml" Id="rIdLayout" />
</Relationships>
</file>

<file path=ppt/slides/_rels/slide8.xml.rels>&#65279;<?xml version="1.0" encoding="utf-8"?>
<Relationships xmlns="http://schemas.openxmlformats.org/package/2006/relationships">
  <Relationship Type="http://schemas.openxmlformats.org/officeDocument/2006/relationships/slideLayout" Target="../slideLayouts/slideLayout1.xml" Id="rIdLayout" />
</Relationships>
</file>

<file path=ppt/slides/_rels/slide9.xml.rels>&#65279;<?xml version="1.0" encoding="utf-8"?>
<Relationships xmlns="http://schemas.openxmlformats.org/package/2006/relationships">
  <Relationship Type="http://schemas.openxmlformats.org/officeDocument/2006/relationships/slideLayout" Target="../slideLayouts/slideLayout1.xml" Id="rIdLayout" />
</Relationships>
</file>

<file path=ppt/slides/_rels/slide10.xml.rels>&#65279;<?xml version="1.0" encoding="utf-8"?>
<Relationships xmlns="http://schemas.openxmlformats.org/package/2006/relationships">
  <Relationship Type="http://schemas.openxmlformats.org/officeDocument/2006/relationships/slideLayout" Target="../slideLayouts/slideLayout1.xml" Id="rIdLayout" />
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B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2"/>
          <p:cNvSpPr/>
          <p:nvPr/>
        </p:nvSpPr>
        <p:spPr>
          <a:xfrm xmlns:a="http://schemas.openxmlformats.org/drawingml/2006/main">
            <a:off x="0" y="0"/>
            <a:ext cx="12192000" cy="1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3" name="TextBox3"/>
          <p:cNvSpPr/>
          <p:nvPr/>
        </p:nvSpPr>
        <p:spPr>
          <a:xfrm xmlns:a="http://schemas.openxmlformats.org/drawingml/2006/main">
            <a:off x="800000" y="1800000"/>
            <a:ext cx="10500000" cy="12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4400" b="1" dirty="0">
                <a:solidFill>
                  <a:srgbClr val="FFFFFF"/>
                </a:solidFill>
                <a:latin typeface="맑은 고딕"/>
                <a:ea typeface="맑은 고딕"/>
              </a:rPr>
              <a:t>GoldenFruit 프로젝트</a:t>
            </a:r>
          </a:p>
        </p:txBody>
      </p:sp>
      <p:sp>
        <p:nvSpPr>
          <p:cNvPr id="4" name="TextBox4"/>
          <p:cNvSpPr/>
          <p:nvPr/>
        </p:nvSpPr>
        <p:spPr>
          <a:xfrm xmlns:a="http://schemas.openxmlformats.org/drawingml/2006/main">
            <a:off x="800000" y="3000000"/>
            <a:ext cx="10500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800" b="1" dirty="0">
                <a:solidFill>
                  <a:srgbClr val="4FC3F7"/>
                </a:solidFill>
                <a:latin typeface="맑은 고딕"/>
                <a:ea typeface="맑은 고딕"/>
              </a:rPr>
              <a:t>Chapter 5: ML 과일 탐지 파이프라인</a:t>
            </a:r>
          </a:p>
        </p:txBody>
      </p:sp>
      <p:sp>
        <p:nvSpPr>
          <p:cNvPr id="5" name="TextBox5"/>
          <p:cNvSpPr/>
          <p:nvPr/>
        </p:nvSpPr>
        <p:spPr>
          <a:xfrm xmlns:a="http://schemas.openxmlformats.org/drawingml/2006/main">
            <a:off x="800000" y="3900000"/>
            <a:ext cx="10500000" cy="6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000" b="0" dirty="0">
                <a:solidFill>
                  <a:srgbClr val="B0BEC5"/>
                </a:solidFill>
                <a:latin typeface="맑은 고딕"/>
                <a:ea typeface="맑은 고딕"/>
              </a:rPr>
              <a:t>Unity Sentis와 YOLOv8n 모델 활용</a:t>
            </a:r>
          </a:p>
        </p:txBody>
      </p:sp>
      <p:sp>
        <p:nvSpPr>
          <p:cNvPr id="6" name="Rect6"/>
          <p:cNvSpPr/>
          <p:nvPr/>
        </p:nvSpPr>
        <p:spPr>
          <a:xfrm xmlns:a="http://schemas.openxmlformats.org/drawingml/2006/main">
            <a:off x="4500000" y="4800000"/>
            <a:ext cx="3200000" cy="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7" name="TextBox7"/>
          <p:cNvSpPr/>
          <p:nvPr/>
        </p:nvSpPr>
        <p:spPr>
          <a:xfrm xmlns:a="http://schemas.openxmlformats.org/drawingml/2006/main">
            <a:off x="800000" y="5100000"/>
            <a:ext cx="105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/>
            <a:r>
              <a:rPr lang="ko-KR" sz="1800" b="0" dirty="0">
                <a:solidFill>
                  <a:srgbClr val="B0BEC5"/>
                </a:solidFill>
                <a:latin typeface="맑은 고딕"/>
                <a:ea typeface="맑은 고딕"/>
              </a:rPr>
              <a:t>조영민 강사</a:t>
            </a:r>
          </a:p>
        </p:txBody>
      </p:sp>
    </p:spTree>
  </p:cSld>
  <p:clrMapOvr>
    <a:masterClrMapping xmlns:a="http://schemas.openxmlformats.org/drawingml/2006/main"/>
  </p:clrMapOvr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B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8"/>
          <p:cNvSpPr/>
          <p:nvPr/>
        </p:nvSpPr>
        <p:spPr>
          <a:xfrm xmlns:a="http://schemas.openxmlformats.org/drawingml/2006/main">
            <a:off x="0" y="0"/>
            <a:ext cx="12192000" cy="12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9" name="Rect9"/>
          <p:cNvSpPr/>
          <p:nvPr/>
        </p:nvSpPr>
        <p:spPr>
          <a:xfrm xmlns:a="http://schemas.openxmlformats.org/drawingml/2006/main">
            <a:off x="0" y="1150000"/>
            <a:ext cx="12192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0" name="TextBox10"/>
          <p:cNvSpPr/>
          <p:nvPr/>
        </p:nvSpPr>
        <p:spPr>
          <a:xfrm xmlns:a="http://schemas.openxmlformats.org/drawingml/2006/main">
            <a:off x="600000" y="200000"/>
            <a:ext cx="10992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800" b="1" dirty="0">
                <a:solidFill>
                  <a:srgbClr val="FFFFFF"/>
                </a:solidFill>
                <a:latin typeface="맑은 고딕"/>
                <a:ea typeface="맑은 고딕"/>
              </a:rPr>
              <a:t>목 차</a:t>
            </a:r>
          </a:p>
        </p:txBody>
      </p:sp>
      <p:sp>
        <p:nvSpPr>
          <p:cNvPr id="11" name="TextBox11"/>
          <p:cNvSpPr/>
          <p:nvPr/>
        </p:nvSpPr>
        <p:spPr>
          <a:xfrm xmlns:a="http://schemas.openxmlformats.org/drawingml/2006/main">
            <a:off x="1500000" y="1600000"/>
            <a:ext cx="9000000" cy="4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000" b="0" dirty="0">
                <a:solidFill>
                  <a:srgbClr val="FFFFFF"/>
                </a:solidFill>
                <a:latin typeface="맑은 고딕"/>
                <a:ea typeface="맑은 고딕"/>
              </a:rPr>
              <a:t>1.  탐지 파이프라인 전체 흐름</a:t>
            </a:r>
          </a:p>
        </p:txBody>
      </p:sp>
      <p:sp>
        <p:nvSpPr>
          <p:cNvPr id="12" name="TextBox12"/>
          <p:cNvSpPr/>
          <p:nvPr/>
        </p:nvSpPr>
        <p:spPr>
          <a:xfrm xmlns:a="http://schemas.openxmlformats.org/drawingml/2006/main">
            <a:off x="1500000" y="2120000"/>
            <a:ext cx="9000000" cy="4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000" b="0" dirty="0">
                <a:solidFill>
                  <a:srgbClr val="FFFFFF"/>
                </a:solidFill>
                <a:latin typeface="맑은 고딕"/>
                <a:ea typeface="맑은 고딕"/>
              </a:rPr>
              <a:t>2.  Unity Sentis 추론 엔진</a:t>
            </a:r>
          </a:p>
        </p:txBody>
      </p:sp>
      <p:sp>
        <p:nvSpPr>
          <p:cNvPr id="13" name="TextBox13"/>
          <p:cNvSpPr/>
          <p:nvPr/>
        </p:nvSpPr>
        <p:spPr>
          <a:xfrm xmlns:a="http://schemas.openxmlformats.org/drawingml/2006/main">
            <a:off x="1500000" y="2640000"/>
            <a:ext cx="9000000" cy="4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000" b="0" dirty="0">
                <a:solidFill>
                  <a:srgbClr val="FFFFFF"/>
                </a:solidFill>
                <a:latin typeface="맑은 고딕"/>
                <a:ea typeface="맑은 고딕"/>
              </a:rPr>
              <a:t>3.  ImagePreprocessor (이미지 전처리)</a:t>
            </a:r>
          </a:p>
        </p:txBody>
      </p:sp>
      <p:sp>
        <p:nvSpPr>
          <p:cNvPr id="14" name="TextBox14"/>
          <p:cNvSpPr/>
          <p:nvPr/>
        </p:nvSpPr>
        <p:spPr>
          <a:xfrm xmlns:a="http://schemas.openxmlformats.org/drawingml/2006/main">
            <a:off x="1500000" y="3160000"/>
            <a:ext cx="9000000" cy="4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000" b="0" dirty="0">
                <a:solidFill>
                  <a:srgbClr val="FFFFFF"/>
                </a:solidFill>
                <a:latin typeface="맑은 고딕"/>
                <a:ea typeface="맑은 고딕"/>
              </a:rPr>
              <a:t>4.  YOLOFruitDetector (모델 추론)</a:t>
            </a:r>
          </a:p>
        </p:txBody>
      </p:sp>
      <p:sp>
        <p:nvSpPr>
          <p:cNvPr id="15" name="TextBox15"/>
          <p:cNvSpPr/>
          <p:nvPr/>
        </p:nvSpPr>
        <p:spPr>
          <a:xfrm xmlns:a="http://schemas.openxmlformats.org/drawingml/2006/main">
            <a:off x="1500000" y="3680000"/>
            <a:ext cx="9000000" cy="4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000" b="0" dirty="0">
                <a:solidFill>
                  <a:srgbClr val="FFFFFF"/>
                </a:solidFill>
                <a:latin typeface="맑은 고딕"/>
                <a:ea typeface="맑은 고딕"/>
              </a:rPr>
              <a:t>5.  DetectionPostprocessor (후처리)</a:t>
            </a:r>
          </a:p>
        </p:txBody>
      </p:sp>
      <p:sp>
        <p:nvSpPr>
          <p:cNvPr id="16" name="TextBox16"/>
          <p:cNvSpPr/>
          <p:nvPr/>
        </p:nvSpPr>
        <p:spPr>
          <a:xfrm xmlns:a="http://schemas.openxmlformats.org/drawingml/2006/main">
            <a:off x="1500000" y="4200000"/>
            <a:ext cx="9000000" cy="4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000" b="0" dirty="0">
                <a:solidFill>
                  <a:srgbClr val="FFFFFF"/>
                </a:solidFill>
                <a:latin typeface="맑은 고딕"/>
                <a:ea typeface="맑은 고딕"/>
              </a:rPr>
              <a:t>6.  Non-Maximum Suppression (NMS)</a:t>
            </a:r>
          </a:p>
        </p:txBody>
      </p:sp>
      <p:sp>
        <p:nvSpPr>
          <p:cNvPr id="17" name="TextBox17"/>
          <p:cNvSpPr/>
          <p:nvPr/>
        </p:nvSpPr>
        <p:spPr>
          <a:xfrm xmlns:a="http://schemas.openxmlformats.org/drawingml/2006/main">
            <a:off x="1500000" y="4720000"/>
            <a:ext cx="9000000" cy="4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000" b="0" dirty="0">
                <a:solidFill>
                  <a:srgbClr val="FFFFFF"/>
                </a:solidFill>
                <a:latin typeface="맑은 고딕"/>
                <a:ea typeface="맑은 고딕"/>
              </a:rPr>
              <a:t>7.  MockFruitDetector (테스트용)</a:t>
            </a:r>
          </a:p>
        </p:txBody>
      </p:sp>
      <p:sp>
        <p:nvSpPr>
          <p:cNvPr id="18" name="TextBox18"/>
          <p:cNvSpPr/>
          <p:nvPr/>
        </p:nvSpPr>
        <p:spPr>
          <a:xfrm xmlns:a="http://schemas.openxmlformats.org/drawingml/2006/main">
            <a:off x="1500000" y="5240000"/>
            <a:ext cx="9000000" cy="4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000" b="0" dirty="0">
                <a:solidFill>
                  <a:srgbClr val="FFFFFF"/>
                </a:solidFill>
                <a:latin typeface="맑은 고딕"/>
                <a:ea typeface="맑은 고딕"/>
              </a:rPr>
              <a:t>8.  요약</a:t>
            </a:r>
          </a:p>
        </p:txBody>
      </p:sp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B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Rect19"/>
          <p:cNvSpPr/>
          <p:nvPr/>
        </p:nvSpPr>
        <p:spPr>
          <a:xfrm xmlns:a="http://schemas.openxmlformats.org/drawingml/2006/main">
            <a:off x="0" y="0"/>
            <a:ext cx="12192000" cy="12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0" name="Rect20"/>
          <p:cNvSpPr/>
          <p:nvPr/>
        </p:nvSpPr>
        <p:spPr>
          <a:xfrm xmlns:a="http://schemas.openxmlformats.org/drawingml/2006/main">
            <a:off x="0" y="1150000"/>
            <a:ext cx="12192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1" name="TextBox21"/>
          <p:cNvSpPr/>
          <p:nvPr/>
        </p:nvSpPr>
        <p:spPr>
          <a:xfrm xmlns:a="http://schemas.openxmlformats.org/drawingml/2006/main">
            <a:off x="600000" y="200000"/>
            <a:ext cx="10992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800" b="1" dirty="0">
                <a:solidFill>
                  <a:srgbClr val="FFFFFF"/>
                </a:solidFill>
                <a:latin typeface="맑은 고딕"/>
                <a:ea typeface="맑은 고딕"/>
              </a:rPr>
              <a:t>1. 탐지 파이프라인 전체 흐름</a:t>
            </a:r>
          </a:p>
        </p:txBody>
      </p:sp>
      <p:sp>
        <p:nvSpPr>
          <p:cNvPr id="22" name="RoundRect22"/>
          <p:cNvSpPr/>
          <p:nvPr/>
        </p:nvSpPr>
        <p:spPr>
          <a:xfrm xmlns:a="http://schemas.openxmlformats.org/drawingml/2006/main">
            <a:off x="200000" y="1500000"/>
            <a:ext cx="2100000" cy="1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3" name="Rect23"/>
          <p:cNvSpPr/>
          <p:nvPr/>
        </p:nvSpPr>
        <p:spPr>
          <a:xfrm xmlns:a="http://schemas.openxmlformats.org/drawingml/2006/main">
            <a:off x="200000" y="1500000"/>
            <a:ext cx="2100000" cy="3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4" name="Rect24"/>
          <p:cNvSpPr/>
          <p:nvPr/>
        </p:nvSpPr>
        <p:spPr>
          <a:xfrm xmlns:a="http://schemas.openxmlformats.org/drawingml/2006/main">
            <a:off x="200000" y="1500000"/>
            <a:ext cx="2100000" cy="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5" name="TextBox25"/>
          <p:cNvSpPr/>
          <p:nvPr/>
        </p:nvSpPr>
        <p:spPr>
          <a:xfrm xmlns:a="http://schemas.openxmlformats.org/drawingml/2006/main">
            <a:off x="300000" y="1700000"/>
            <a:ext cx="19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400" b="1" dirty="0">
                <a:solidFill>
                  <a:srgbClr val="4FC3F7"/>
                </a:solidFill>
                <a:latin typeface="맑은 고딕"/>
                <a:ea typeface="맑은 고딕"/>
              </a:rPr>
              <a:t>XRCpuImage</a:t>
            </a:r>
          </a:p>
        </p:txBody>
      </p:sp>
      <p:sp>
        <p:nvSpPr>
          <p:cNvPr id="26" name="TextBox26"/>
          <p:cNvSpPr/>
          <p:nvPr/>
        </p:nvSpPr>
        <p:spPr>
          <a:xfrm xmlns:a="http://schemas.openxmlformats.org/drawingml/2006/main">
            <a:off x="300000" y="2200000"/>
            <a:ext cx="1900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0" dirty="0">
                <a:solidFill>
                  <a:srgbClr val="FFFFFF"/>
                </a:solidFill>
                <a:latin typeface="맑은 고딕"/>
                <a:ea typeface="맑은 고딕"/>
              </a:rPr>
              <a:t>AR 카메라에서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FFFFFF"/>
                </a:solidFill>
                <a:latin typeface="맑은 고딕"/>
                <a:ea typeface="맑은 고딕"/>
              </a:rPr>
              <a:t>프레임 캡처</a:t>
            </a:r>
          </a:p>
        </p:txBody>
      </p:sp>
      <p:sp>
        <p:nvSpPr>
          <p:cNvPr id="27" name="TextBox27"/>
          <p:cNvSpPr/>
          <p:nvPr/>
        </p:nvSpPr>
        <p:spPr>
          <a:xfrm xmlns:a="http://schemas.openxmlformats.org/drawingml/2006/main">
            <a:off x="2300000" y="2100000"/>
            <a:ext cx="3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000" b="1" dirty="0">
                <a:solidFill>
                  <a:srgbClr val="B0BEC5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28" name="RoundRect28"/>
          <p:cNvSpPr/>
          <p:nvPr/>
        </p:nvSpPr>
        <p:spPr>
          <a:xfrm xmlns:a="http://schemas.openxmlformats.org/drawingml/2006/main">
            <a:off x="2600000" y="1500000"/>
            <a:ext cx="2100000" cy="1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9" name="Rect29"/>
          <p:cNvSpPr/>
          <p:nvPr/>
        </p:nvSpPr>
        <p:spPr>
          <a:xfrm xmlns:a="http://schemas.openxmlformats.org/drawingml/2006/main">
            <a:off x="2600000" y="1500000"/>
            <a:ext cx="2100000" cy="3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30" name="Rect30"/>
          <p:cNvSpPr/>
          <p:nvPr/>
        </p:nvSpPr>
        <p:spPr>
          <a:xfrm xmlns:a="http://schemas.openxmlformats.org/drawingml/2006/main">
            <a:off x="2600000" y="1500000"/>
            <a:ext cx="2100000" cy="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BB6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31" name="TextBox31"/>
          <p:cNvSpPr/>
          <p:nvPr/>
        </p:nvSpPr>
        <p:spPr>
          <a:xfrm xmlns:a="http://schemas.openxmlformats.org/drawingml/2006/main">
            <a:off x="2700000" y="1700000"/>
            <a:ext cx="19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400" b="1" dirty="0">
                <a:solidFill>
                  <a:srgbClr val="66BB6A"/>
                </a:solidFill>
                <a:latin typeface="맑은 고딕"/>
                <a:ea typeface="맑은 고딕"/>
              </a:rPr>
              <a:t>Texture2D</a:t>
            </a:r>
          </a:p>
        </p:txBody>
      </p:sp>
      <p:sp>
        <p:nvSpPr>
          <p:cNvPr id="32" name="TextBox32"/>
          <p:cNvSpPr/>
          <p:nvPr/>
        </p:nvSpPr>
        <p:spPr>
          <a:xfrm xmlns:a="http://schemas.openxmlformats.org/drawingml/2006/main">
            <a:off x="2700000" y="2200000"/>
            <a:ext cx="1900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0" dirty="0">
                <a:solidFill>
                  <a:srgbClr val="FFFFFF"/>
                </a:solidFill>
                <a:latin typeface="맑은 고딕"/>
                <a:ea typeface="맑은 고딕"/>
              </a:rPr>
              <a:t>CPU 이미지를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FFFFFF"/>
                </a:solidFill>
                <a:latin typeface="맑은 고딕"/>
                <a:ea typeface="맑은 고딕"/>
              </a:rPr>
              <a:t>텍스처로 변환</a:t>
            </a:r>
          </a:p>
        </p:txBody>
      </p:sp>
      <p:sp>
        <p:nvSpPr>
          <p:cNvPr id="33" name="TextBox33"/>
          <p:cNvSpPr/>
          <p:nvPr/>
        </p:nvSpPr>
        <p:spPr>
          <a:xfrm xmlns:a="http://schemas.openxmlformats.org/drawingml/2006/main">
            <a:off x="4700000" y="2100000"/>
            <a:ext cx="3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000" b="1" dirty="0">
                <a:solidFill>
                  <a:srgbClr val="B0BEC5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34" name="RoundRect34"/>
          <p:cNvSpPr/>
          <p:nvPr/>
        </p:nvSpPr>
        <p:spPr>
          <a:xfrm xmlns:a="http://schemas.openxmlformats.org/drawingml/2006/main">
            <a:off x="5000000" y="1500000"/>
            <a:ext cx="2100000" cy="1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35" name="Rect35"/>
          <p:cNvSpPr/>
          <p:nvPr/>
        </p:nvSpPr>
        <p:spPr>
          <a:xfrm xmlns:a="http://schemas.openxmlformats.org/drawingml/2006/main">
            <a:off x="5000000" y="1500000"/>
            <a:ext cx="2100000" cy="3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36" name="Rect36"/>
          <p:cNvSpPr/>
          <p:nvPr/>
        </p:nvSpPr>
        <p:spPr>
          <a:xfrm xmlns:a="http://schemas.openxmlformats.org/drawingml/2006/main">
            <a:off x="5000000" y="1500000"/>
            <a:ext cx="2100000" cy="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A72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37" name="TextBox37"/>
          <p:cNvSpPr/>
          <p:nvPr/>
        </p:nvSpPr>
        <p:spPr>
          <a:xfrm xmlns:a="http://schemas.openxmlformats.org/drawingml/2006/main">
            <a:off x="5100000" y="1700000"/>
            <a:ext cx="19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400" b="1" dirty="0">
                <a:solidFill>
                  <a:srgbClr val="FFA726"/>
                </a:solidFill>
                <a:latin typeface="맑은 고딕"/>
                <a:ea typeface="맑은 고딕"/>
              </a:rPr>
              <a:t>Tensor&lt;float&gt;</a:t>
            </a:r>
          </a:p>
        </p:txBody>
      </p:sp>
      <p:sp>
        <p:nvSpPr>
          <p:cNvPr id="38" name="TextBox38"/>
          <p:cNvSpPr/>
          <p:nvPr/>
        </p:nvSpPr>
        <p:spPr>
          <a:xfrm xmlns:a="http://schemas.openxmlformats.org/drawingml/2006/main">
            <a:off x="5100000" y="2200000"/>
            <a:ext cx="1900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0" dirty="0">
                <a:solidFill>
                  <a:srgbClr val="FFFFFF"/>
                </a:solidFill>
                <a:latin typeface="맑은 고딕"/>
                <a:ea typeface="맑은 고딕"/>
              </a:rPr>
              <a:t>640×640 리사이즈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FFFFFF"/>
                </a:solidFill>
                <a:latin typeface="맑은 고딕"/>
                <a:ea typeface="맑은 고딕"/>
              </a:rPr>
              <a:t>RGB 정규화(0~1)</a:t>
            </a:r>
          </a:p>
        </p:txBody>
      </p:sp>
      <p:sp>
        <p:nvSpPr>
          <p:cNvPr id="39" name="TextBox39"/>
          <p:cNvSpPr/>
          <p:nvPr/>
        </p:nvSpPr>
        <p:spPr>
          <a:xfrm xmlns:a="http://schemas.openxmlformats.org/drawingml/2006/main">
            <a:off x="7100000" y="2100000"/>
            <a:ext cx="3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000" b="1" dirty="0">
                <a:solidFill>
                  <a:srgbClr val="B0BEC5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40" name="RoundRect40"/>
          <p:cNvSpPr/>
          <p:nvPr/>
        </p:nvSpPr>
        <p:spPr>
          <a:xfrm xmlns:a="http://schemas.openxmlformats.org/drawingml/2006/main">
            <a:off x="7400000" y="1500000"/>
            <a:ext cx="2100000" cy="1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41" name="Rect41"/>
          <p:cNvSpPr/>
          <p:nvPr/>
        </p:nvSpPr>
        <p:spPr>
          <a:xfrm xmlns:a="http://schemas.openxmlformats.org/drawingml/2006/main">
            <a:off x="7400000" y="1500000"/>
            <a:ext cx="2100000" cy="3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42" name="Rect42"/>
          <p:cNvSpPr/>
          <p:nvPr/>
        </p:nvSpPr>
        <p:spPr>
          <a:xfrm xmlns:a="http://schemas.openxmlformats.org/drawingml/2006/main">
            <a:off x="7400000" y="1500000"/>
            <a:ext cx="2100000" cy="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E5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43" name="TextBox43"/>
          <p:cNvSpPr/>
          <p:nvPr/>
        </p:nvSpPr>
        <p:spPr>
          <a:xfrm xmlns:a="http://schemas.openxmlformats.org/drawingml/2006/main">
            <a:off x="7500000" y="1700000"/>
            <a:ext cx="19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400" b="1" dirty="0">
                <a:solidFill>
                  <a:srgbClr val="FFEE58"/>
                </a:solidFill>
                <a:latin typeface="맑은 고딕"/>
                <a:ea typeface="맑은 고딕"/>
              </a:rPr>
              <a:t>GPU 추론</a:t>
            </a:r>
          </a:p>
        </p:txBody>
      </p:sp>
      <p:sp>
        <p:nvSpPr>
          <p:cNvPr id="44" name="TextBox44"/>
          <p:cNvSpPr/>
          <p:nvPr/>
        </p:nvSpPr>
        <p:spPr>
          <a:xfrm xmlns:a="http://schemas.openxmlformats.org/drawingml/2006/main">
            <a:off x="7500000" y="2200000"/>
            <a:ext cx="1900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0" dirty="0">
                <a:solidFill>
                  <a:srgbClr val="FFFFFF"/>
                </a:solidFill>
                <a:latin typeface="맑은 고딕"/>
                <a:ea typeface="맑은 고딕"/>
              </a:rPr>
              <a:t>YOLOv8n 모델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FFFFFF"/>
                </a:solidFill>
                <a:latin typeface="맑은 고딕"/>
                <a:ea typeface="맑은 고딕"/>
              </a:rPr>
              <a:t>Sentis로 실행</a:t>
            </a:r>
          </a:p>
        </p:txBody>
      </p:sp>
      <p:sp>
        <p:nvSpPr>
          <p:cNvPr id="45" name="TextBox45"/>
          <p:cNvSpPr/>
          <p:nvPr/>
        </p:nvSpPr>
        <p:spPr>
          <a:xfrm xmlns:a="http://schemas.openxmlformats.org/drawingml/2006/main">
            <a:off x="9500000" y="2100000"/>
            <a:ext cx="3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000" b="1" dirty="0">
                <a:solidFill>
                  <a:srgbClr val="B0BEC5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46" name="RoundRect46"/>
          <p:cNvSpPr/>
          <p:nvPr/>
        </p:nvSpPr>
        <p:spPr>
          <a:xfrm xmlns:a="http://schemas.openxmlformats.org/drawingml/2006/main">
            <a:off x="9800000" y="1500000"/>
            <a:ext cx="2100000" cy="1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47" name="Rect47"/>
          <p:cNvSpPr/>
          <p:nvPr/>
        </p:nvSpPr>
        <p:spPr>
          <a:xfrm xmlns:a="http://schemas.openxmlformats.org/drawingml/2006/main">
            <a:off x="9800000" y="1500000"/>
            <a:ext cx="2100000" cy="3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48" name="Rect48"/>
          <p:cNvSpPr/>
          <p:nvPr/>
        </p:nvSpPr>
        <p:spPr>
          <a:xfrm xmlns:a="http://schemas.openxmlformats.org/drawingml/2006/main">
            <a:off x="9800000" y="1500000"/>
            <a:ext cx="2100000" cy="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49" name="TextBox49"/>
          <p:cNvSpPr/>
          <p:nvPr/>
        </p:nvSpPr>
        <p:spPr>
          <a:xfrm xmlns:a="http://schemas.openxmlformats.org/drawingml/2006/main">
            <a:off x="9900000" y="1700000"/>
            <a:ext cx="19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400" b="1" dirty="0">
                <a:solidFill>
                  <a:srgbClr val="4FC3F7"/>
                </a:solidFill>
                <a:latin typeface="맑은 고딕"/>
                <a:ea typeface="맑은 고딕"/>
              </a:rPr>
              <a:t>DetectionResult[]</a:t>
            </a:r>
          </a:p>
        </p:txBody>
      </p:sp>
      <p:sp>
        <p:nvSpPr>
          <p:cNvPr id="50" name="TextBox50"/>
          <p:cNvSpPr/>
          <p:nvPr/>
        </p:nvSpPr>
        <p:spPr>
          <a:xfrm xmlns:a="http://schemas.openxmlformats.org/drawingml/2006/main">
            <a:off x="9900000" y="2200000"/>
            <a:ext cx="1900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0" dirty="0">
                <a:solidFill>
                  <a:srgbClr val="FFFFFF"/>
                </a:solidFill>
                <a:latin typeface="맑은 고딕"/>
                <a:ea typeface="맑은 고딕"/>
              </a:rPr>
              <a:t>바운딩 박스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FFFFFF"/>
                </a:solidFill>
                <a:latin typeface="맑은 고딕"/>
                <a:ea typeface="맑은 고딕"/>
              </a:rPr>
              <a:t>+ NMS 필터링</a:t>
            </a:r>
          </a:p>
        </p:txBody>
      </p:sp>
      <p:sp>
        <p:nvSpPr>
          <p:cNvPr id="51" name="RoundRect51"/>
          <p:cNvSpPr/>
          <p:nvPr/>
        </p:nvSpPr>
        <p:spPr>
          <a:xfrm xmlns:a="http://schemas.openxmlformats.org/drawingml/2006/main">
            <a:off x="400000" y="3700000"/>
            <a:ext cx="11300000" cy="29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52" name="TextBox52"/>
          <p:cNvSpPr/>
          <p:nvPr/>
        </p:nvSpPr>
        <p:spPr>
          <a:xfrm xmlns:a="http://schemas.openxmlformats.org/drawingml/2006/main">
            <a:off x="600000" y="3800000"/>
            <a:ext cx="109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600" b="1" dirty="0">
                <a:solidFill>
                  <a:srgbClr val="4FC3F7"/>
                </a:solidFill>
                <a:latin typeface="맑은 고딕"/>
                <a:ea typeface="맑은 고딕"/>
              </a:rPr>
              <a:t>각 단계를 담당하는 클래스</a:t>
            </a:r>
          </a:p>
        </p:txBody>
      </p:sp>
      <p:sp>
        <p:nvSpPr>
          <p:cNvPr id="53" name="TextBox53"/>
          <p:cNvSpPr/>
          <p:nvPr/>
        </p:nvSpPr>
        <p:spPr>
          <a:xfrm xmlns:a="http://schemas.openxmlformats.org/drawingml/2006/main">
            <a:off x="600000" y="4300000"/>
            <a:ext cx="3200000" cy="3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300" b="1" dirty="0">
                <a:solidFill>
                  <a:srgbClr val="66BB6A"/>
                </a:solidFill>
                <a:latin typeface="맑은 고딕"/>
                <a:ea typeface="맑은 고딕"/>
              </a:rPr>
              <a:t>ImagePreprocessor</a:t>
            </a:r>
          </a:p>
        </p:txBody>
      </p:sp>
      <p:sp>
        <p:nvSpPr>
          <p:cNvPr id="54" name="TextBox54"/>
          <p:cNvSpPr/>
          <p:nvPr/>
        </p:nvSpPr>
        <p:spPr>
          <a:xfrm xmlns:a="http://schemas.openxmlformats.org/drawingml/2006/main">
            <a:off x="3800000" y="4300000"/>
            <a:ext cx="2800000" cy="3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1" dirty="0">
                <a:solidFill>
                  <a:srgbClr val="FFFFFF"/>
                </a:solidFill>
                <a:latin typeface="맑은 고딕"/>
                <a:ea typeface="맑은 고딕"/>
              </a:rPr>
              <a:t>XRCpuImageToTexture2D()</a:t>
            </a:r>
          </a:p>
        </p:txBody>
      </p:sp>
      <p:sp>
        <p:nvSpPr>
          <p:cNvPr id="55" name="TextBox55"/>
          <p:cNvSpPr/>
          <p:nvPr/>
        </p:nvSpPr>
        <p:spPr>
          <a:xfrm xmlns:a="http://schemas.openxmlformats.org/drawingml/2006/main">
            <a:off x="6600000" y="4300000"/>
            <a:ext cx="4900000" cy="3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0" dirty="0">
                <a:solidFill>
                  <a:srgbClr val="B0BEC5"/>
                </a:solidFill>
                <a:latin typeface="맑은 고딕"/>
                <a:ea typeface="맑은 고딕"/>
              </a:rPr>
              <a:t>카메라 이미지 → Texture2D 변환</a:t>
            </a:r>
          </a:p>
        </p:txBody>
      </p:sp>
      <p:sp>
        <p:nvSpPr>
          <p:cNvPr id="56" name="TextBox56"/>
          <p:cNvSpPr/>
          <p:nvPr/>
        </p:nvSpPr>
        <p:spPr>
          <a:xfrm xmlns:a="http://schemas.openxmlformats.org/drawingml/2006/main">
            <a:off x="600000" y="4750000"/>
            <a:ext cx="3200000" cy="3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300" b="1" dirty="0">
                <a:solidFill>
                  <a:srgbClr val="FFA726"/>
                </a:solidFill>
                <a:latin typeface="맑은 고딕"/>
                <a:ea typeface="맑은 고딕"/>
              </a:rPr>
              <a:t>ImagePreprocessor</a:t>
            </a:r>
          </a:p>
        </p:txBody>
      </p:sp>
      <p:sp>
        <p:nvSpPr>
          <p:cNvPr id="57" name="TextBox57"/>
          <p:cNvSpPr/>
          <p:nvPr/>
        </p:nvSpPr>
        <p:spPr>
          <a:xfrm xmlns:a="http://schemas.openxmlformats.org/drawingml/2006/main">
            <a:off x="3800000" y="4750000"/>
            <a:ext cx="2800000" cy="3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1" dirty="0">
                <a:solidFill>
                  <a:srgbClr val="FFFFFF"/>
                </a:solidFill>
                <a:latin typeface="맑은 고딕"/>
                <a:ea typeface="맑은 고딕"/>
              </a:rPr>
              <a:t>TextureToTensor()</a:t>
            </a:r>
          </a:p>
        </p:txBody>
      </p:sp>
      <p:sp>
        <p:nvSpPr>
          <p:cNvPr id="58" name="TextBox58"/>
          <p:cNvSpPr/>
          <p:nvPr/>
        </p:nvSpPr>
        <p:spPr>
          <a:xfrm xmlns:a="http://schemas.openxmlformats.org/drawingml/2006/main">
            <a:off x="6600000" y="4750000"/>
            <a:ext cx="4900000" cy="3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0" dirty="0">
                <a:solidFill>
                  <a:srgbClr val="B0BEC5"/>
                </a:solidFill>
                <a:latin typeface="맑은 고딕"/>
                <a:ea typeface="맑은 고딕"/>
              </a:rPr>
              <a:t>Texture2D → 640×640 Tensor 변환</a:t>
            </a:r>
          </a:p>
        </p:txBody>
      </p:sp>
      <p:sp>
        <p:nvSpPr>
          <p:cNvPr id="59" name="TextBox59"/>
          <p:cNvSpPr/>
          <p:nvPr/>
        </p:nvSpPr>
        <p:spPr>
          <a:xfrm xmlns:a="http://schemas.openxmlformats.org/drawingml/2006/main">
            <a:off x="600000" y="5200000"/>
            <a:ext cx="3200000" cy="3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300" b="1" dirty="0">
                <a:solidFill>
                  <a:srgbClr val="FFEE58"/>
                </a:solidFill>
                <a:latin typeface="맑은 고딕"/>
                <a:ea typeface="맑은 고딕"/>
              </a:rPr>
              <a:t>YOLOFruitDetector</a:t>
            </a:r>
          </a:p>
        </p:txBody>
      </p:sp>
      <p:sp>
        <p:nvSpPr>
          <p:cNvPr id="60" name="TextBox60"/>
          <p:cNvSpPr/>
          <p:nvPr/>
        </p:nvSpPr>
        <p:spPr>
          <a:xfrm xmlns:a="http://schemas.openxmlformats.org/drawingml/2006/main">
            <a:off x="3800000" y="5200000"/>
            <a:ext cx="2800000" cy="3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1" dirty="0">
                <a:solidFill>
                  <a:srgbClr val="FFFFFF"/>
                </a:solidFill>
                <a:latin typeface="맑은 고딕"/>
                <a:ea typeface="맑은 고딕"/>
              </a:rPr>
              <a:t>Detect()</a:t>
            </a:r>
          </a:p>
        </p:txBody>
      </p:sp>
      <p:sp>
        <p:nvSpPr>
          <p:cNvPr id="61" name="TextBox61"/>
          <p:cNvSpPr/>
          <p:nvPr/>
        </p:nvSpPr>
        <p:spPr>
          <a:xfrm xmlns:a="http://schemas.openxmlformats.org/drawingml/2006/main">
            <a:off x="6600000" y="5200000"/>
            <a:ext cx="4900000" cy="3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0" dirty="0">
                <a:solidFill>
                  <a:srgbClr val="B0BEC5"/>
                </a:solidFill>
                <a:latin typeface="맑은 고딕"/>
                <a:ea typeface="맑은 고딕"/>
              </a:rPr>
              <a:t>Sentis Worker로 GPU 추론 실행</a:t>
            </a:r>
          </a:p>
        </p:txBody>
      </p:sp>
      <p:sp>
        <p:nvSpPr>
          <p:cNvPr id="62" name="TextBox62"/>
          <p:cNvSpPr/>
          <p:nvPr/>
        </p:nvSpPr>
        <p:spPr>
          <a:xfrm xmlns:a="http://schemas.openxmlformats.org/drawingml/2006/main">
            <a:off x="600000" y="5650000"/>
            <a:ext cx="3200000" cy="3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300" b="1" dirty="0">
                <a:solidFill>
                  <a:srgbClr val="4FC3F7"/>
                </a:solidFill>
                <a:latin typeface="맑은 고딕"/>
                <a:ea typeface="맑은 고딕"/>
              </a:rPr>
              <a:t>DetectionPostprocessor</a:t>
            </a:r>
          </a:p>
        </p:txBody>
      </p:sp>
      <p:sp>
        <p:nvSpPr>
          <p:cNvPr id="63" name="TextBox63"/>
          <p:cNvSpPr/>
          <p:nvPr/>
        </p:nvSpPr>
        <p:spPr>
          <a:xfrm xmlns:a="http://schemas.openxmlformats.org/drawingml/2006/main">
            <a:off x="3800000" y="5650000"/>
            <a:ext cx="2800000" cy="3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1" dirty="0">
                <a:solidFill>
                  <a:srgbClr val="FFFFFF"/>
                </a:solidFill>
                <a:latin typeface="맑은 고딕"/>
                <a:ea typeface="맑은 고딕"/>
              </a:rPr>
              <a:t>ProcessOutput()</a:t>
            </a:r>
          </a:p>
        </p:txBody>
      </p:sp>
      <p:sp>
        <p:nvSpPr>
          <p:cNvPr id="64" name="TextBox64"/>
          <p:cNvSpPr/>
          <p:nvPr/>
        </p:nvSpPr>
        <p:spPr>
          <a:xfrm xmlns:a="http://schemas.openxmlformats.org/drawingml/2006/main">
            <a:off x="6600000" y="5650000"/>
            <a:ext cx="4900000" cy="3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0" dirty="0">
                <a:solidFill>
                  <a:srgbClr val="B0BEC5"/>
                </a:solidFill>
                <a:latin typeface="맑은 고딕"/>
                <a:ea typeface="맑은 고딕"/>
              </a:rPr>
              <a:t>모델 출력 → DetectionResult[] + NMS</a:t>
            </a:r>
          </a:p>
        </p:txBody>
      </p:sp>
    </p:spTree>
  </p:cSld>
  <p:clrMapOvr>
    <a:masterClrMapping xmlns:a="http://schemas.openxmlformats.org/drawingml/2006/main"/>
  </p:clrMapOvr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B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Rect65"/>
          <p:cNvSpPr/>
          <p:nvPr/>
        </p:nvSpPr>
        <p:spPr>
          <a:xfrm xmlns:a="http://schemas.openxmlformats.org/drawingml/2006/main">
            <a:off x="0" y="0"/>
            <a:ext cx="12192000" cy="12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66" name="Rect66"/>
          <p:cNvSpPr/>
          <p:nvPr/>
        </p:nvSpPr>
        <p:spPr>
          <a:xfrm xmlns:a="http://schemas.openxmlformats.org/drawingml/2006/main">
            <a:off x="0" y="1150000"/>
            <a:ext cx="12192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67" name="TextBox67"/>
          <p:cNvSpPr/>
          <p:nvPr/>
        </p:nvSpPr>
        <p:spPr>
          <a:xfrm xmlns:a="http://schemas.openxmlformats.org/drawingml/2006/main">
            <a:off x="600000" y="200000"/>
            <a:ext cx="10992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800" b="1" dirty="0">
                <a:solidFill>
                  <a:srgbClr val="FFFFFF"/>
                </a:solidFill>
                <a:latin typeface="맑은 고딕"/>
                <a:ea typeface="맑은 고딕"/>
              </a:rPr>
              <a:t>2. Unity Sentis 추론 엔진</a:t>
            </a:r>
          </a:p>
        </p:txBody>
      </p:sp>
      <p:sp>
        <p:nvSpPr>
          <p:cNvPr id="68" name="RoundRect68"/>
          <p:cNvSpPr/>
          <p:nvPr/>
        </p:nvSpPr>
        <p:spPr>
          <a:xfrm xmlns:a="http://schemas.openxmlformats.org/drawingml/2006/main">
            <a:off x="600000" y="1450000"/>
            <a:ext cx="10900000" cy="9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69" name="TextBox69"/>
          <p:cNvSpPr/>
          <p:nvPr/>
        </p:nvSpPr>
        <p:spPr>
          <a:xfrm xmlns:a="http://schemas.openxmlformats.org/drawingml/2006/main">
            <a:off x="800000" y="1500000"/>
            <a:ext cx="105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700" b="1" dirty="0">
                <a:solidFill>
                  <a:srgbClr val="4FC3F7"/>
                </a:solidFill>
                <a:latin typeface="맑은 고딕"/>
                <a:ea typeface="맑은 고딕"/>
              </a:rPr>
              <a:t>Unity Sentis = Unity에서 ML 모델을 직접 실행하는 온디바이스 추론 엔진</a:t>
            </a:r>
          </a:p>
        </p:txBody>
      </p:sp>
      <p:sp>
        <p:nvSpPr>
          <p:cNvPr id="70" name="TextBox70"/>
          <p:cNvSpPr/>
          <p:nvPr/>
        </p:nvSpPr>
        <p:spPr>
          <a:xfrm xmlns:a="http://schemas.openxmlformats.org/drawingml/2006/main">
            <a:off x="800000" y="1900000"/>
            <a:ext cx="105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400" b="0" dirty="0">
                <a:solidFill>
                  <a:srgbClr val="FFFFFF"/>
                </a:solidFill>
                <a:latin typeface="맑은 고딕"/>
                <a:ea typeface="맑은 고딕"/>
              </a:rPr>
              <a:t>서버 통신 없이 GPU/CPU에서 ONNX 형식 모델을 실행 (이전 이름: Barracuda)</a:t>
            </a:r>
          </a:p>
        </p:txBody>
      </p:sp>
      <p:sp>
        <p:nvSpPr>
          <p:cNvPr id="71" name="TextBox71"/>
          <p:cNvSpPr/>
          <p:nvPr/>
        </p:nvSpPr>
        <p:spPr>
          <a:xfrm xmlns:a="http://schemas.openxmlformats.org/drawingml/2006/main">
            <a:off x="600000" y="2600000"/>
            <a:ext cx="109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600" b="1" dirty="0">
                <a:solidFill>
                  <a:srgbClr val="FFFFFF"/>
                </a:solidFill>
                <a:latin typeface="맑은 고딕"/>
                <a:ea typeface="맑은 고딕"/>
              </a:rPr>
              <a:t>GoldenFruit에서 사용하는 Sentis API</a:t>
            </a:r>
          </a:p>
        </p:txBody>
      </p:sp>
      <p:sp>
        <p:nvSpPr>
          <p:cNvPr id="72" name="RoundRect72"/>
          <p:cNvSpPr/>
          <p:nvPr/>
        </p:nvSpPr>
        <p:spPr>
          <a:xfrm xmlns:a="http://schemas.openxmlformats.org/drawingml/2006/main">
            <a:off x="600000" y="3100000"/>
            <a:ext cx="10900000" cy="55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73" name="TextBox73"/>
          <p:cNvSpPr/>
          <p:nvPr/>
        </p:nvSpPr>
        <p:spPr>
          <a:xfrm xmlns:a="http://schemas.openxmlformats.org/drawingml/2006/main">
            <a:off x="800000" y="3150000"/>
            <a:ext cx="55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1" dirty="0">
                <a:solidFill>
                  <a:srgbClr val="4FC3F7"/>
                </a:solidFill>
                <a:latin typeface="맑은 고딕"/>
                <a:ea typeface="맑은 고딕"/>
              </a:rPr>
              <a:t>ModelLoader.Load(modelAsset)</a:t>
            </a:r>
          </a:p>
        </p:txBody>
      </p:sp>
      <p:sp>
        <p:nvSpPr>
          <p:cNvPr id="74" name="TextBox74"/>
          <p:cNvSpPr/>
          <p:nvPr/>
        </p:nvSpPr>
        <p:spPr>
          <a:xfrm xmlns:a="http://schemas.openxmlformats.org/drawingml/2006/main">
            <a:off x="6400000" y="3150000"/>
            <a:ext cx="49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0" dirty="0">
                <a:solidFill>
                  <a:srgbClr val="FFFFFF"/>
                </a:solidFill>
                <a:latin typeface="맑은 고딕"/>
                <a:ea typeface="맑은 고딕"/>
              </a:rPr>
              <a:t>ONNX 모델 에셋을 런타임 Model로 로드</a:t>
            </a:r>
          </a:p>
        </p:txBody>
      </p:sp>
      <p:sp>
        <p:nvSpPr>
          <p:cNvPr id="75" name="RoundRect75"/>
          <p:cNvSpPr/>
          <p:nvPr/>
        </p:nvSpPr>
        <p:spPr>
          <a:xfrm xmlns:a="http://schemas.openxmlformats.org/drawingml/2006/main">
            <a:off x="600000" y="3720000"/>
            <a:ext cx="10900000" cy="55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76" name="TextBox76"/>
          <p:cNvSpPr/>
          <p:nvPr/>
        </p:nvSpPr>
        <p:spPr>
          <a:xfrm xmlns:a="http://schemas.openxmlformats.org/drawingml/2006/main">
            <a:off x="800000" y="3770000"/>
            <a:ext cx="55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1" dirty="0">
                <a:solidFill>
                  <a:srgbClr val="66BB6A"/>
                </a:solidFill>
                <a:latin typeface="맑은 고딕"/>
                <a:ea typeface="맑은 고딕"/>
              </a:rPr>
              <a:t>new Worker(model, BackendType.GPUCompute)</a:t>
            </a:r>
          </a:p>
        </p:txBody>
      </p:sp>
      <p:sp>
        <p:nvSpPr>
          <p:cNvPr id="77" name="TextBox77"/>
          <p:cNvSpPr/>
          <p:nvPr/>
        </p:nvSpPr>
        <p:spPr>
          <a:xfrm xmlns:a="http://schemas.openxmlformats.org/drawingml/2006/main">
            <a:off x="6400000" y="3770000"/>
            <a:ext cx="49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0" dirty="0">
                <a:solidFill>
                  <a:srgbClr val="FFFFFF"/>
                </a:solidFill>
                <a:latin typeface="맑은 고딕"/>
                <a:ea typeface="맑은 고딕"/>
              </a:rPr>
              <a:t>GPU 백엔드로 추론 워커 생성</a:t>
            </a:r>
          </a:p>
        </p:txBody>
      </p:sp>
      <p:sp>
        <p:nvSpPr>
          <p:cNvPr id="78" name="RoundRect78"/>
          <p:cNvSpPr/>
          <p:nvPr/>
        </p:nvSpPr>
        <p:spPr>
          <a:xfrm xmlns:a="http://schemas.openxmlformats.org/drawingml/2006/main">
            <a:off x="600000" y="4340000"/>
            <a:ext cx="10900000" cy="55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79" name="TextBox79"/>
          <p:cNvSpPr/>
          <p:nvPr/>
        </p:nvSpPr>
        <p:spPr>
          <a:xfrm xmlns:a="http://schemas.openxmlformats.org/drawingml/2006/main">
            <a:off x="800000" y="4390000"/>
            <a:ext cx="55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1" dirty="0">
                <a:solidFill>
                  <a:srgbClr val="FFA726"/>
                </a:solidFill>
                <a:latin typeface="맑은 고딕"/>
                <a:ea typeface="맑은 고딕"/>
              </a:rPr>
              <a:t>worker.Schedule(inputTensor)</a:t>
            </a:r>
          </a:p>
        </p:txBody>
      </p:sp>
      <p:sp>
        <p:nvSpPr>
          <p:cNvPr id="80" name="TextBox80"/>
          <p:cNvSpPr/>
          <p:nvPr/>
        </p:nvSpPr>
        <p:spPr>
          <a:xfrm xmlns:a="http://schemas.openxmlformats.org/drawingml/2006/main">
            <a:off x="6400000" y="4390000"/>
            <a:ext cx="49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0" dirty="0">
                <a:solidFill>
                  <a:srgbClr val="FFFFFF"/>
                </a:solidFill>
                <a:latin typeface="맑은 고딕"/>
                <a:ea typeface="맑은 고딕"/>
              </a:rPr>
              <a:t>입력 텐서로 추론 실행 예약</a:t>
            </a:r>
          </a:p>
        </p:txBody>
      </p:sp>
      <p:sp>
        <p:nvSpPr>
          <p:cNvPr id="81" name="RoundRect81"/>
          <p:cNvSpPr/>
          <p:nvPr/>
        </p:nvSpPr>
        <p:spPr>
          <a:xfrm xmlns:a="http://schemas.openxmlformats.org/drawingml/2006/main">
            <a:off x="600000" y="4960000"/>
            <a:ext cx="10900000" cy="55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82" name="TextBox82"/>
          <p:cNvSpPr/>
          <p:nvPr/>
        </p:nvSpPr>
        <p:spPr>
          <a:xfrm xmlns:a="http://schemas.openxmlformats.org/drawingml/2006/main">
            <a:off x="800000" y="5010000"/>
            <a:ext cx="55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1" dirty="0">
                <a:solidFill>
                  <a:srgbClr val="FFEE58"/>
                </a:solidFill>
                <a:latin typeface="맑은 고딕"/>
                <a:ea typeface="맑은 고딕"/>
              </a:rPr>
              <a:t>worker.PeekOutput() as Tensor&lt;float&gt;</a:t>
            </a:r>
          </a:p>
        </p:txBody>
      </p:sp>
      <p:sp>
        <p:nvSpPr>
          <p:cNvPr id="83" name="TextBox83"/>
          <p:cNvSpPr/>
          <p:nvPr/>
        </p:nvSpPr>
        <p:spPr>
          <a:xfrm xmlns:a="http://schemas.openxmlformats.org/drawingml/2006/main">
            <a:off x="6400000" y="5010000"/>
            <a:ext cx="49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0" dirty="0">
                <a:solidFill>
                  <a:srgbClr val="FFFFFF"/>
                </a:solidFill>
                <a:latin typeface="맑은 고딕"/>
                <a:ea typeface="맑은 고딕"/>
              </a:rPr>
              <a:t>추론 결과(출력 텐서) 조회</a:t>
            </a:r>
          </a:p>
        </p:txBody>
      </p:sp>
      <p:sp>
        <p:nvSpPr>
          <p:cNvPr id="84" name="RoundRect84"/>
          <p:cNvSpPr/>
          <p:nvPr/>
        </p:nvSpPr>
        <p:spPr>
          <a:xfrm xmlns:a="http://schemas.openxmlformats.org/drawingml/2006/main">
            <a:off x="600000" y="5580000"/>
            <a:ext cx="10900000" cy="55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85" name="TextBox85"/>
          <p:cNvSpPr/>
          <p:nvPr/>
        </p:nvSpPr>
        <p:spPr>
          <a:xfrm xmlns:a="http://schemas.openxmlformats.org/drawingml/2006/main">
            <a:off x="800000" y="5630000"/>
            <a:ext cx="55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1" dirty="0">
                <a:solidFill>
                  <a:srgbClr val="4FC3F7"/>
                </a:solidFill>
                <a:latin typeface="맑은 고딕"/>
                <a:ea typeface="맑은 고딕"/>
              </a:rPr>
              <a:t>outputTensor.ReadbackAndClone()</a:t>
            </a:r>
          </a:p>
        </p:txBody>
      </p:sp>
      <p:sp>
        <p:nvSpPr>
          <p:cNvPr id="86" name="TextBox86"/>
          <p:cNvSpPr/>
          <p:nvPr/>
        </p:nvSpPr>
        <p:spPr>
          <a:xfrm xmlns:a="http://schemas.openxmlformats.org/drawingml/2006/main">
            <a:off x="6400000" y="5630000"/>
            <a:ext cx="49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0" dirty="0">
                <a:solidFill>
                  <a:srgbClr val="FFFFFF"/>
                </a:solidFill>
                <a:latin typeface="맑은 고딕"/>
                <a:ea typeface="맑은 고딕"/>
              </a:rPr>
              <a:t>GPU → CPU로 데이터 복사 (결과 읽기)</a:t>
            </a:r>
          </a:p>
        </p:txBody>
      </p:sp>
      <p:sp>
        <p:nvSpPr>
          <p:cNvPr id="87" name="TextBox87"/>
          <p:cNvSpPr/>
          <p:nvPr/>
        </p:nvSpPr>
        <p:spPr>
          <a:xfrm xmlns:a="http://schemas.openxmlformats.org/drawingml/2006/main">
            <a:off x="600000" y="6300000"/>
            <a:ext cx="109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300" b="0" dirty="0">
                <a:solidFill>
                  <a:srgbClr val="B0BEC5"/>
                </a:solidFill>
                <a:latin typeface="맑은 고딕"/>
                <a:ea typeface="맑은 고딕"/>
              </a:rPr>
              <a:t>BackendType.GPUCompute: Compute Shader를 통한 GPU 병렬 처리 → 모바일에서도 실시간 추론 가능</a:t>
            </a:r>
          </a:p>
        </p:txBody>
      </p:sp>
    </p:spTree>
  </p:cSld>
  <p:clrMapOvr>
    <a:masterClrMapping xmlns:a="http://schemas.openxmlformats.org/drawingml/2006/main"/>
  </p:clrMapOvr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B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8" name="Rect88"/>
          <p:cNvSpPr/>
          <p:nvPr/>
        </p:nvSpPr>
        <p:spPr>
          <a:xfrm xmlns:a="http://schemas.openxmlformats.org/drawingml/2006/main">
            <a:off x="0" y="0"/>
            <a:ext cx="12192000" cy="12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89" name="Rect89"/>
          <p:cNvSpPr/>
          <p:nvPr/>
        </p:nvSpPr>
        <p:spPr>
          <a:xfrm xmlns:a="http://schemas.openxmlformats.org/drawingml/2006/main">
            <a:off x="0" y="1150000"/>
            <a:ext cx="12192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90" name="TextBox90"/>
          <p:cNvSpPr/>
          <p:nvPr/>
        </p:nvSpPr>
        <p:spPr>
          <a:xfrm xmlns:a="http://schemas.openxmlformats.org/drawingml/2006/main">
            <a:off x="600000" y="200000"/>
            <a:ext cx="10992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800" b="1" dirty="0">
                <a:solidFill>
                  <a:srgbClr val="FFFFFF"/>
                </a:solidFill>
                <a:latin typeface="맑은 고딕"/>
                <a:ea typeface="맑은 고딕"/>
              </a:rPr>
              <a:t>3. ImagePreprocessor (이미지 전처리)</a:t>
            </a:r>
          </a:p>
        </p:txBody>
      </p:sp>
      <p:sp>
        <p:nvSpPr>
          <p:cNvPr id="91" name="TextBox91"/>
          <p:cNvSpPr/>
          <p:nvPr/>
        </p:nvSpPr>
        <p:spPr>
          <a:xfrm xmlns:a="http://schemas.openxmlformats.org/drawingml/2006/main">
            <a:off x="600000" y="1400000"/>
            <a:ext cx="109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600" b="1" dirty="0">
                <a:solidFill>
                  <a:srgbClr val="4FC3F7"/>
                </a:solidFill>
                <a:latin typeface="맑은 고딕"/>
                <a:ea typeface="맑은 고딕"/>
              </a:rPr>
              <a:t>TextureToTensor — Texture2D를 YOLO 입력 텐서로 변환</a:t>
            </a:r>
          </a:p>
        </p:txBody>
      </p:sp>
      <p:sp>
        <p:nvSpPr>
          <p:cNvPr id="92" name="RoundRect92"/>
          <p:cNvSpPr/>
          <p:nvPr/>
        </p:nvSpPr>
        <p:spPr>
          <a:xfrm xmlns:a="http://schemas.openxmlformats.org/drawingml/2006/main">
            <a:off x="600000" y="1850000"/>
            <a:ext cx="6000000" cy="32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93" name="Rect93"/>
          <p:cNvSpPr/>
          <p:nvPr/>
        </p:nvSpPr>
        <p:spPr>
          <a:xfrm xmlns:a="http://schemas.openxmlformats.org/drawingml/2006/main">
            <a:off x="600000" y="1850000"/>
            <a:ext cx="544000" cy="5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94" name="Code94"/>
          <p:cNvSpPr/>
          <p:nvPr/>
        </p:nvSpPr>
        <p:spPr>
          <a:xfrm xmlns:a="http://schemas.openxmlformats.org/drawingml/2006/main">
            <a:off x="600000" y="1850000"/>
            <a:ext cx="6000000" cy="32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00000" tIns="200000" rIns="200000" bIns="200000" anchor="t"/>
          <a:lstStyle xmlns:a="http://schemas.openxmlformats.org/drawingml/2006/main"/>
          <a:p xmlns:a="http://schemas.openxmlformats.org/drawingml/2006/main">
            <a:pPr algn="l"/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public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static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Tensor&lt;</a:t>
            </a:r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float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&gt; TextureToTensor(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Texture2D texture, </a:t>
            </a:r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int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targetSize = </a:t>
            </a:r>
            <a:r>
              <a:rPr lang="ko-KR" sz="1050" b="0" dirty="0">
                <a:solidFill>
                  <a:srgbClr val="B5CEA8"/>
                </a:solidFill>
                <a:latin typeface="Consolas"/>
                <a:ea typeface="맑은 고딕"/>
              </a:rPr>
              <a:t>640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)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{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050" b="0" dirty="0">
                <a:solidFill>
                  <a:srgbClr val="608B4E"/>
                </a:solidFill>
                <a:latin typeface="Consolas"/>
                <a:ea typeface="맑은 고딕"/>
              </a:rPr>
              <a:t>// 1. RenderTexture로 리사이즈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RenderTexture rt = RenderTexture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    .GetTemporary(targetSize, targetSize, ...);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Graphics.Blit(texture, rt);</a:t>
            </a:r>
          </a:p>
          <a:p xmlns:a="http://schemas.openxmlformats.org/drawingml/2006/main">
            <a:pPr algn="l"/>
            <a:endParaRPr lang="ko-KR" sz="1050" dirty="0">
              <a:latin typeface="Consolas"/>
              <a:ea typeface="맑은 고딕"/>
            </a:endParaRP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050" b="0" dirty="0">
                <a:solidFill>
                  <a:srgbClr val="608B4E"/>
                </a:solidFill>
                <a:latin typeface="Consolas"/>
                <a:ea typeface="맑은 고딕"/>
              </a:rPr>
              <a:t>// 2. 픽셀 데이터 추출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Color32[] pixels = resized.GetPixels32();</a:t>
            </a:r>
          </a:p>
          <a:p xmlns:a="http://schemas.openxmlformats.org/drawingml/2006/main">
            <a:pPr algn="l"/>
            <a:endParaRPr lang="ko-KR" sz="1050" dirty="0">
              <a:latin typeface="Consolas"/>
              <a:ea typeface="맑은 고딕"/>
            </a:endParaRP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050" b="0" dirty="0">
                <a:solidFill>
                  <a:srgbClr val="608B4E"/>
                </a:solidFill>
                <a:latin typeface="Consolas"/>
                <a:ea typeface="맑은 고딕"/>
              </a:rPr>
              <a:t>// 3. CHW 형식으로 정규화 (0~1)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data[i] = pixels[i].r / </a:t>
            </a:r>
            <a:r>
              <a:rPr lang="ko-KR" sz="1050" b="0" dirty="0">
                <a:solidFill>
                  <a:srgbClr val="B5CEA8"/>
                </a:solidFill>
                <a:latin typeface="Consolas"/>
                <a:ea typeface="맑은 고딕"/>
              </a:rPr>
              <a:t>255f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;         </a:t>
            </a:r>
            <a:r>
              <a:rPr lang="ko-KR" sz="1050" b="0" dirty="0">
                <a:solidFill>
                  <a:srgbClr val="608B4E"/>
                </a:solidFill>
                <a:latin typeface="Consolas"/>
                <a:ea typeface="맑은 고딕"/>
              </a:rPr>
              <a:t>// R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data[pixelCount + i] = pixels[i].g / </a:t>
            </a:r>
            <a:r>
              <a:rPr lang="ko-KR" sz="1050" b="0" dirty="0">
                <a:solidFill>
                  <a:srgbClr val="B5CEA8"/>
                </a:solidFill>
                <a:latin typeface="Consolas"/>
                <a:ea typeface="맑은 고딕"/>
              </a:rPr>
              <a:t>255f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; </a:t>
            </a:r>
            <a:r>
              <a:rPr lang="ko-KR" sz="1050" b="0" dirty="0">
                <a:solidFill>
                  <a:srgbClr val="608B4E"/>
                </a:solidFill>
                <a:latin typeface="Consolas"/>
                <a:ea typeface="맑은 고딕"/>
              </a:rPr>
              <a:t>// G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data[</a:t>
            </a:r>
            <a:r>
              <a:rPr lang="ko-KR" sz="1050" b="0" dirty="0">
                <a:solidFill>
                  <a:srgbClr val="B5CEA8"/>
                </a:solidFill>
                <a:latin typeface="Consolas"/>
                <a:ea typeface="맑은 고딕"/>
              </a:rPr>
              <a:t>2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*pixelCount + i] = pixels[i].b / </a:t>
            </a:r>
            <a:r>
              <a:rPr lang="ko-KR" sz="1050" b="0" dirty="0">
                <a:solidFill>
                  <a:srgbClr val="B5CEA8"/>
                </a:solidFill>
                <a:latin typeface="Consolas"/>
                <a:ea typeface="맑은 고딕"/>
              </a:rPr>
              <a:t>255f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; </a:t>
            </a:r>
            <a:r>
              <a:rPr lang="ko-KR" sz="1050" b="0" dirty="0">
                <a:solidFill>
                  <a:srgbClr val="608B4E"/>
                </a:solidFill>
                <a:latin typeface="Consolas"/>
                <a:ea typeface="맑은 고딕"/>
              </a:rPr>
              <a:t>// B</a:t>
            </a:r>
          </a:p>
          <a:p xmlns:a="http://schemas.openxmlformats.org/drawingml/2006/main">
            <a:pPr algn="l"/>
            <a:endParaRPr lang="ko-KR" sz="1050" dirty="0">
              <a:latin typeface="Consolas"/>
              <a:ea typeface="맑은 고딕"/>
            </a:endParaRP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050" b="0" dirty="0">
                <a:solidFill>
                  <a:srgbClr val="608B4E"/>
                </a:solidFill>
                <a:latin typeface="Consolas"/>
                <a:ea typeface="맑은 고딕"/>
              </a:rPr>
              <a:t>// 4. Tensor 생성: [1, 3, 640, 640]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return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new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Tensor&lt;</a:t>
            </a:r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float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&gt;(shape);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}</a:t>
            </a:r>
          </a:p>
        </p:txBody>
      </p:sp>
      <p:sp>
        <p:nvSpPr>
          <p:cNvPr id="95" name="RoundRect95"/>
          <p:cNvSpPr/>
          <p:nvPr/>
        </p:nvSpPr>
        <p:spPr>
          <a:xfrm xmlns:a="http://schemas.openxmlformats.org/drawingml/2006/main">
            <a:off x="6900000" y="1850000"/>
            <a:ext cx="4900000" cy="32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96" name="Rect96"/>
          <p:cNvSpPr/>
          <p:nvPr/>
        </p:nvSpPr>
        <p:spPr>
          <a:xfrm xmlns:a="http://schemas.openxmlformats.org/drawingml/2006/main">
            <a:off x="6900000" y="1850000"/>
            <a:ext cx="544000" cy="5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97" name="TextBox97"/>
          <p:cNvSpPr/>
          <p:nvPr/>
        </p:nvSpPr>
        <p:spPr>
          <a:xfrm xmlns:a="http://schemas.openxmlformats.org/drawingml/2006/main">
            <a:off x="7100000" y="1950000"/>
            <a:ext cx="45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500" b="1" dirty="0">
                <a:solidFill>
                  <a:srgbClr val="4FC3F7"/>
                </a:solidFill>
                <a:latin typeface="맑은 고딕"/>
                <a:ea typeface="맑은 고딕"/>
              </a:rPr>
              <a:t>처리 단계 설명</a:t>
            </a:r>
          </a:p>
        </p:txBody>
      </p:sp>
      <p:sp>
        <p:nvSpPr>
          <p:cNvPr id="98" name="TextBox98"/>
          <p:cNvSpPr/>
          <p:nvPr/>
        </p:nvSpPr>
        <p:spPr>
          <a:xfrm xmlns:a="http://schemas.openxmlformats.org/drawingml/2006/main">
            <a:off x="7100000" y="2500000"/>
            <a:ext cx="4500000" cy="2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1" dirty="0">
                <a:solidFill>
                  <a:srgbClr val="66BB6A"/>
                </a:solidFill>
                <a:latin typeface="맑은 고딕"/>
                <a:ea typeface="맑은 고딕"/>
              </a:rPr>
              <a:t>리사이즈</a:t>
            </a:r>
          </a:p>
        </p:txBody>
      </p:sp>
      <p:sp>
        <p:nvSpPr>
          <p:cNvPr id="99" name="TextBox99"/>
          <p:cNvSpPr/>
          <p:nvPr/>
        </p:nvSpPr>
        <p:spPr>
          <a:xfrm xmlns:a="http://schemas.openxmlformats.org/drawingml/2006/main">
            <a:off x="7100000" y="2780000"/>
            <a:ext cx="45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00" b="0" dirty="0">
                <a:solidFill>
                  <a:srgbClr val="B0BEC5"/>
                </a:solidFill>
                <a:latin typeface="맑은 고딕"/>
                <a:ea typeface="맑은 고딕"/>
              </a:rPr>
              <a:t>Graphics.Blit()로 원본 이미지를</a:t>
            </a:r>
          </a:p>
          <a:p xmlns:a="http://schemas.openxmlformats.org/drawingml/2006/main">
            <a:pPr algn="l"/>
            <a:r>
              <a:rPr lang="ko-KR" sz="1000" b="0" dirty="0">
                <a:solidFill>
                  <a:srgbClr val="B0BEC5"/>
                </a:solidFill>
                <a:latin typeface="맑은 고딕"/>
                <a:ea typeface="맑은 고딕"/>
              </a:rPr>
              <a:t>640×640으로 고속 리사이즈</a:t>
            </a:r>
          </a:p>
        </p:txBody>
      </p:sp>
      <p:sp>
        <p:nvSpPr>
          <p:cNvPr id="100" name="TextBox100"/>
          <p:cNvSpPr/>
          <p:nvPr/>
        </p:nvSpPr>
        <p:spPr>
          <a:xfrm xmlns:a="http://schemas.openxmlformats.org/drawingml/2006/main">
            <a:off x="7100000" y="3200000"/>
            <a:ext cx="4500000" cy="2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1" dirty="0">
                <a:solidFill>
                  <a:srgbClr val="FFA726"/>
                </a:solidFill>
                <a:latin typeface="맑은 고딕"/>
                <a:ea typeface="맑은 고딕"/>
              </a:rPr>
              <a:t>픽셀 추출</a:t>
            </a:r>
          </a:p>
        </p:txBody>
      </p:sp>
      <p:sp>
        <p:nvSpPr>
          <p:cNvPr id="101" name="TextBox101"/>
          <p:cNvSpPr/>
          <p:nvPr/>
        </p:nvSpPr>
        <p:spPr>
          <a:xfrm xmlns:a="http://schemas.openxmlformats.org/drawingml/2006/main">
            <a:off x="7100000" y="3480000"/>
            <a:ext cx="45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00" b="0" dirty="0">
                <a:solidFill>
                  <a:srgbClr val="B0BEC5"/>
                </a:solidFill>
                <a:latin typeface="맑은 고딕"/>
                <a:ea typeface="맑은 고딕"/>
              </a:rPr>
              <a:t>ReadPixels()로 GPU → CPU 복사</a:t>
            </a:r>
          </a:p>
          <a:p xmlns:a="http://schemas.openxmlformats.org/drawingml/2006/main">
            <a:pPr algn="l"/>
            <a:r>
              <a:rPr lang="ko-KR" sz="1000" b="0" dirty="0">
                <a:solidFill>
                  <a:srgbClr val="B0BEC5"/>
                </a:solidFill>
                <a:latin typeface="맑은 고딕"/>
                <a:ea typeface="맑은 고딕"/>
              </a:rPr>
              <a:t>Color32 배열 획득</a:t>
            </a:r>
          </a:p>
        </p:txBody>
      </p:sp>
      <p:sp>
        <p:nvSpPr>
          <p:cNvPr id="102" name="TextBox102"/>
          <p:cNvSpPr/>
          <p:nvPr/>
        </p:nvSpPr>
        <p:spPr>
          <a:xfrm xmlns:a="http://schemas.openxmlformats.org/drawingml/2006/main">
            <a:off x="7100000" y="3900000"/>
            <a:ext cx="4500000" cy="2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1" dirty="0">
                <a:solidFill>
                  <a:srgbClr val="FFEE58"/>
                </a:solidFill>
                <a:latin typeface="맑은 고딕"/>
                <a:ea typeface="맑은 고딕"/>
              </a:rPr>
              <a:t>정규화</a:t>
            </a:r>
          </a:p>
        </p:txBody>
      </p:sp>
      <p:sp>
        <p:nvSpPr>
          <p:cNvPr id="103" name="TextBox103"/>
          <p:cNvSpPr/>
          <p:nvPr/>
        </p:nvSpPr>
        <p:spPr>
          <a:xfrm xmlns:a="http://schemas.openxmlformats.org/drawingml/2006/main">
            <a:off x="7100000" y="4180000"/>
            <a:ext cx="45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00" b="0" dirty="0">
                <a:solidFill>
                  <a:srgbClr val="B0BEC5"/>
                </a:solidFill>
                <a:latin typeface="맑은 고딕"/>
                <a:ea typeface="맑은 고딕"/>
              </a:rPr>
              <a:t>각 채널을 0~255 → 0.0~1.0으로</a:t>
            </a:r>
          </a:p>
          <a:p xmlns:a="http://schemas.openxmlformats.org/drawingml/2006/main">
            <a:pPr algn="l"/>
            <a:r>
              <a:rPr lang="ko-KR" sz="1000" b="0" dirty="0">
                <a:solidFill>
                  <a:srgbClr val="B0BEC5"/>
                </a:solidFill>
                <a:latin typeface="맑은 고딕"/>
                <a:ea typeface="맑은 고딕"/>
              </a:rPr>
              <a:t>변환 (모델 입력 요구사항)</a:t>
            </a:r>
          </a:p>
        </p:txBody>
      </p:sp>
      <p:sp>
        <p:nvSpPr>
          <p:cNvPr id="104" name="TextBox104"/>
          <p:cNvSpPr/>
          <p:nvPr/>
        </p:nvSpPr>
        <p:spPr>
          <a:xfrm xmlns:a="http://schemas.openxmlformats.org/drawingml/2006/main">
            <a:off x="7100000" y="4600000"/>
            <a:ext cx="4500000" cy="2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1" dirty="0">
                <a:solidFill>
                  <a:srgbClr val="4FC3F7"/>
                </a:solidFill>
                <a:latin typeface="맑은 고딕"/>
                <a:ea typeface="맑은 고딕"/>
              </a:rPr>
              <a:t>CHW 배치</a:t>
            </a:r>
          </a:p>
        </p:txBody>
      </p:sp>
      <p:sp>
        <p:nvSpPr>
          <p:cNvPr id="105" name="TextBox105"/>
          <p:cNvSpPr/>
          <p:nvPr/>
        </p:nvSpPr>
        <p:spPr>
          <a:xfrm xmlns:a="http://schemas.openxmlformats.org/drawingml/2006/main">
            <a:off x="7100000" y="4880000"/>
            <a:ext cx="45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00" b="0" dirty="0">
                <a:solidFill>
                  <a:srgbClr val="B0BEC5"/>
                </a:solidFill>
                <a:latin typeface="맑은 고딕"/>
                <a:ea typeface="맑은 고딕"/>
              </a:rPr>
              <a:t>HWC(높이×너비×채널) →</a:t>
            </a:r>
          </a:p>
          <a:p xmlns:a="http://schemas.openxmlformats.org/drawingml/2006/main">
            <a:pPr algn="l"/>
            <a:r>
              <a:rPr lang="ko-KR" sz="1000" b="0" dirty="0">
                <a:solidFill>
                  <a:srgbClr val="B0BEC5"/>
                </a:solidFill>
                <a:latin typeface="맑은 고딕"/>
                <a:ea typeface="맑은 고딕"/>
              </a:rPr>
              <a:t>CHW(채널×높이×너비) 변환</a:t>
            </a:r>
          </a:p>
        </p:txBody>
      </p:sp>
      <p:sp>
        <p:nvSpPr>
          <p:cNvPr id="106" name="RoundRect106"/>
          <p:cNvSpPr/>
          <p:nvPr/>
        </p:nvSpPr>
        <p:spPr>
          <a:xfrm xmlns:a="http://schemas.openxmlformats.org/drawingml/2006/main">
            <a:off x="600000" y="5400000"/>
            <a:ext cx="10900000" cy="12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07" name="TextBox107"/>
          <p:cNvSpPr/>
          <p:nvPr/>
        </p:nvSpPr>
        <p:spPr>
          <a:xfrm xmlns:a="http://schemas.openxmlformats.org/drawingml/2006/main">
            <a:off x="800000" y="5450000"/>
            <a:ext cx="105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500" b="1" dirty="0">
                <a:solidFill>
                  <a:srgbClr val="66BB6A"/>
                </a:solidFill>
                <a:latin typeface="맑은 고딕"/>
                <a:ea typeface="맑은 고딕"/>
              </a:rPr>
              <a:t>XRCpuImageToTexture2D — AR 카메라 이미지 변환</a:t>
            </a:r>
          </a:p>
        </p:txBody>
      </p:sp>
      <p:sp>
        <p:nvSpPr>
          <p:cNvPr id="108" name="TextBox108"/>
          <p:cNvSpPr/>
          <p:nvPr/>
        </p:nvSpPr>
        <p:spPr>
          <a:xfrm xmlns:a="http://schemas.openxmlformats.org/drawingml/2006/main">
            <a:off x="800000" y="5850000"/>
            <a:ext cx="10500000" cy="6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0" dirty="0">
                <a:solidFill>
                  <a:srgbClr val="FFFFFF"/>
                </a:solidFill>
                <a:latin typeface="맑은 고딕"/>
                <a:ea typeface="맑은 고딕"/>
              </a:rPr>
              <a:t>●  XRCpuImage.Convert()로 AR 카메라 프레임을 RGBA32 텍스처로 변환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FFFFFF"/>
                </a:solidFill>
                <a:latin typeface="맑은 고딕"/>
                <a:ea typeface="맑은 고딕"/>
              </a:rPr>
              <a:t>●  MirrorY 변환 적용 (AR 카메라의 좌표계 보정)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FFFFFF"/>
                </a:solidFill>
                <a:latin typeface="맑은 고딕"/>
                <a:ea typeface="맑은 고딕"/>
              </a:rPr>
              <a:t>●  NativeArray&lt;byte&gt;를 직접 활용하여 메모리 복사 최소화</a:t>
            </a:r>
          </a:p>
        </p:txBody>
      </p:sp>
    </p:spTree>
  </p:cSld>
  <p:clrMapOvr>
    <a:masterClrMapping xmlns:a="http://schemas.openxmlformats.org/drawingml/2006/main"/>
  </p:clrMapOvr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B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9" name="Rect109"/>
          <p:cNvSpPr/>
          <p:nvPr/>
        </p:nvSpPr>
        <p:spPr>
          <a:xfrm xmlns:a="http://schemas.openxmlformats.org/drawingml/2006/main">
            <a:off x="0" y="0"/>
            <a:ext cx="12192000" cy="12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10" name="Rect110"/>
          <p:cNvSpPr/>
          <p:nvPr/>
        </p:nvSpPr>
        <p:spPr>
          <a:xfrm xmlns:a="http://schemas.openxmlformats.org/drawingml/2006/main">
            <a:off x="0" y="1150000"/>
            <a:ext cx="12192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11" name="TextBox111"/>
          <p:cNvSpPr/>
          <p:nvPr/>
        </p:nvSpPr>
        <p:spPr>
          <a:xfrm xmlns:a="http://schemas.openxmlformats.org/drawingml/2006/main">
            <a:off x="600000" y="200000"/>
            <a:ext cx="10992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800" b="1" dirty="0">
                <a:solidFill>
                  <a:srgbClr val="FFFFFF"/>
                </a:solidFill>
                <a:latin typeface="맑은 고딕"/>
                <a:ea typeface="맑은 고딕"/>
              </a:rPr>
              <a:t>4. YOLOFruitDetector (모델 추론)</a:t>
            </a:r>
          </a:p>
        </p:txBody>
      </p:sp>
      <p:sp>
        <p:nvSpPr>
          <p:cNvPr id="112" name="RoundRect112"/>
          <p:cNvSpPr/>
          <p:nvPr/>
        </p:nvSpPr>
        <p:spPr>
          <a:xfrm xmlns:a="http://schemas.openxmlformats.org/drawingml/2006/main">
            <a:off x="400000" y="1400000"/>
            <a:ext cx="7000000" cy="45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13" name="Rect113"/>
          <p:cNvSpPr/>
          <p:nvPr/>
        </p:nvSpPr>
        <p:spPr>
          <a:xfrm xmlns:a="http://schemas.openxmlformats.org/drawingml/2006/main">
            <a:off x="400000" y="1400000"/>
            <a:ext cx="765000" cy="76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14" name="Code114"/>
          <p:cNvSpPr/>
          <p:nvPr/>
        </p:nvSpPr>
        <p:spPr>
          <a:xfrm xmlns:a="http://schemas.openxmlformats.org/drawingml/2006/main">
            <a:off x="400000" y="1400000"/>
            <a:ext cx="7000000" cy="4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00000" tIns="200000" rIns="200000" bIns="200000" anchor="t"/>
          <a:lstStyle xmlns:a="http://schemas.openxmlformats.org/drawingml/2006/main"/>
          <a:p xmlns:a="http://schemas.openxmlformats.org/drawingml/2006/main">
            <a:pPr algn="l"/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public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class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YOLOFruitDetector : IFruitDetector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{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readonly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Model _runtimeModel;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readonly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Worker _worker;</a:t>
            </a:r>
          </a:p>
          <a:p xmlns:a="http://schemas.openxmlformats.org/drawingml/2006/main">
            <a:pPr algn="l"/>
            <a:endParaRPr lang="ko-KR" sz="1050" dirty="0">
              <a:latin typeface="Consolas"/>
              <a:ea typeface="맑은 고딕"/>
            </a:endParaRP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public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YOLOFruitDetector(ModelAsset modelAsset)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{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    _runtimeModel = ModelLoader.Load(modelAsset);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    _worker = </a:t>
            </a:r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new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Worker(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        _runtimeModel, BackendType.GPUCompute);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}</a:t>
            </a:r>
          </a:p>
          <a:p xmlns:a="http://schemas.openxmlformats.org/drawingml/2006/main">
            <a:pPr algn="l"/>
            <a:endParaRPr lang="ko-KR" sz="1050" dirty="0">
              <a:latin typeface="Consolas"/>
              <a:ea typeface="맑은 고딕"/>
            </a:endParaRP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public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void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Detect(Texture2D image,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    </a:t>
            </a:r>
            <a:r>
              <a:rPr lang="ko-KR" sz="1050" b="0" dirty="0">
                <a:solidFill>
                  <a:srgbClr val="4EC9B0"/>
                </a:solidFill>
                <a:latin typeface="Consolas"/>
                <a:ea typeface="맑은 고딕"/>
              </a:rPr>
              <a:t>Action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&lt;DetectionResult[]&gt; onComplete)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{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    </a:t>
            </a:r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var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inputTensor = ImagePreprocessor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        .TextureToTensor(image);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    _worker.Schedule(inputTensor);</a:t>
            </a:r>
          </a:p>
          <a:p xmlns:a="http://schemas.openxmlformats.org/drawingml/2006/main">
            <a:pPr algn="l"/>
            <a:endParaRPr lang="ko-KR" sz="1050" dirty="0">
              <a:latin typeface="Consolas"/>
              <a:ea typeface="맑은 고딕"/>
            </a:endParaRP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    </a:t>
            </a:r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var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outputTensor = _worker.PeekOutput()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        </a:t>
            </a:r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as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Tensor&lt;</a:t>
            </a:r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float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&gt;;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    </a:t>
            </a:r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var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cpuTensor = outputTensor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        .ReadbackAndClone();</a:t>
            </a:r>
          </a:p>
          <a:p xmlns:a="http://schemas.openxmlformats.org/drawingml/2006/main">
            <a:pPr algn="l"/>
            <a:endParaRPr lang="ko-KR" sz="1050" dirty="0">
              <a:latin typeface="Consolas"/>
              <a:ea typeface="맑은 고딕"/>
            </a:endParaRP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    DetectionResult[] results =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        DetectionPostprocessor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            .ProcessOutput(cpuTensor);</a:t>
            </a:r>
          </a:p>
          <a:p xmlns:a="http://schemas.openxmlformats.org/drawingml/2006/main">
            <a:pPr algn="l"/>
            <a:endParaRPr lang="ko-KR" sz="1050" dirty="0">
              <a:latin typeface="Consolas"/>
              <a:ea typeface="맑은 고딕"/>
            </a:endParaRP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    inputTensor.Dispose();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    cpuTensor.Dispose();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    onComplete?.Invoke(results);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}</a:t>
            </a:r>
          </a:p>
          <a:p xmlns:a="http://schemas.openxmlformats.org/drawingml/2006/main">
            <a:pPr algn="l"/>
            <a:endParaRPr lang="ko-KR" sz="1050" dirty="0">
              <a:latin typeface="Consolas"/>
              <a:ea typeface="맑은 고딕"/>
            </a:endParaRP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public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void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Dispose() =&gt; _worker?.Dispose();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}</a:t>
            </a:r>
          </a:p>
        </p:txBody>
      </p:sp>
      <p:sp>
        <p:nvSpPr>
          <p:cNvPr id="115" name="RoundRect115"/>
          <p:cNvSpPr/>
          <p:nvPr/>
        </p:nvSpPr>
        <p:spPr>
          <a:xfrm xmlns:a="http://schemas.openxmlformats.org/drawingml/2006/main">
            <a:off x="7700000" y="1400000"/>
            <a:ext cx="4100000" cy="45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16" name="Rect116"/>
          <p:cNvSpPr/>
          <p:nvPr/>
        </p:nvSpPr>
        <p:spPr>
          <a:xfrm xmlns:a="http://schemas.openxmlformats.org/drawingml/2006/main">
            <a:off x="7700000" y="1400000"/>
            <a:ext cx="697000" cy="6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17" name="TextBox117"/>
          <p:cNvSpPr/>
          <p:nvPr/>
        </p:nvSpPr>
        <p:spPr>
          <a:xfrm xmlns:a="http://schemas.openxmlformats.org/drawingml/2006/main">
            <a:off x="7900000" y="1500000"/>
            <a:ext cx="37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600" b="1" dirty="0">
                <a:solidFill>
                  <a:srgbClr val="4FC3F7"/>
                </a:solidFill>
                <a:latin typeface="맑은 고딕"/>
                <a:ea typeface="맑은 고딕"/>
              </a:rPr>
              <a:t>Detect() 실행 흐름</a:t>
            </a:r>
          </a:p>
        </p:txBody>
      </p:sp>
      <p:sp>
        <p:nvSpPr>
          <p:cNvPr id="118" name="TextBox118"/>
          <p:cNvSpPr/>
          <p:nvPr/>
        </p:nvSpPr>
        <p:spPr>
          <a:xfrm xmlns:a="http://schemas.openxmlformats.org/drawingml/2006/main">
            <a:off x="7900000" y="2100000"/>
            <a:ext cx="3700000" cy="2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1" dirty="0">
                <a:solidFill>
                  <a:srgbClr val="66BB6A"/>
                </a:solidFill>
                <a:latin typeface="맑은 고딕"/>
                <a:ea typeface="맑은 고딕"/>
              </a:rPr>
              <a:t>1. 전처리</a:t>
            </a:r>
          </a:p>
        </p:txBody>
      </p:sp>
      <p:sp>
        <p:nvSpPr>
          <p:cNvPr id="119" name="TextBox119"/>
          <p:cNvSpPr/>
          <p:nvPr/>
        </p:nvSpPr>
        <p:spPr>
          <a:xfrm xmlns:a="http://schemas.openxmlformats.org/drawingml/2006/main">
            <a:off x="7900000" y="2380000"/>
            <a:ext cx="37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00" b="0" dirty="0">
                <a:solidFill>
                  <a:srgbClr val="B0BEC5"/>
                </a:solidFill>
                <a:latin typeface="맑은 고딕"/>
                <a:ea typeface="맑은 고딕"/>
              </a:rPr>
              <a:t>TextureToTensor()로</a:t>
            </a:r>
          </a:p>
          <a:p xmlns:a="http://schemas.openxmlformats.org/drawingml/2006/main">
            <a:pPr algn="l"/>
            <a:r>
              <a:rPr lang="ko-KR" sz="1000" b="0" dirty="0">
                <a:solidFill>
                  <a:srgbClr val="B0BEC5"/>
                </a:solidFill>
                <a:latin typeface="맑은 고딕"/>
                <a:ea typeface="맑은 고딕"/>
              </a:rPr>
              <a:t>입력 텐서 생성</a:t>
            </a:r>
          </a:p>
        </p:txBody>
      </p:sp>
      <p:sp>
        <p:nvSpPr>
          <p:cNvPr id="120" name="TextBox120"/>
          <p:cNvSpPr/>
          <p:nvPr/>
        </p:nvSpPr>
        <p:spPr>
          <a:xfrm xmlns:a="http://schemas.openxmlformats.org/drawingml/2006/main">
            <a:off x="7900000" y="2800000"/>
            <a:ext cx="3700000" cy="2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1" dirty="0">
                <a:solidFill>
                  <a:srgbClr val="FFA726"/>
                </a:solidFill>
                <a:latin typeface="맑은 고딕"/>
                <a:ea typeface="맑은 고딕"/>
              </a:rPr>
              <a:t>2. 추론</a:t>
            </a:r>
          </a:p>
        </p:txBody>
      </p:sp>
      <p:sp>
        <p:nvSpPr>
          <p:cNvPr id="121" name="TextBox121"/>
          <p:cNvSpPr/>
          <p:nvPr/>
        </p:nvSpPr>
        <p:spPr>
          <a:xfrm xmlns:a="http://schemas.openxmlformats.org/drawingml/2006/main">
            <a:off x="7900000" y="3080000"/>
            <a:ext cx="37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00" b="0" dirty="0">
                <a:solidFill>
                  <a:srgbClr val="B0BEC5"/>
                </a:solidFill>
                <a:latin typeface="맑은 고딕"/>
                <a:ea typeface="맑은 고딕"/>
              </a:rPr>
              <a:t>Worker.Schedule()로</a:t>
            </a:r>
          </a:p>
          <a:p xmlns:a="http://schemas.openxmlformats.org/drawingml/2006/main">
            <a:pPr algn="l"/>
            <a:r>
              <a:rPr lang="ko-KR" sz="1000" b="0" dirty="0">
                <a:solidFill>
                  <a:srgbClr val="B0BEC5"/>
                </a:solidFill>
                <a:latin typeface="맑은 고딕"/>
                <a:ea typeface="맑은 고딕"/>
              </a:rPr>
              <a:t>GPU 추론 실행</a:t>
            </a:r>
          </a:p>
        </p:txBody>
      </p:sp>
      <p:sp>
        <p:nvSpPr>
          <p:cNvPr id="122" name="TextBox122"/>
          <p:cNvSpPr/>
          <p:nvPr/>
        </p:nvSpPr>
        <p:spPr>
          <a:xfrm xmlns:a="http://schemas.openxmlformats.org/drawingml/2006/main">
            <a:off x="7900000" y="3500000"/>
            <a:ext cx="3700000" cy="2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1" dirty="0">
                <a:solidFill>
                  <a:srgbClr val="FFEE58"/>
                </a:solidFill>
                <a:latin typeface="맑은 고딕"/>
                <a:ea typeface="맑은 고딕"/>
              </a:rPr>
              <a:t>3. 결과 읽기</a:t>
            </a:r>
          </a:p>
        </p:txBody>
      </p:sp>
      <p:sp>
        <p:nvSpPr>
          <p:cNvPr id="123" name="TextBox123"/>
          <p:cNvSpPr/>
          <p:nvPr/>
        </p:nvSpPr>
        <p:spPr>
          <a:xfrm xmlns:a="http://schemas.openxmlformats.org/drawingml/2006/main">
            <a:off x="7900000" y="3780000"/>
            <a:ext cx="37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00" b="0" dirty="0">
                <a:solidFill>
                  <a:srgbClr val="B0BEC5"/>
                </a:solidFill>
                <a:latin typeface="맑은 고딕"/>
                <a:ea typeface="맑은 고딕"/>
              </a:rPr>
              <a:t>PeekOutput() →</a:t>
            </a:r>
          </a:p>
          <a:p xmlns:a="http://schemas.openxmlformats.org/drawingml/2006/main">
            <a:pPr algn="l"/>
            <a:r>
              <a:rPr lang="ko-KR" sz="1000" b="0" dirty="0">
                <a:solidFill>
                  <a:srgbClr val="B0BEC5"/>
                </a:solidFill>
                <a:latin typeface="맑은 고딕"/>
                <a:ea typeface="맑은 고딕"/>
              </a:rPr>
              <a:t>ReadbackAndClone()</a:t>
            </a:r>
          </a:p>
        </p:txBody>
      </p:sp>
      <p:sp>
        <p:nvSpPr>
          <p:cNvPr id="124" name="TextBox124"/>
          <p:cNvSpPr/>
          <p:nvPr/>
        </p:nvSpPr>
        <p:spPr>
          <a:xfrm xmlns:a="http://schemas.openxmlformats.org/drawingml/2006/main">
            <a:off x="7900000" y="4200000"/>
            <a:ext cx="3700000" cy="2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1" dirty="0">
                <a:solidFill>
                  <a:srgbClr val="4FC3F7"/>
                </a:solidFill>
                <a:latin typeface="맑은 고딕"/>
                <a:ea typeface="맑은 고딕"/>
              </a:rPr>
              <a:t>4. 후처리</a:t>
            </a:r>
          </a:p>
        </p:txBody>
      </p:sp>
      <p:sp>
        <p:nvSpPr>
          <p:cNvPr id="125" name="TextBox125"/>
          <p:cNvSpPr/>
          <p:nvPr/>
        </p:nvSpPr>
        <p:spPr>
          <a:xfrm xmlns:a="http://schemas.openxmlformats.org/drawingml/2006/main">
            <a:off x="7900000" y="4480000"/>
            <a:ext cx="37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00" b="0" dirty="0">
                <a:solidFill>
                  <a:srgbClr val="B0BEC5"/>
                </a:solidFill>
                <a:latin typeface="맑은 고딕"/>
                <a:ea typeface="맑은 고딕"/>
              </a:rPr>
              <a:t>ProcessOutput()로</a:t>
            </a:r>
          </a:p>
          <a:p xmlns:a="http://schemas.openxmlformats.org/drawingml/2006/main">
            <a:pPr algn="l"/>
            <a:r>
              <a:rPr lang="ko-KR" sz="1000" b="0" dirty="0">
                <a:solidFill>
                  <a:srgbClr val="B0BEC5"/>
                </a:solidFill>
                <a:latin typeface="맑은 고딕"/>
                <a:ea typeface="맑은 고딕"/>
              </a:rPr>
              <a:t>DetectionResult[] 변환</a:t>
            </a:r>
          </a:p>
        </p:txBody>
      </p:sp>
      <p:sp>
        <p:nvSpPr>
          <p:cNvPr id="126" name="TextBox126"/>
          <p:cNvSpPr/>
          <p:nvPr/>
        </p:nvSpPr>
        <p:spPr>
          <a:xfrm xmlns:a="http://schemas.openxmlformats.org/drawingml/2006/main">
            <a:off x="7900000" y="4900000"/>
            <a:ext cx="3700000" cy="2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1" dirty="0">
                <a:solidFill>
                  <a:srgbClr val="EF5350"/>
                </a:solidFill>
                <a:latin typeface="맑은 고딕"/>
                <a:ea typeface="맑은 고딕"/>
              </a:rPr>
              <a:t>5. 정리</a:t>
            </a:r>
          </a:p>
        </p:txBody>
      </p:sp>
      <p:sp>
        <p:nvSpPr>
          <p:cNvPr id="127" name="TextBox127"/>
          <p:cNvSpPr/>
          <p:nvPr/>
        </p:nvSpPr>
        <p:spPr>
          <a:xfrm xmlns:a="http://schemas.openxmlformats.org/drawingml/2006/main">
            <a:off x="7900000" y="5180000"/>
            <a:ext cx="37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00" b="0" dirty="0">
                <a:solidFill>
                  <a:srgbClr val="B0BEC5"/>
                </a:solidFill>
                <a:latin typeface="맑은 고딕"/>
                <a:ea typeface="맑은 고딕"/>
              </a:rPr>
              <a:t>입력·출력 텐서 Dispose()</a:t>
            </a:r>
          </a:p>
          <a:p xmlns:a="http://schemas.openxmlformats.org/drawingml/2006/main">
            <a:pPr algn="l"/>
            <a:r>
              <a:rPr lang="ko-KR" sz="1000" b="0" dirty="0">
                <a:solidFill>
                  <a:srgbClr val="B0BEC5"/>
                </a:solidFill>
                <a:latin typeface="맑은 고딕"/>
                <a:ea typeface="맑은 고딕"/>
              </a:rPr>
              <a:t>메모리 해제</a:t>
            </a:r>
          </a:p>
        </p:txBody>
      </p:sp>
      <p:sp>
        <p:nvSpPr>
          <p:cNvPr id="128" name="TextBox128"/>
          <p:cNvSpPr/>
          <p:nvPr/>
        </p:nvSpPr>
        <p:spPr>
          <a:xfrm xmlns:a="http://schemas.openxmlformats.org/drawingml/2006/main">
            <a:off x="600000" y="6100000"/>
            <a:ext cx="110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300" b="0" dirty="0">
                <a:solidFill>
                  <a:srgbClr val="B0BEC5"/>
                </a:solidFill>
                <a:latin typeface="맑은 고딕"/>
                <a:ea typeface="맑은 고딕"/>
              </a:rPr>
              <a:t>IDisposable 구현: Worker를 Dispose()하여 GPU 리소스를 명시적으로 해제</a:t>
            </a:r>
          </a:p>
        </p:txBody>
      </p:sp>
    </p:spTree>
  </p:cSld>
  <p:clrMapOvr>
    <a:masterClrMapping xmlns:a="http://schemas.openxmlformats.org/drawingml/2006/main"/>
  </p:clrMapOvr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B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9" name="Rect129"/>
          <p:cNvSpPr/>
          <p:nvPr/>
        </p:nvSpPr>
        <p:spPr>
          <a:xfrm xmlns:a="http://schemas.openxmlformats.org/drawingml/2006/main">
            <a:off x="0" y="0"/>
            <a:ext cx="12192000" cy="12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30" name="Rect130"/>
          <p:cNvSpPr/>
          <p:nvPr/>
        </p:nvSpPr>
        <p:spPr>
          <a:xfrm xmlns:a="http://schemas.openxmlformats.org/drawingml/2006/main">
            <a:off x="0" y="1150000"/>
            <a:ext cx="12192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31" name="TextBox131"/>
          <p:cNvSpPr/>
          <p:nvPr/>
        </p:nvSpPr>
        <p:spPr>
          <a:xfrm xmlns:a="http://schemas.openxmlformats.org/drawingml/2006/main">
            <a:off x="600000" y="200000"/>
            <a:ext cx="10992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800" b="1" dirty="0">
                <a:solidFill>
                  <a:srgbClr val="FFFFFF"/>
                </a:solidFill>
                <a:latin typeface="맑은 고딕"/>
                <a:ea typeface="맑은 고딕"/>
              </a:rPr>
              <a:t>5. DetectionPostprocessor (후처리)</a:t>
            </a:r>
          </a:p>
        </p:txBody>
      </p:sp>
      <p:sp>
        <p:nvSpPr>
          <p:cNvPr id="132" name="RoundRect132"/>
          <p:cNvSpPr/>
          <p:nvPr/>
        </p:nvSpPr>
        <p:spPr>
          <a:xfrm xmlns:a="http://schemas.openxmlformats.org/drawingml/2006/main">
            <a:off x="600000" y="1450000"/>
            <a:ext cx="10900000" cy="7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33" name="TextBox133"/>
          <p:cNvSpPr/>
          <p:nvPr/>
        </p:nvSpPr>
        <p:spPr>
          <a:xfrm xmlns:a="http://schemas.openxmlformats.org/drawingml/2006/main">
            <a:off x="800000" y="1500000"/>
            <a:ext cx="105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700" b="1" dirty="0">
                <a:solidFill>
                  <a:srgbClr val="4FC3F7"/>
                </a:solidFill>
                <a:latin typeface="맑은 고딕"/>
                <a:ea typeface="맑은 고딕"/>
              </a:rPr>
              <a:t>YOLOv8 출력 텐서를 DetectionResult 배열로 변환</a:t>
            </a:r>
          </a:p>
        </p:txBody>
      </p:sp>
      <p:sp>
        <p:nvSpPr>
          <p:cNvPr id="134" name="TextBox134"/>
          <p:cNvSpPr/>
          <p:nvPr/>
        </p:nvSpPr>
        <p:spPr>
          <a:xfrm xmlns:a="http://schemas.openxmlformats.org/drawingml/2006/main">
            <a:off x="800000" y="1800000"/>
            <a:ext cx="105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400" b="0" dirty="0">
                <a:solidFill>
                  <a:srgbClr val="FFFFFF"/>
                </a:solidFill>
                <a:latin typeface="맑은 고딕"/>
                <a:ea typeface="맑은 고딕"/>
              </a:rPr>
              <a:t>출력 형상: [1, numClasses + 4, numBoxes] — 앞 4행은 바운딩 박스, 나머지는 클래스 점수</a:t>
            </a:r>
          </a:p>
        </p:txBody>
      </p:sp>
      <p:sp>
        <p:nvSpPr>
          <p:cNvPr id="135" name="RoundRect135"/>
          <p:cNvSpPr/>
          <p:nvPr/>
        </p:nvSpPr>
        <p:spPr>
          <a:xfrm xmlns:a="http://schemas.openxmlformats.org/drawingml/2006/main">
            <a:off x="600000" y="2400000"/>
            <a:ext cx="6200000" cy="34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36" name="Rect136"/>
          <p:cNvSpPr/>
          <p:nvPr/>
        </p:nvSpPr>
        <p:spPr>
          <a:xfrm xmlns:a="http://schemas.openxmlformats.org/drawingml/2006/main">
            <a:off x="600000" y="2400000"/>
            <a:ext cx="578000" cy="57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37" name="Code137"/>
          <p:cNvSpPr/>
          <p:nvPr/>
        </p:nvSpPr>
        <p:spPr>
          <a:xfrm xmlns:a="http://schemas.openxmlformats.org/drawingml/2006/main">
            <a:off x="600000" y="2400000"/>
            <a:ext cx="6200000" cy="3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00000" tIns="200000" rIns="200000" bIns="200000" anchor="t"/>
          <a:lstStyle xmlns:a="http://schemas.openxmlformats.org/drawingml/2006/main"/>
          <a:p xmlns:a="http://schemas.openxmlformats.org/drawingml/2006/main">
            <a:pPr algn="l"/>
            <a:r>
              <a:rPr lang="ko-KR" sz="1100" b="0" dirty="0">
                <a:solidFill>
                  <a:srgbClr val="608B4E"/>
                </a:solidFill>
                <a:latin typeface="Consolas"/>
                <a:ea typeface="맑은 고딕"/>
              </a:rPr>
              <a:t>// YOLOv8 출력 해석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for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(</a:t>
            </a:r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int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i = </a:t>
            </a:r>
            <a:r>
              <a:rPr lang="ko-KR" sz="1100" b="0" dirty="0">
                <a:solidFill>
                  <a:srgbClr val="B5CEA8"/>
                </a:solidFill>
                <a:latin typeface="Consolas"/>
                <a:ea typeface="맑은 고딕"/>
              </a:rPr>
              <a:t>0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; i &lt; numPredictions; i++)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{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100" b="0" dirty="0">
                <a:solidFill>
                  <a:srgbClr val="608B4E"/>
                </a:solidFill>
                <a:latin typeface="Consolas"/>
                <a:ea typeface="맑은 고딕"/>
              </a:rPr>
              <a:t>// 가장 높은 클래스 점수 찾기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for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(</a:t>
            </a:r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int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c = </a:t>
            </a:r>
            <a:r>
              <a:rPr lang="ko-KR" sz="1100" b="0" dirty="0">
                <a:solidFill>
                  <a:srgbClr val="B5CEA8"/>
                </a:solidFill>
                <a:latin typeface="Consolas"/>
                <a:ea typeface="맑은 고딕"/>
              </a:rPr>
              <a:t>0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; c &lt; numClasses; c++)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   {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       </a:t>
            </a:r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float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score = output[</a:t>
            </a:r>
            <a:r>
              <a:rPr lang="ko-KR" sz="1100" b="0" dirty="0">
                <a:solidFill>
                  <a:srgbClr val="B5CEA8"/>
                </a:solidFill>
                <a:latin typeface="Consolas"/>
                <a:ea typeface="맑은 고딕"/>
              </a:rPr>
              <a:t>0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, </a:t>
            </a:r>
            <a:r>
              <a:rPr lang="ko-KR" sz="1100" b="0" dirty="0">
                <a:solidFill>
                  <a:srgbClr val="B5CEA8"/>
                </a:solidFill>
                <a:latin typeface="Consolas"/>
                <a:ea typeface="맑은 고딕"/>
              </a:rPr>
              <a:t>4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+ c, i];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       </a:t>
            </a:r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if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(score &gt; maxScore) { ... }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   }</a:t>
            </a:r>
          </a:p>
          <a:p xmlns:a="http://schemas.openxmlformats.org/drawingml/2006/main">
            <a:pPr algn="l"/>
            <a:endParaRPr lang="ko-KR" sz="1100" dirty="0">
              <a:latin typeface="Consolas"/>
              <a:ea typeface="맑은 고딕"/>
            </a:endParaRP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if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(maxScore &lt; ConfidenceThreshold)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       </a:t>
            </a:r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continue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;  </a:t>
            </a:r>
            <a:r>
              <a:rPr lang="ko-KR" sz="1100" b="0" dirty="0">
                <a:solidFill>
                  <a:srgbClr val="608B4E"/>
                </a:solidFill>
                <a:latin typeface="Consolas"/>
                <a:ea typeface="맑은 고딕"/>
              </a:rPr>
              <a:t>// 0.5 미만 무시</a:t>
            </a:r>
          </a:p>
          <a:p xmlns:a="http://schemas.openxmlformats.org/drawingml/2006/main">
            <a:pPr algn="l"/>
            <a:endParaRPr lang="ko-KR" sz="1100" dirty="0">
              <a:latin typeface="Consolas"/>
              <a:ea typeface="맑은 고딕"/>
            </a:endParaRP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100" b="0" dirty="0">
                <a:solidFill>
                  <a:srgbClr val="608B4E"/>
                </a:solidFill>
                <a:latin typeface="Consolas"/>
                <a:ea typeface="맑은 고딕"/>
              </a:rPr>
              <a:t>// 바운딩 박스: 중심 좌표 → 좌상단 좌표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float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x = (cx - w/</a:t>
            </a:r>
            <a:r>
              <a:rPr lang="ko-KR" sz="1100" b="0" dirty="0">
                <a:solidFill>
                  <a:srgbClr val="B5CEA8"/>
                </a:solidFill>
                <a:latin typeface="Consolas"/>
                <a:ea typeface="맑은 고딕"/>
              </a:rPr>
              <a:t>2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) / YoloInputSize;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float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y = (cy - h/</a:t>
            </a:r>
            <a:r>
              <a:rPr lang="ko-KR" sz="1100" b="0" dirty="0">
                <a:solidFill>
                  <a:srgbClr val="B5CEA8"/>
                </a:solidFill>
                <a:latin typeface="Consolas"/>
                <a:ea typeface="맑은 고딕"/>
              </a:rPr>
              <a:t>2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) / YoloInputSize;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100" b="0" dirty="0">
                <a:solidFill>
                  <a:srgbClr val="608B4E"/>
                </a:solidFill>
                <a:latin typeface="Consolas"/>
                <a:ea typeface="맑은 고딕"/>
              </a:rPr>
              <a:t>// → 0~1 정규화 좌표로 변환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}</a:t>
            </a:r>
          </a:p>
        </p:txBody>
      </p:sp>
      <p:sp>
        <p:nvSpPr>
          <p:cNvPr id="138" name="RoundRect138"/>
          <p:cNvSpPr/>
          <p:nvPr/>
        </p:nvSpPr>
        <p:spPr>
          <a:xfrm xmlns:a="http://schemas.openxmlformats.org/drawingml/2006/main">
            <a:off x="7100000" y="2400000"/>
            <a:ext cx="4700000" cy="34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39" name="Rect139"/>
          <p:cNvSpPr/>
          <p:nvPr/>
        </p:nvSpPr>
        <p:spPr>
          <a:xfrm xmlns:a="http://schemas.openxmlformats.org/drawingml/2006/main">
            <a:off x="7100000" y="2400000"/>
            <a:ext cx="578000" cy="57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40" name="TextBox140"/>
          <p:cNvSpPr/>
          <p:nvPr/>
        </p:nvSpPr>
        <p:spPr>
          <a:xfrm xmlns:a="http://schemas.openxmlformats.org/drawingml/2006/main">
            <a:off x="7300000" y="2500000"/>
            <a:ext cx="43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600" b="1" dirty="0">
                <a:solidFill>
                  <a:srgbClr val="66BB6A"/>
                </a:solidFill>
                <a:latin typeface="맑은 고딕"/>
                <a:ea typeface="맑은 고딕"/>
              </a:rPr>
              <a:t>클래스 매핑</a:t>
            </a:r>
          </a:p>
        </p:txBody>
      </p:sp>
      <p:sp>
        <p:nvSpPr>
          <p:cNvPr id="141" name="TextBox141"/>
          <p:cNvSpPr/>
          <p:nvPr/>
        </p:nvSpPr>
        <p:spPr>
          <a:xfrm xmlns:a="http://schemas.openxmlformats.org/drawingml/2006/main">
            <a:off x="7300000" y="3100000"/>
            <a:ext cx="43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400" b="0" dirty="0">
                <a:solidFill>
                  <a:srgbClr val="4FC3F7"/>
                </a:solidFill>
                <a:latin typeface="맑은 고딕"/>
                <a:ea typeface="맑은 고딕"/>
              </a:rPr>
              <a:t>●  0: Apple</a:t>
            </a:r>
          </a:p>
        </p:txBody>
      </p:sp>
      <p:sp>
        <p:nvSpPr>
          <p:cNvPr id="142" name="TextBox142"/>
          <p:cNvSpPr/>
          <p:nvPr/>
        </p:nvSpPr>
        <p:spPr>
          <a:xfrm xmlns:a="http://schemas.openxmlformats.org/drawingml/2006/main">
            <a:off x="7300000" y="3500000"/>
            <a:ext cx="43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400" b="0" dirty="0">
                <a:solidFill>
                  <a:srgbClr val="FFEE58"/>
                </a:solidFill>
                <a:latin typeface="맑은 고딕"/>
                <a:ea typeface="맑은 고딕"/>
              </a:rPr>
              <a:t>●  1: Banana</a:t>
            </a:r>
          </a:p>
        </p:txBody>
      </p:sp>
      <p:sp>
        <p:nvSpPr>
          <p:cNvPr id="143" name="TextBox143"/>
          <p:cNvSpPr/>
          <p:nvPr/>
        </p:nvSpPr>
        <p:spPr>
          <a:xfrm xmlns:a="http://schemas.openxmlformats.org/drawingml/2006/main">
            <a:off x="7300000" y="3900000"/>
            <a:ext cx="43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400" b="0" dirty="0">
                <a:solidFill>
                  <a:srgbClr val="FFA726"/>
                </a:solidFill>
                <a:latin typeface="맑은 고딕"/>
                <a:ea typeface="맑은 고딕"/>
              </a:rPr>
              <a:t>●  2: Orange</a:t>
            </a:r>
          </a:p>
        </p:txBody>
      </p:sp>
      <p:sp>
        <p:nvSpPr>
          <p:cNvPr id="144" name="TextBox144"/>
          <p:cNvSpPr/>
          <p:nvPr/>
        </p:nvSpPr>
        <p:spPr>
          <a:xfrm xmlns:a="http://schemas.openxmlformats.org/drawingml/2006/main">
            <a:off x="7300000" y="4300000"/>
            <a:ext cx="43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400" b="0" dirty="0">
                <a:solidFill>
                  <a:srgbClr val="66BB6A"/>
                </a:solidFill>
                <a:latin typeface="맑은 고딕"/>
                <a:ea typeface="맑은 고딕"/>
              </a:rPr>
              <a:t>●  3: Grape</a:t>
            </a:r>
          </a:p>
        </p:txBody>
      </p:sp>
      <p:sp>
        <p:nvSpPr>
          <p:cNvPr id="145" name="TextBox145"/>
          <p:cNvSpPr/>
          <p:nvPr/>
        </p:nvSpPr>
        <p:spPr>
          <a:xfrm xmlns:a="http://schemas.openxmlformats.org/drawingml/2006/main">
            <a:off x="7300000" y="4700000"/>
            <a:ext cx="43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400" b="0" dirty="0">
                <a:solidFill>
                  <a:srgbClr val="EF5350"/>
                </a:solidFill>
                <a:latin typeface="맑은 고딕"/>
                <a:ea typeface="맑은 고딕"/>
              </a:rPr>
              <a:t>●  4: Strawberry</a:t>
            </a:r>
          </a:p>
        </p:txBody>
      </p:sp>
      <p:sp>
        <p:nvSpPr>
          <p:cNvPr id="146" name="TextBox146"/>
          <p:cNvSpPr/>
          <p:nvPr/>
        </p:nvSpPr>
        <p:spPr>
          <a:xfrm xmlns:a="http://schemas.openxmlformats.org/drawingml/2006/main">
            <a:off x="7300000" y="5200000"/>
            <a:ext cx="43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0" dirty="0">
                <a:solidFill>
                  <a:srgbClr val="B0BEC5"/>
                </a:solidFill>
                <a:latin typeface="맑은 고딕"/>
                <a:ea typeface="맑은 고딕"/>
              </a:rPr>
              <a:t>바운딩 박스 좌표를 0~1 범위로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B0BEC5"/>
                </a:solidFill>
                <a:latin typeface="맑은 고딕"/>
                <a:ea typeface="맑은 고딕"/>
              </a:rPr>
              <a:t>정규화하여 해상도에 독립적으로 사용</a:t>
            </a:r>
          </a:p>
        </p:txBody>
      </p:sp>
      <p:sp>
        <p:nvSpPr>
          <p:cNvPr id="147" name="TextBox147"/>
          <p:cNvSpPr/>
          <p:nvPr/>
        </p:nvSpPr>
        <p:spPr>
          <a:xfrm xmlns:a="http://schemas.openxmlformats.org/drawingml/2006/main">
            <a:off x="600000" y="6100000"/>
            <a:ext cx="109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300" b="0" dirty="0">
                <a:solidFill>
                  <a:srgbClr val="B0BEC5"/>
                </a:solidFill>
                <a:latin typeface="맑은 고딕"/>
                <a:ea typeface="맑은 고딕"/>
              </a:rPr>
              <a:t>ConfidenceThreshold = 0.5f → 50% 미만 탐지 결과는 오탐으로 판단하여 무시</a:t>
            </a:r>
          </a:p>
        </p:txBody>
      </p:sp>
    </p:spTree>
  </p:cSld>
  <p:clrMapOvr>
    <a:masterClrMapping xmlns:a="http://schemas.openxmlformats.org/drawingml/2006/main"/>
  </p:clrMapOvr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B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8" name="Rect148"/>
          <p:cNvSpPr/>
          <p:nvPr/>
        </p:nvSpPr>
        <p:spPr>
          <a:xfrm xmlns:a="http://schemas.openxmlformats.org/drawingml/2006/main">
            <a:off x="0" y="0"/>
            <a:ext cx="12192000" cy="12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49" name="Rect149"/>
          <p:cNvSpPr/>
          <p:nvPr/>
        </p:nvSpPr>
        <p:spPr>
          <a:xfrm xmlns:a="http://schemas.openxmlformats.org/drawingml/2006/main">
            <a:off x="0" y="1150000"/>
            <a:ext cx="12192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50" name="TextBox150"/>
          <p:cNvSpPr/>
          <p:nvPr/>
        </p:nvSpPr>
        <p:spPr>
          <a:xfrm xmlns:a="http://schemas.openxmlformats.org/drawingml/2006/main">
            <a:off x="600000" y="200000"/>
            <a:ext cx="10992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800" b="1" dirty="0">
                <a:solidFill>
                  <a:srgbClr val="FFFFFF"/>
                </a:solidFill>
                <a:latin typeface="맑은 고딕"/>
                <a:ea typeface="맑은 고딕"/>
              </a:rPr>
              <a:t>6. Non-Maximum Suppression (NMS)</a:t>
            </a:r>
          </a:p>
        </p:txBody>
      </p:sp>
      <p:sp>
        <p:nvSpPr>
          <p:cNvPr id="151" name="RoundRect151"/>
          <p:cNvSpPr/>
          <p:nvPr/>
        </p:nvSpPr>
        <p:spPr>
          <a:xfrm xmlns:a="http://schemas.openxmlformats.org/drawingml/2006/main">
            <a:off x="600000" y="1450000"/>
            <a:ext cx="10900000" cy="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52" name="TextBox152"/>
          <p:cNvSpPr/>
          <p:nvPr/>
        </p:nvSpPr>
        <p:spPr>
          <a:xfrm xmlns:a="http://schemas.openxmlformats.org/drawingml/2006/main">
            <a:off x="800000" y="1500000"/>
            <a:ext cx="105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700" b="1" dirty="0">
                <a:solidFill>
                  <a:srgbClr val="4FC3F7"/>
                </a:solidFill>
                <a:latin typeface="맑은 고딕"/>
                <a:ea typeface="맑은 고딕"/>
              </a:rPr>
              <a:t>NMS = 겹치는 바운딩 박스 중 가장 높은 신뢰도만 남기는 필터링 알고리즘</a:t>
            </a:r>
          </a:p>
        </p:txBody>
      </p:sp>
      <p:sp>
        <p:nvSpPr>
          <p:cNvPr id="153" name="TextBox153"/>
          <p:cNvSpPr/>
          <p:nvPr/>
        </p:nvSpPr>
        <p:spPr>
          <a:xfrm xmlns:a="http://schemas.openxmlformats.org/drawingml/2006/main">
            <a:off x="800000" y="1850000"/>
            <a:ext cx="105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400" b="0" dirty="0">
                <a:solidFill>
                  <a:srgbClr val="FFFFFF"/>
                </a:solidFill>
                <a:latin typeface="맑은 고딕"/>
                <a:ea typeface="맑은 고딕"/>
              </a:rPr>
              <a:t>하나의 과일에 여러 박스가 탐지되는 문제를 해결</a:t>
            </a:r>
          </a:p>
        </p:txBody>
      </p:sp>
      <p:sp>
        <p:nvSpPr>
          <p:cNvPr id="154" name="RoundRect154"/>
          <p:cNvSpPr/>
          <p:nvPr/>
        </p:nvSpPr>
        <p:spPr>
          <a:xfrm xmlns:a="http://schemas.openxmlformats.org/drawingml/2006/main">
            <a:off x="600000" y="2500000"/>
            <a:ext cx="6200000" cy="2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55" name="Rect155"/>
          <p:cNvSpPr/>
          <p:nvPr/>
        </p:nvSpPr>
        <p:spPr>
          <a:xfrm xmlns:a="http://schemas.openxmlformats.org/drawingml/2006/main">
            <a:off x="600000" y="2500000"/>
            <a:ext cx="476000" cy="47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56" name="Code156"/>
          <p:cNvSpPr/>
          <p:nvPr/>
        </p:nvSpPr>
        <p:spPr>
          <a:xfrm xmlns:a="http://schemas.openxmlformats.org/drawingml/2006/main">
            <a:off x="600000" y="2500000"/>
            <a:ext cx="6200000" cy="2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00000" tIns="200000" rIns="200000" bIns="200000" anchor="t"/>
          <a:lstStyle xmlns:a="http://schemas.openxmlformats.org/drawingml/2006/main"/>
          <a:p xmlns:a="http://schemas.openxmlformats.org/drawingml/2006/main">
            <a:pPr algn="l"/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static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DetectionResult[] ApplyNMS(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100" b="0" dirty="0">
                <a:solidFill>
                  <a:srgbClr val="4EC9B0"/>
                </a:solidFill>
                <a:latin typeface="Consolas"/>
                <a:ea typeface="맑은 고딕"/>
              </a:rPr>
              <a:t>List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&lt;DetectionResult&gt; detections,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float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iouThreshold = </a:t>
            </a:r>
            <a:r>
              <a:rPr lang="ko-KR" sz="1100" b="0" dirty="0">
                <a:solidFill>
                  <a:srgbClr val="B5CEA8"/>
                </a:solidFill>
                <a:latin typeface="Consolas"/>
                <a:ea typeface="맑은 고딕"/>
              </a:rPr>
              <a:t>0.45f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)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{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100" b="0" dirty="0">
                <a:solidFill>
                  <a:srgbClr val="608B4E"/>
                </a:solidFill>
                <a:latin typeface="Consolas"/>
                <a:ea typeface="맑은 고딕"/>
              </a:rPr>
              <a:t>// 1. 신뢰도 내림차순 정렬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   detections.Sort((a, b) =&gt;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       b.Confidence.CompareTo(a.Confidence));</a:t>
            </a:r>
          </a:p>
          <a:p xmlns:a="http://schemas.openxmlformats.org/drawingml/2006/main">
            <a:pPr algn="l"/>
            <a:endParaRPr lang="ko-KR" sz="1100" dirty="0">
              <a:latin typeface="Consolas"/>
              <a:ea typeface="맑은 고딕"/>
            </a:endParaRP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foreach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(</a:t>
            </a:r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var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detection </a:t>
            </a:r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in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detections)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   {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       </a:t>
            </a:r>
            <a:r>
              <a:rPr lang="ko-KR" sz="1100" b="0" dirty="0">
                <a:solidFill>
                  <a:srgbClr val="608B4E"/>
                </a:solidFill>
                <a:latin typeface="Consolas"/>
                <a:ea typeface="맑은 고딕"/>
              </a:rPr>
              <a:t>// 2. 이미 선택된 박스와 IoU 계산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       </a:t>
            </a:r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if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(IoU(detection, kept) &gt; iouThreshold)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           discard = </a:t>
            </a:r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true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;  </a:t>
            </a:r>
            <a:r>
              <a:rPr lang="ko-KR" sz="1100" b="0" dirty="0">
                <a:solidFill>
                  <a:srgbClr val="608B4E"/>
                </a:solidFill>
                <a:latin typeface="Consolas"/>
                <a:ea typeface="맑은 고딕"/>
              </a:rPr>
              <a:t>// 겹침 → 제거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       </a:t>
            </a:r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else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           kept.Add(detection);  </a:t>
            </a:r>
            <a:r>
              <a:rPr lang="ko-KR" sz="1100" b="0" dirty="0">
                <a:solidFill>
                  <a:srgbClr val="608B4E"/>
                </a:solidFill>
                <a:latin typeface="Consolas"/>
                <a:ea typeface="맑은 고딕"/>
              </a:rPr>
              <a:t>// 유지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   }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}</a:t>
            </a:r>
          </a:p>
        </p:txBody>
      </p:sp>
      <p:sp>
        <p:nvSpPr>
          <p:cNvPr id="157" name="RoundRect157"/>
          <p:cNvSpPr/>
          <p:nvPr/>
        </p:nvSpPr>
        <p:spPr>
          <a:xfrm xmlns:a="http://schemas.openxmlformats.org/drawingml/2006/main">
            <a:off x="7100000" y="2500000"/>
            <a:ext cx="4700000" cy="2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58" name="Rect158"/>
          <p:cNvSpPr/>
          <p:nvPr/>
        </p:nvSpPr>
        <p:spPr>
          <a:xfrm xmlns:a="http://schemas.openxmlformats.org/drawingml/2006/main">
            <a:off x="7100000" y="2500000"/>
            <a:ext cx="476000" cy="47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59" name="TextBox159"/>
          <p:cNvSpPr/>
          <p:nvPr/>
        </p:nvSpPr>
        <p:spPr>
          <a:xfrm xmlns:a="http://schemas.openxmlformats.org/drawingml/2006/main">
            <a:off x="7300000" y="2600000"/>
            <a:ext cx="43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500" b="1" dirty="0">
                <a:solidFill>
                  <a:srgbClr val="FFA726"/>
                </a:solidFill>
                <a:latin typeface="맑은 고딕"/>
                <a:ea typeface="맑은 고딕"/>
              </a:rPr>
              <a:t>IoU (Intersection over Union)</a:t>
            </a:r>
          </a:p>
        </p:txBody>
      </p:sp>
      <p:sp>
        <p:nvSpPr>
          <p:cNvPr id="160" name="TextBox160"/>
          <p:cNvSpPr/>
          <p:nvPr/>
        </p:nvSpPr>
        <p:spPr>
          <a:xfrm xmlns:a="http://schemas.openxmlformats.org/drawingml/2006/main">
            <a:off x="7300000" y="3100000"/>
            <a:ext cx="43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300" b="0" dirty="0">
                <a:solidFill>
                  <a:srgbClr val="FFFFFF"/>
                </a:solidFill>
                <a:latin typeface="맑은 고딕"/>
                <a:ea typeface="맑은 고딕"/>
              </a:rPr>
              <a:t>IoU = 교집합 넓이 / 합집합 넓이</a:t>
            </a:r>
          </a:p>
          <a:p xmlns:a="http://schemas.openxmlformats.org/drawingml/2006/main">
            <a:pPr algn="l"/>
            <a:r>
              <a:rPr lang="ko-KR" sz="1300" b="0" dirty="0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  <a:p xmlns:a="http://schemas.openxmlformats.org/drawingml/2006/main">
            <a:pPr algn="l"/>
            <a:r>
              <a:rPr lang="ko-KR" sz="1300" b="0" dirty="0">
                <a:solidFill>
                  <a:srgbClr val="FFFFFF"/>
                </a:solidFill>
                <a:latin typeface="맑은 고딕"/>
                <a:ea typeface="맑은 고딕"/>
              </a:rPr>
              <a:t>두 박스가 얼마나 겹치는지 0~1로 측정</a:t>
            </a:r>
          </a:p>
          <a:p xmlns:a="http://schemas.openxmlformats.org/drawingml/2006/main">
            <a:pPr algn="l"/>
            <a:r>
              <a:rPr lang="ko-KR" sz="1300" b="0" dirty="0">
                <a:solidFill>
                  <a:srgbClr val="FFFFFF"/>
                </a:solidFill>
                <a:latin typeface="맑은 고딕"/>
                <a:ea typeface="맑은 고딕"/>
              </a:rPr>
              <a:t>0 = 겹침 없음, 1 = 완전히 동일</a:t>
            </a:r>
          </a:p>
        </p:txBody>
      </p:sp>
      <p:sp>
        <p:nvSpPr>
          <p:cNvPr id="161" name="RoundRect161"/>
          <p:cNvSpPr/>
          <p:nvPr/>
        </p:nvSpPr>
        <p:spPr>
          <a:xfrm xmlns:a="http://schemas.openxmlformats.org/drawingml/2006/main">
            <a:off x="7300000" y="3700000"/>
            <a:ext cx="4300000" cy="12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62" name="Rect162"/>
          <p:cNvSpPr/>
          <p:nvPr/>
        </p:nvSpPr>
        <p:spPr>
          <a:xfrm xmlns:a="http://schemas.openxmlformats.org/drawingml/2006/main">
            <a:off x="7300000" y="3700000"/>
            <a:ext cx="204000" cy="2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63" name="Code163"/>
          <p:cNvSpPr/>
          <p:nvPr/>
        </p:nvSpPr>
        <p:spPr>
          <a:xfrm xmlns:a="http://schemas.openxmlformats.org/drawingml/2006/main">
            <a:off x="7300000" y="3700000"/>
            <a:ext cx="4300000" cy="12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00000" tIns="200000" rIns="200000" bIns="200000" anchor="t"/>
          <a:lstStyle xmlns:a="http://schemas.openxmlformats.org/drawingml/2006/main"/>
          <a:p xmlns:a="http://schemas.openxmlformats.org/drawingml/2006/main">
            <a:pPr algn="l"/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float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intersection =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Max(</a:t>
            </a:r>
            <a:r>
              <a:rPr lang="ko-KR" sz="1050" b="0" dirty="0">
                <a:solidFill>
                  <a:srgbClr val="B5CEA8"/>
                </a:solidFill>
                <a:latin typeface="Consolas"/>
                <a:ea typeface="맑은 고딕"/>
              </a:rPr>
              <a:t>0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, x2-x1) * Max(</a:t>
            </a:r>
            <a:r>
              <a:rPr lang="ko-KR" sz="1050" b="0" dirty="0">
                <a:solidFill>
                  <a:srgbClr val="B5CEA8"/>
                </a:solidFill>
                <a:latin typeface="Consolas"/>
                <a:ea typeface="맑은 고딕"/>
              </a:rPr>
              <a:t>0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, y2-y1);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float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union =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areaA + areaB - intersection;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return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intersection / union;</a:t>
            </a:r>
          </a:p>
        </p:txBody>
      </p:sp>
      <p:sp>
        <p:nvSpPr>
          <p:cNvPr id="164" name="RoundRect164"/>
          <p:cNvSpPr/>
          <p:nvPr/>
        </p:nvSpPr>
        <p:spPr>
          <a:xfrm xmlns:a="http://schemas.openxmlformats.org/drawingml/2006/main">
            <a:off x="600000" y="5600000"/>
            <a:ext cx="10900000" cy="10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65" name="TextBox165"/>
          <p:cNvSpPr/>
          <p:nvPr/>
        </p:nvSpPr>
        <p:spPr>
          <a:xfrm xmlns:a="http://schemas.openxmlformats.org/drawingml/2006/main">
            <a:off x="800000" y="5650000"/>
            <a:ext cx="105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500" b="1" dirty="0">
                <a:solidFill>
                  <a:srgbClr val="4FC3F7"/>
                </a:solidFill>
                <a:latin typeface="맑은 고딕"/>
                <a:ea typeface="맑은 고딕"/>
              </a:rPr>
              <a:t>NMS 알고리즘 3단계</a:t>
            </a:r>
          </a:p>
        </p:txBody>
      </p:sp>
      <p:sp>
        <p:nvSpPr>
          <p:cNvPr id="166" name="TextBox166"/>
          <p:cNvSpPr/>
          <p:nvPr/>
        </p:nvSpPr>
        <p:spPr>
          <a:xfrm xmlns:a="http://schemas.openxmlformats.org/drawingml/2006/main">
            <a:off x="800000" y="6050000"/>
            <a:ext cx="105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300" b="0" dirty="0">
                <a:solidFill>
                  <a:srgbClr val="FFFFFF"/>
                </a:solidFill>
                <a:latin typeface="맑은 고딕"/>
                <a:ea typeface="맑은 고딕"/>
              </a:rPr>
              <a:t>신뢰도 정렬 → 최고 신뢰도 박스 선택 → IoU &gt; 0.45인 중복 박스 제거 (반복)</a:t>
            </a:r>
          </a:p>
        </p:txBody>
      </p:sp>
    </p:spTree>
  </p:cSld>
  <p:clrMapOvr>
    <a:masterClrMapping xmlns:a="http://schemas.openxmlformats.org/drawingml/2006/main"/>
  </p:clrMapOvr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B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7" name="Rect167"/>
          <p:cNvSpPr/>
          <p:nvPr/>
        </p:nvSpPr>
        <p:spPr>
          <a:xfrm xmlns:a="http://schemas.openxmlformats.org/drawingml/2006/main">
            <a:off x="0" y="0"/>
            <a:ext cx="12192000" cy="12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68" name="Rect168"/>
          <p:cNvSpPr/>
          <p:nvPr/>
        </p:nvSpPr>
        <p:spPr>
          <a:xfrm xmlns:a="http://schemas.openxmlformats.org/drawingml/2006/main">
            <a:off x="0" y="1150000"/>
            <a:ext cx="12192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69" name="TextBox169"/>
          <p:cNvSpPr/>
          <p:nvPr/>
        </p:nvSpPr>
        <p:spPr>
          <a:xfrm xmlns:a="http://schemas.openxmlformats.org/drawingml/2006/main">
            <a:off x="600000" y="200000"/>
            <a:ext cx="10992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800" b="1" dirty="0">
                <a:solidFill>
                  <a:srgbClr val="FFFFFF"/>
                </a:solidFill>
                <a:latin typeface="맑은 고딕"/>
                <a:ea typeface="맑은 고딕"/>
              </a:rPr>
              <a:t>7. MockFruitDetector (테스트용)</a:t>
            </a:r>
          </a:p>
        </p:txBody>
      </p:sp>
      <p:sp>
        <p:nvSpPr>
          <p:cNvPr id="170" name="RoundRect170"/>
          <p:cNvSpPr/>
          <p:nvPr/>
        </p:nvSpPr>
        <p:spPr>
          <a:xfrm xmlns:a="http://schemas.openxmlformats.org/drawingml/2006/main">
            <a:off x="600000" y="1450000"/>
            <a:ext cx="10900000" cy="7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71" name="TextBox171"/>
          <p:cNvSpPr/>
          <p:nvPr/>
        </p:nvSpPr>
        <p:spPr>
          <a:xfrm xmlns:a="http://schemas.openxmlformats.org/drawingml/2006/main">
            <a:off x="800000" y="1500000"/>
            <a:ext cx="105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700" b="1" dirty="0">
                <a:solidFill>
                  <a:srgbClr val="66BB6A"/>
                </a:solidFill>
                <a:latin typeface="맑은 고딕"/>
                <a:ea typeface="맑은 고딕"/>
              </a:rPr>
              <a:t>GPU나 ML 모델 없이 에디터에서 탐지 기능을 테스트할 수 있는 Mock 구현체</a:t>
            </a:r>
          </a:p>
        </p:txBody>
      </p:sp>
      <p:sp>
        <p:nvSpPr>
          <p:cNvPr id="172" name="TextBox172"/>
          <p:cNvSpPr/>
          <p:nvPr/>
        </p:nvSpPr>
        <p:spPr>
          <a:xfrm xmlns:a="http://schemas.openxmlformats.org/drawingml/2006/main">
            <a:off x="800000" y="1800000"/>
            <a:ext cx="105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400" b="0" dirty="0">
                <a:solidFill>
                  <a:srgbClr val="FFFFFF"/>
                </a:solidFill>
                <a:latin typeface="맑은 고딕"/>
                <a:ea typeface="맑은 고딕"/>
              </a:rPr>
              <a:t>IFruitDetector 인터페이스를 구현, ARScope에서 토글로 전환</a:t>
            </a:r>
          </a:p>
        </p:txBody>
      </p:sp>
      <p:sp>
        <p:nvSpPr>
          <p:cNvPr id="173" name="RoundRect173"/>
          <p:cNvSpPr/>
          <p:nvPr/>
        </p:nvSpPr>
        <p:spPr>
          <a:xfrm xmlns:a="http://schemas.openxmlformats.org/drawingml/2006/main">
            <a:off x="600000" y="2400000"/>
            <a:ext cx="6200000" cy="2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74" name="Rect174"/>
          <p:cNvSpPr/>
          <p:nvPr/>
        </p:nvSpPr>
        <p:spPr>
          <a:xfrm xmlns:a="http://schemas.openxmlformats.org/drawingml/2006/main">
            <a:off x="600000" y="2400000"/>
            <a:ext cx="476000" cy="47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75" name="Code175"/>
          <p:cNvSpPr/>
          <p:nvPr/>
        </p:nvSpPr>
        <p:spPr>
          <a:xfrm xmlns:a="http://schemas.openxmlformats.org/drawingml/2006/main">
            <a:off x="600000" y="2400000"/>
            <a:ext cx="6200000" cy="2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00000" tIns="200000" rIns="200000" bIns="200000" anchor="t"/>
          <a:lstStyle xmlns:a="http://schemas.openxmlformats.org/drawingml/2006/main"/>
          <a:p xmlns:a="http://schemas.openxmlformats.org/drawingml/2006/main">
            <a:pPr algn="l"/>
            <a:r>
              <a:rPr lang="ko-KR" sz="1150" b="0" dirty="0">
                <a:solidFill>
                  <a:srgbClr val="569CD6"/>
                </a:solidFill>
                <a:latin typeface="Consolas"/>
                <a:ea typeface="맑은 고딕"/>
              </a:rPr>
              <a:t>public</a:t>
            </a:r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150" b="0" dirty="0">
                <a:solidFill>
                  <a:srgbClr val="569CD6"/>
                </a:solidFill>
                <a:latin typeface="Consolas"/>
                <a:ea typeface="맑은 고딕"/>
              </a:rPr>
              <a:t>class</a:t>
            </a:r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MockFruitDetector : IFruitDetector</a:t>
            </a:r>
          </a:p>
          <a:p xmlns:a="http://schemas.openxmlformats.org/drawingml/2006/main">
            <a:pPr algn="l"/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{</a:t>
            </a:r>
          </a:p>
          <a:p xmlns:a="http://schemas.openxmlformats.org/drawingml/2006/main">
            <a:pPr algn="l"/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150" b="0" dirty="0">
                <a:solidFill>
                  <a:srgbClr val="569CD6"/>
                </a:solidFill>
                <a:latin typeface="Consolas"/>
                <a:ea typeface="맑은 고딕"/>
              </a:rPr>
              <a:t>public</a:t>
            </a:r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150" b="0" dirty="0">
                <a:solidFill>
                  <a:srgbClr val="569CD6"/>
                </a:solidFill>
                <a:latin typeface="Consolas"/>
                <a:ea typeface="맑은 고딕"/>
              </a:rPr>
              <a:t>void</a:t>
            </a:r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Detect(Texture2D image,</a:t>
            </a:r>
          </a:p>
          <a:p xmlns:a="http://schemas.openxmlformats.org/drawingml/2006/main">
            <a:pPr algn="l"/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       </a:t>
            </a:r>
            <a:r>
              <a:rPr lang="ko-KR" sz="1150" b="0" dirty="0">
                <a:solidFill>
                  <a:srgbClr val="4EC9B0"/>
                </a:solidFill>
                <a:latin typeface="Consolas"/>
                <a:ea typeface="맑은 고딕"/>
              </a:rPr>
              <a:t>Action</a:t>
            </a:r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&lt;DetectionResult[]&gt; onComplete)</a:t>
            </a:r>
          </a:p>
          <a:p xmlns:a="http://schemas.openxmlformats.org/drawingml/2006/main">
            <a:pPr algn="l"/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   {</a:t>
            </a:r>
          </a:p>
          <a:p xmlns:a="http://schemas.openxmlformats.org/drawingml/2006/main">
            <a:pPr algn="l"/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       </a:t>
            </a:r>
            <a:r>
              <a:rPr lang="ko-KR" sz="1150" b="0" dirty="0">
                <a:solidFill>
                  <a:srgbClr val="569CD6"/>
                </a:solidFill>
                <a:latin typeface="Consolas"/>
                <a:ea typeface="맑은 고딕"/>
              </a:rPr>
              <a:t>var</a:t>
            </a:r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mockResults = </a:t>
            </a:r>
            <a:r>
              <a:rPr lang="ko-KR" sz="1150" b="0" dirty="0">
                <a:solidFill>
                  <a:srgbClr val="569CD6"/>
                </a:solidFill>
                <a:latin typeface="Consolas"/>
                <a:ea typeface="맑은 고딕"/>
              </a:rPr>
              <a:t>new</a:t>
            </a:r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DetectionResult[]</a:t>
            </a:r>
          </a:p>
          <a:p xmlns:a="http://schemas.openxmlformats.org/drawingml/2006/main">
            <a:pPr algn="l"/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       {</a:t>
            </a:r>
          </a:p>
          <a:p xmlns:a="http://schemas.openxmlformats.org/drawingml/2006/main">
            <a:pPr algn="l"/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           </a:t>
            </a:r>
            <a:r>
              <a:rPr lang="ko-KR" sz="1150" b="0" dirty="0">
                <a:solidFill>
                  <a:srgbClr val="569CD6"/>
                </a:solidFill>
                <a:latin typeface="Consolas"/>
                <a:ea typeface="맑은 고딕"/>
              </a:rPr>
              <a:t>new</a:t>
            </a:r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DetectionResult(</a:t>
            </a:r>
          </a:p>
          <a:p xmlns:a="http://schemas.openxmlformats.org/drawingml/2006/main">
            <a:pPr algn="l"/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               </a:t>
            </a:r>
            <a:r>
              <a:rPr lang="ko-KR" sz="1150" b="0" dirty="0">
                <a:solidFill>
                  <a:srgbClr val="CE9178"/>
                </a:solidFill>
                <a:latin typeface="Consolas"/>
                <a:ea typeface="맑은 고딕"/>
              </a:rPr>
              <a:t>"Apple"</a:t>
            </a:r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,</a:t>
            </a:r>
          </a:p>
          <a:p xmlns:a="http://schemas.openxmlformats.org/drawingml/2006/main">
            <a:pPr algn="l"/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               </a:t>
            </a:r>
            <a:r>
              <a:rPr lang="ko-KR" sz="1150" b="0" dirty="0">
                <a:solidFill>
                  <a:srgbClr val="B5CEA8"/>
                </a:solidFill>
                <a:latin typeface="Consolas"/>
                <a:ea typeface="맑은 고딕"/>
              </a:rPr>
              <a:t>0.95f</a:t>
            </a:r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,</a:t>
            </a:r>
          </a:p>
          <a:p xmlns:a="http://schemas.openxmlformats.org/drawingml/2006/main">
            <a:pPr algn="l"/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               </a:t>
            </a:r>
            <a:r>
              <a:rPr lang="ko-KR" sz="1150" b="0" dirty="0">
                <a:solidFill>
                  <a:srgbClr val="569CD6"/>
                </a:solidFill>
                <a:latin typeface="Consolas"/>
                <a:ea typeface="맑은 고딕"/>
              </a:rPr>
              <a:t>new</a:t>
            </a:r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Rect(</a:t>
            </a:r>
            <a:r>
              <a:rPr lang="ko-KR" sz="1150" b="0" dirty="0">
                <a:solidFill>
                  <a:srgbClr val="B5CEA8"/>
                </a:solidFill>
                <a:latin typeface="Consolas"/>
                <a:ea typeface="맑은 고딕"/>
              </a:rPr>
              <a:t>0.3f</a:t>
            </a:r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, </a:t>
            </a:r>
            <a:r>
              <a:rPr lang="ko-KR" sz="1150" b="0" dirty="0">
                <a:solidFill>
                  <a:srgbClr val="B5CEA8"/>
                </a:solidFill>
                <a:latin typeface="Consolas"/>
                <a:ea typeface="맑은 고딕"/>
              </a:rPr>
              <a:t>0.3f</a:t>
            </a:r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, </a:t>
            </a:r>
            <a:r>
              <a:rPr lang="ko-KR" sz="1150" b="0" dirty="0">
                <a:solidFill>
                  <a:srgbClr val="B5CEA8"/>
                </a:solidFill>
                <a:latin typeface="Consolas"/>
                <a:ea typeface="맑은 고딕"/>
              </a:rPr>
              <a:t>0.4f</a:t>
            </a:r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, </a:t>
            </a:r>
            <a:r>
              <a:rPr lang="ko-KR" sz="1150" b="0" dirty="0">
                <a:solidFill>
                  <a:srgbClr val="B5CEA8"/>
                </a:solidFill>
                <a:latin typeface="Consolas"/>
                <a:ea typeface="맑은 고딕"/>
              </a:rPr>
              <a:t>0.4f</a:t>
            </a:r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),</a:t>
            </a:r>
          </a:p>
          <a:p xmlns:a="http://schemas.openxmlformats.org/drawingml/2006/main">
            <a:pPr algn="l"/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               FruitType.Apple)</a:t>
            </a:r>
          </a:p>
          <a:p xmlns:a="http://schemas.openxmlformats.org/drawingml/2006/main">
            <a:pPr algn="l"/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       };</a:t>
            </a:r>
          </a:p>
          <a:p xmlns:a="http://schemas.openxmlformats.org/drawingml/2006/main">
            <a:pPr algn="l"/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       onComplete?.Invoke(mockResults);</a:t>
            </a:r>
          </a:p>
          <a:p xmlns:a="http://schemas.openxmlformats.org/drawingml/2006/main">
            <a:pPr algn="l"/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   }</a:t>
            </a:r>
          </a:p>
          <a:p xmlns:a="http://schemas.openxmlformats.org/drawingml/2006/main">
            <a:pPr algn="l"/>
            <a:endParaRPr lang="ko-KR" sz="1150" dirty="0">
              <a:latin typeface="Consolas"/>
              <a:ea typeface="맑은 고딕"/>
            </a:endParaRPr>
          </a:p>
          <a:p xmlns:a="http://schemas.openxmlformats.org/drawingml/2006/main">
            <a:pPr algn="l"/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150" b="0" dirty="0">
                <a:solidFill>
                  <a:srgbClr val="569CD6"/>
                </a:solidFill>
                <a:latin typeface="Consolas"/>
                <a:ea typeface="맑은 고딕"/>
              </a:rPr>
              <a:t>public</a:t>
            </a:r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150" b="0" dirty="0">
                <a:solidFill>
                  <a:srgbClr val="569CD6"/>
                </a:solidFill>
                <a:latin typeface="Consolas"/>
                <a:ea typeface="맑은 고딕"/>
              </a:rPr>
              <a:t>void</a:t>
            </a:r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Dispose() { }</a:t>
            </a:r>
          </a:p>
          <a:p xmlns:a="http://schemas.openxmlformats.org/drawingml/2006/main">
            <a:pPr algn="l"/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}</a:t>
            </a:r>
          </a:p>
        </p:txBody>
      </p:sp>
      <p:sp>
        <p:nvSpPr>
          <p:cNvPr id="176" name="RoundRect176"/>
          <p:cNvSpPr/>
          <p:nvPr/>
        </p:nvSpPr>
        <p:spPr>
          <a:xfrm xmlns:a="http://schemas.openxmlformats.org/drawingml/2006/main">
            <a:off x="7100000" y="2400000"/>
            <a:ext cx="4700000" cy="2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77" name="Rect177"/>
          <p:cNvSpPr/>
          <p:nvPr/>
        </p:nvSpPr>
        <p:spPr>
          <a:xfrm xmlns:a="http://schemas.openxmlformats.org/drawingml/2006/main">
            <a:off x="7100000" y="2400000"/>
            <a:ext cx="476000" cy="47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78" name="TextBox178"/>
          <p:cNvSpPr/>
          <p:nvPr/>
        </p:nvSpPr>
        <p:spPr>
          <a:xfrm xmlns:a="http://schemas.openxmlformats.org/drawingml/2006/main">
            <a:off x="7300000" y="2500000"/>
            <a:ext cx="43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500" b="1" dirty="0">
                <a:solidFill>
                  <a:srgbClr val="4FC3F7"/>
                </a:solidFill>
                <a:latin typeface="맑은 고딕"/>
                <a:ea typeface="맑은 고딕"/>
              </a:rPr>
              <a:t>Mock 반환값 분석</a:t>
            </a:r>
          </a:p>
        </p:txBody>
      </p:sp>
      <p:sp>
        <p:nvSpPr>
          <p:cNvPr id="179" name="TextBox179"/>
          <p:cNvSpPr/>
          <p:nvPr/>
        </p:nvSpPr>
        <p:spPr>
          <a:xfrm xmlns:a="http://schemas.openxmlformats.org/drawingml/2006/main">
            <a:off x="7300000" y="3100000"/>
            <a:ext cx="20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300" b="1" dirty="0">
                <a:solidFill>
                  <a:srgbClr val="4FC3F7"/>
                </a:solidFill>
                <a:latin typeface="맑은 고딕"/>
                <a:ea typeface="맑은 고딕"/>
              </a:rPr>
              <a:t>Label</a:t>
            </a:r>
          </a:p>
        </p:txBody>
      </p:sp>
      <p:sp>
        <p:nvSpPr>
          <p:cNvPr id="180" name="TextBox180"/>
          <p:cNvSpPr/>
          <p:nvPr/>
        </p:nvSpPr>
        <p:spPr>
          <a:xfrm xmlns:a="http://schemas.openxmlformats.org/drawingml/2006/main">
            <a:off x="9300000" y="3100000"/>
            <a:ext cx="23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0" dirty="0">
                <a:solidFill>
                  <a:srgbClr val="FFFFFF"/>
                </a:solidFill>
                <a:latin typeface="맑은 고딕"/>
                <a:ea typeface="맑은 고딕"/>
              </a:rPr>
              <a:t>"Apple"</a:t>
            </a:r>
          </a:p>
        </p:txBody>
      </p:sp>
      <p:sp>
        <p:nvSpPr>
          <p:cNvPr id="181" name="TextBox181"/>
          <p:cNvSpPr/>
          <p:nvPr/>
        </p:nvSpPr>
        <p:spPr>
          <a:xfrm xmlns:a="http://schemas.openxmlformats.org/drawingml/2006/main">
            <a:off x="7300000" y="3530000"/>
            <a:ext cx="20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300" b="1" dirty="0">
                <a:solidFill>
                  <a:srgbClr val="66BB6A"/>
                </a:solidFill>
                <a:latin typeface="맑은 고딕"/>
                <a:ea typeface="맑은 고딕"/>
              </a:rPr>
              <a:t>Confidence</a:t>
            </a:r>
          </a:p>
        </p:txBody>
      </p:sp>
      <p:sp>
        <p:nvSpPr>
          <p:cNvPr id="182" name="TextBox182"/>
          <p:cNvSpPr/>
          <p:nvPr/>
        </p:nvSpPr>
        <p:spPr>
          <a:xfrm xmlns:a="http://schemas.openxmlformats.org/drawingml/2006/main">
            <a:off x="9300000" y="3530000"/>
            <a:ext cx="23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0" dirty="0">
                <a:solidFill>
                  <a:srgbClr val="FFFFFF"/>
                </a:solidFill>
                <a:latin typeface="맑은 고딕"/>
                <a:ea typeface="맑은 고딕"/>
              </a:rPr>
              <a:t>0.95 (95%)</a:t>
            </a:r>
          </a:p>
        </p:txBody>
      </p:sp>
      <p:sp>
        <p:nvSpPr>
          <p:cNvPr id="183" name="TextBox183"/>
          <p:cNvSpPr/>
          <p:nvPr/>
        </p:nvSpPr>
        <p:spPr>
          <a:xfrm xmlns:a="http://schemas.openxmlformats.org/drawingml/2006/main">
            <a:off x="7300000" y="3960000"/>
            <a:ext cx="20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300" b="1" dirty="0">
                <a:solidFill>
                  <a:srgbClr val="FFA726"/>
                </a:solidFill>
                <a:latin typeface="맑은 고딕"/>
                <a:ea typeface="맑은 고딕"/>
              </a:rPr>
              <a:t>BoundingBox</a:t>
            </a:r>
          </a:p>
        </p:txBody>
      </p:sp>
      <p:sp>
        <p:nvSpPr>
          <p:cNvPr id="184" name="TextBox184"/>
          <p:cNvSpPr/>
          <p:nvPr/>
        </p:nvSpPr>
        <p:spPr>
          <a:xfrm xmlns:a="http://schemas.openxmlformats.org/drawingml/2006/main">
            <a:off x="9300000" y="3960000"/>
            <a:ext cx="23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0" dirty="0">
                <a:solidFill>
                  <a:srgbClr val="FFFFFF"/>
                </a:solidFill>
                <a:latin typeface="맑은 고딕"/>
                <a:ea typeface="맑은 고딕"/>
              </a:rPr>
              <a:t>화면 중앙 40% 영역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FFFFFF"/>
                </a:solidFill>
                <a:latin typeface="맑은 고딕"/>
                <a:ea typeface="맑은 고딕"/>
              </a:rPr>
              <a:t>(0.3, 0.3, 0.4, 0.4)</a:t>
            </a:r>
          </a:p>
        </p:txBody>
      </p:sp>
      <p:sp>
        <p:nvSpPr>
          <p:cNvPr id="185" name="TextBox185"/>
          <p:cNvSpPr/>
          <p:nvPr/>
        </p:nvSpPr>
        <p:spPr>
          <a:xfrm xmlns:a="http://schemas.openxmlformats.org/drawingml/2006/main">
            <a:off x="7300000" y="4390000"/>
            <a:ext cx="20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300" b="1" dirty="0">
                <a:solidFill>
                  <a:srgbClr val="FFEE58"/>
                </a:solidFill>
                <a:latin typeface="맑은 고딕"/>
                <a:ea typeface="맑은 고딕"/>
              </a:rPr>
              <a:t>FruitType</a:t>
            </a:r>
          </a:p>
        </p:txBody>
      </p:sp>
      <p:sp>
        <p:nvSpPr>
          <p:cNvPr id="186" name="TextBox186"/>
          <p:cNvSpPr/>
          <p:nvPr/>
        </p:nvSpPr>
        <p:spPr>
          <a:xfrm xmlns:a="http://schemas.openxmlformats.org/drawingml/2006/main">
            <a:off x="9300000" y="4390000"/>
            <a:ext cx="23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0" dirty="0">
                <a:solidFill>
                  <a:srgbClr val="FFFFFF"/>
                </a:solidFill>
                <a:latin typeface="맑은 고딕"/>
                <a:ea typeface="맑은 고딕"/>
              </a:rPr>
              <a:t>FruitType.Apple</a:t>
            </a:r>
          </a:p>
        </p:txBody>
      </p:sp>
      <p:sp>
        <p:nvSpPr>
          <p:cNvPr id="187" name="RoundRect187"/>
          <p:cNvSpPr/>
          <p:nvPr/>
        </p:nvSpPr>
        <p:spPr>
          <a:xfrm xmlns:a="http://schemas.openxmlformats.org/drawingml/2006/main">
            <a:off x="600000" y="5500000"/>
            <a:ext cx="5200000" cy="11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88" name="Rect188"/>
          <p:cNvSpPr/>
          <p:nvPr/>
        </p:nvSpPr>
        <p:spPr>
          <a:xfrm xmlns:a="http://schemas.openxmlformats.org/drawingml/2006/main">
            <a:off x="600000" y="5500000"/>
            <a:ext cx="5200000" cy="1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89" name="Rect189"/>
          <p:cNvSpPr/>
          <p:nvPr/>
        </p:nvSpPr>
        <p:spPr>
          <a:xfrm xmlns:a="http://schemas.openxmlformats.org/drawingml/2006/main">
            <a:off x="600000" y="5500000"/>
            <a:ext cx="5200000" cy="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A72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90" name="TextBox190"/>
          <p:cNvSpPr/>
          <p:nvPr/>
        </p:nvSpPr>
        <p:spPr>
          <a:xfrm xmlns:a="http://schemas.openxmlformats.org/drawingml/2006/main">
            <a:off x="800000" y="5650000"/>
            <a:ext cx="48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500" b="1" dirty="0">
                <a:solidFill>
                  <a:srgbClr val="FFA726"/>
                </a:solidFill>
                <a:latin typeface="맑은 고딕"/>
                <a:ea typeface="맑은 고딕"/>
              </a:rPr>
              <a:t>YOLOFruitDetector</a:t>
            </a:r>
          </a:p>
        </p:txBody>
      </p:sp>
      <p:sp>
        <p:nvSpPr>
          <p:cNvPr id="191" name="TextBox191"/>
          <p:cNvSpPr/>
          <p:nvPr/>
        </p:nvSpPr>
        <p:spPr>
          <a:xfrm xmlns:a="http://schemas.openxmlformats.org/drawingml/2006/main">
            <a:off x="800000" y="6000000"/>
            <a:ext cx="48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100" b="0" dirty="0">
                <a:solidFill>
                  <a:srgbClr val="FFFFFF"/>
                </a:solidFill>
                <a:latin typeface="맑은 고딕"/>
                <a:ea typeface="맑은 고딕"/>
              </a:rPr>
              <a:t>●  GPU 필요  ●  ModelAsset 필요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FFFFFF"/>
                </a:solidFill>
                <a:latin typeface="맑은 고딕"/>
                <a:ea typeface="맑은 고딕"/>
              </a:rPr>
              <a:t>●  실시간 추론  ●  다양한 결과</a:t>
            </a:r>
          </a:p>
        </p:txBody>
      </p:sp>
      <p:sp>
        <p:nvSpPr>
          <p:cNvPr id="192" name="RoundRect192"/>
          <p:cNvSpPr/>
          <p:nvPr/>
        </p:nvSpPr>
        <p:spPr>
          <a:xfrm xmlns:a="http://schemas.openxmlformats.org/drawingml/2006/main">
            <a:off x="6100000" y="5500000"/>
            <a:ext cx="5600000" cy="11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93" name="Rect193"/>
          <p:cNvSpPr/>
          <p:nvPr/>
        </p:nvSpPr>
        <p:spPr>
          <a:xfrm xmlns:a="http://schemas.openxmlformats.org/drawingml/2006/main">
            <a:off x="6100000" y="5500000"/>
            <a:ext cx="5600000" cy="1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94" name="Rect194"/>
          <p:cNvSpPr/>
          <p:nvPr/>
        </p:nvSpPr>
        <p:spPr>
          <a:xfrm xmlns:a="http://schemas.openxmlformats.org/drawingml/2006/main">
            <a:off x="6100000" y="5500000"/>
            <a:ext cx="5600000" cy="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BB6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95" name="TextBox195"/>
          <p:cNvSpPr/>
          <p:nvPr/>
        </p:nvSpPr>
        <p:spPr>
          <a:xfrm xmlns:a="http://schemas.openxmlformats.org/drawingml/2006/main">
            <a:off x="6300000" y="5650000"/>
            <a:ext cx="52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500" b="1" dirty="0">
                <a:solidFill>
                  <a:srgbClr val="66BB6A"/>
                </a:solidFill>
                <a:latin typeface="맑은 고딕"/>
                <a:ea typeface="맑은 고딕"/>
              </a:rPr>
              <a:t>MockFruitDetector</a:t>
            </a:r>
          </a:p>
        </p:txBody>
      </p:sp>
      <p:sp>
        <p:nvSpPr>
          <p:cNvPr id="196" name="TextBox196"/>
          <p:cNvSpPr/>
          <p:nvPr/>
        </p:nvSpPr>
        <p:spPr>
          <a:xfrm xmlns:a="http://schemas.openxmlformats.org/drawingml/2006/main">
            <a:off x="6300000" y="6000000"/>
            <a:ext cx="52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100" b="0" dirty="0">
                <a:solidFill>
                  <a:srgbClr val="FFFFFF"/>
                </a:solidFill>
                <a:latin typeface="맑은 고딕"/>
                <a:ea typeface="맑은 고딕"/>
              </a:rPr>
              <a:t>●  GPU 불필요  ●  모델 불필요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FFFFFF"/>
                </a:solidFill>
                <a:latin typeface="맑은 고딕"/>
                <a:ea typeface="맑은 고딕"/>
              </a:rPr>
              <a:t>●  즉시 반환  ●  고정 Apple 결과</a:t>
            </a:r>
          </a:p>
        </p:txBody>
      </p:sp>
    </p:spTree>
  </p:cSld>
  <p:clrMapOvr>
    <a:masterClrMapping xmlns:a="http://schemas.openxmlformats.org/drawingml/2006/main"/>
  </p:clrMapOvr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B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7" name="Rect197"/>
          <p:cNvSpPr/>
          <p:nvPr/>
        </p:nvSpPr>
        <p:spPr>
          <a:xfrm xmlns:a="http://schemas.openxmlformats.org/drawingml/2006/main">
            <a:off x="0" y="0"/>
            <a:ext cx="12192000" cy="12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98" name="Rect198"/>
          <p:cNvSpPr/>
          <p:nvPr/>
        </p:nvSpPr>
        <p:spPr>
          <a:xfrm xmlns:a="http://schemas.openxmlformats.org/drawingml/2006/main">
            <a:off x="0" y="1150000"/>
            <a:ext cx="12192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99" name="TextBox199"/>
          <p:cNvSpPr/>
          <p:nvPr/>
        </p:nvSpPr>
        <p:spPr>
          <a:xfrm xmlns:a="http://schemas.openxmlformats.org/drawingml/2006/main">
            <a:off x="600000" y="200000"/>
            <a:ext cx="10992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800" b="1" dirty="0">
                <a:solidFill>
                  <a:srgbClr val="FFFFFF"/>
                </a:solidFill>
                <a:latin typeface="맑은 고딕"/>
                <a:ea typeface="맑은 고딕"/>
              </a:rPr>
              <a:t>8. 요약</a:t>
            </a:r>
          </a:p>
        </p:txBody>
      </p:sp>
      <p:sp>
        <p:nvSpPr>
          <p:cNvPr id="200" name="RoundRect200"/>
          <p:cNvSpPr/>
          <p:nvPr/>
        </p:nvSpPr>
        <p:spPr>
          <a:xfrm xmlns:a="http://schemas.openxmlformats.org/drawingml/2006/main">
            <a:off x="600000" y="1600000"/>
            <a:ext cx="10900000" cy="75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01" name="Rect201"/>
          <p:cNvSpPr/>
          <p:nvPr/>
        </p:nvSpPr>
        <p:spPr>
          <a:xfrm xmlns:a="http://schemas.openxmlformats.org/drawingml/2006/main">
            <a:off x="600000" y="1600000"/>
            <a:ext cx="127500" cy="7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02" name="Rect202"/>
          <p:cNvSpPr/>
          <p:nvPr/>
        </p:nvSpPr>
        <p:spPr>
          <a:xfrm xmlns:a="http://schemas.openxmlformats.org/drawingml/2006/main">
            <a:off x="600000" y="1600000"/>
            <a:ext cx="80000" cy="7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03" name="TextBox203"/>
          <p:cNvSpPr/>
          <p:nvPr/>
        </p:nvSpPr>
        <p:spPr>
          <a:xfrm xmlns:a="http://schemas.openxmlformats.org/drawingml/2006/main">
            <a:off x="900000" y="1650000"/>
            <a:ext cx="104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700" b="1" dirty="0">
                <a:solidFill>
                  <a:srgbClr val="4FC3F7"/>
                </a:solidFill>
                <a:latin typeface="맑은 고딕"/>
                <a:ea typeface="맑은 고딕"/>
              </a:rPr>
              <a:t>5단계 파이프라인</a:t>
            </a:r>
          </a:p>
        </p:txBody>
      </p:sp>
      <p:sp>
        <p:nvSpPr>
          <p:cNvPr id="204" name="TextBox204"/>
          <p:cNvSpPr/>
          <p:nvPr/>
        </p:nvSpPr>
        <p:spPr>
          <a:xfrm xmlns:a="http://schemas.openxmlformats.org/drawingml/2006/main">
            <a:off x="900000" y="2000000"/>
            <a:ext cx="104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50" b="0" dirty="0">
                <a:solidFill>
                  <a:srgbClr val="B0BEC5"/>
                </a:solidFill>
                <a:latin typeface="맑은 고딕"/>
                <a:ea typeface="맑은 고딕"/>
              </a:rPr>
              <a:t>XRCpuImage → Texture2D → Tensor → GPU 추론 → DetectionResult[]</a:t>
            </a:r>
          </a:p>
        </p:txBody>
      </p:sp>
      <p:sp>
        <p:nvSpPr>
          <p:cNvPr id="205" name="RoundRect205"/>
          <p:cNvSpPr/>
          <p:nvPr/>
        </p:nvSpPr>
        <p:spPr>
          <a:xfrm xmlns:a="http://schemas.openxmlformats.org/drawingml/2006/main">
            <a:off x="600000" y="2450000"/>
            <a:ext cx="10900000" cy="75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06" name="Rect206"/>
          <p:cNvSpPr/>
          <p:nvPr/>
        </p:nvSpPr>
        <p:spPr>
          <a:xfrm xmlns:a="http://schemas.openxmlformats.org/drawingml/2006/main">
            <a:off x="600000" y="2450000"/>
            <a:ext cx="127500" cy="7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07" name="Rect207"/>
          <p:cNvSpPr/>
          <p:nvPr/>
        </p:nvSpPr>
        <p:spPr>
          <a:xfrm xmlns:a="http://schemas.openxmlformats.org/drawingml/2006/main">
            <a:off x="600000" y="2450000"/>
            <a:ext cx="80000" cy="7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BB6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08" name="TextBox208"/>
          <p:cNvSpPr/>
          <p:nvPr/>
        </p:nvSpPr>
        <p:spPr>
          <a:xfrm xmlns:a="http://schemas.openxmlformats.org/drawingml/2006/main">
            <a:off x="900000" y="2500000"/>
            <a:ext cx="104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700" b="1" dirty="0">
                <a:solidFill>
                  <a:srgbClr val="66BB6A"/>
                </a:solidFill>
                <a:latin typeface="맑은 고딕"/>
                <a:ea typeface="맑은 고딕"/>
              </a:rPr>
              <a:t>Unity Sentis</a:t>
            </a:r>
          </a:p>
        </p:txBody>
      </p:sp>
      <p:sp>
        <p:nvSpPr>
          <p:cNvPr id="209" name="TextBox209"/>
          <p:cNvSpPr/>
          <p:nvPr/>
        </p:nvSpPr>
        <p:spPr>
          <a:xfrm xmlns:a="http://schemas.openxmlformats.org/drawingml/2006/main">
            <a:off x="900000" y="2850000"/>
            <a:ext cx="104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50" b="0" dirty="0">
                <a:solidFill>
                  <a:srgbClr val="B0BEC5"/>
                </a:solidFill>
                <a:latin typeface="맑은 고딕"/>
                <a:ea typeface="맑은 고딕"/>
              </a:rPr>
              <a:t>ONNX 모델을 GPU/CPU에서 온디바이스 실행하는 Unity 추론 엔진</a:t>
            </a:r>
          </a:p>
        </p:txBody>
      </p:sp>
      <p:sp>
        <p:nvSpPr>
          <p:cNvPr id="210" name="RoundRect210"/>
          <p:cNvSpPr/>
          <p:nvPr/>
        </p:nvSpPr>
        <p:spPr>
          <a:xfrm xmlns:a="http://schemas.openxmlformats.org/drawingml/2006/main">
            <a:off x="600000" y="3300000"/>
            <a:ext cx="10900000" cy="75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11" name="Rect211"/>
          <p:cNvSpPr/>
          <p:nvPr/>
        </p:nvSpPr>
        <p:spPr>
          <a:xfrm xmlns:a="http://schemas.openxmlformats.org/drawingml/2006/main">
            <a:off x="600000" y="3300000"/>
            <a:ext cx="127500" cy="7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12" name="Rect212"/>
          <p:cNvSpPr/>
          <p:nvPr/>
        </p:nvSpPr>
        <p:spPr>
          <a:xfrm xmlns:a="http://schemas.openxmlformats.org/drawingml/2006/main">
            <a:off x="600000" y="3300000"/>
            <a:ext cx="80000" cy="7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A72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13" name="TextBox213"/>
          <p:cNvSpPr/>
          <p:nvPr/>
        </p:nvSpPr>
        <p:spPr>
          <a:xfrm xmlns:a="http://schemas.openxmlformats.org/drawingml/2006/main">
            <a:off x="900000" y="3350000"/>
            <a:ext cx="104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700" b="1" dirty="0">
                <a:solidFill>
                  <a:srgbClr val="FFA726"/>
                </a:solidFill>
                <a:latin typeface="맑은 고딕"/>
                <a:ea typeface="맑은 고딕"/>
              </a:rPr>
              <a:t>이미지 전처리</a:t>
            </a:r>
          </a:p>
        </p:txBody>
      </p:sp>
      <p:sp>
        <p:nvSpPr>
          <p:cNvPr id="214" name="TextBox214"/>
          <p:cNvSpPr/>
          <p:nvPr/>
        </p:nvSpPr>
        <p:spPr>
          <a:xfrm xmlns:a="http://schemas.openxmlformats.org/drawingml/2006/main">
            <a:off x="900000" y="3700000"/>
            <a:ext cx="104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50" b="0" dirty="0">
                <a:solidFill>
                  <a:srgbClr val="B0BEC5"/>
                </a:solidFill>
                <a:latin typeface="맑은 고딕"/>
                <a:ea typeface="맑은 고딕"/>
              </a:rPr>
              <a:t>640×640 리사이즈, RGB 정규화(0~1), CHW 배치 변환</a:t>
            </a:r>
          </a:p>
        </p:txBody>
      </p:sp>
      <p:sp>
        <p:nvSpPr>
          <p:cNvPr id="215" name="RoundRect215"/>
          <p:cNvSpPr/>
          <p:nvPr/>
        </p:nvSpPr>
        <p:spPr>
          <a:xfrm xmlns:a="http://schemas.openxmlformats.org/drawingml/2006/main">
            <a:off x="600000" y="4150000"/>
            <a:ext cx="10900000" cy="75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16" name="Rect216"/>
          <p:cNvSpPr/>
          <p:nvPr/>
        </p:nvSpPr>
        <p:spPr>
          <a:xfrm xmlns:a="http://schemas.openxmlformats.org/drawingml/2006/main">
            <a:off x="600000" y="4150000"/>
            <a:ext cx="127500" cy="7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17" name="Rect217"/>
          <p:cNvSpPr/>
          <p:nvPr/>
        </p:nvSpPr>
        <p:spPr>
          <a:xfrm xmlns:a="http://schemas.openxmlformats.org/drawingml/2006/main">
            <a:off x="600000" y="4150000"/>
            <a:ext cx="80000" cy="7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E5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18" name="TextBox218"/>
          <p:cNvSpPr/>
          <p:nvPr/>
        </p:nvSpPr>
        <p:spPr>
          <a:xfrm xmlns:a="http://schemas.openxmlformats.org/drawingml/2006/main">
            <a:off x="900000" y="4200000"/>
            <a:ext cx="104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700" b="1" dirty="0">
                <a:solidFill>
                  <a:srgbClr val="FFEE58"/>
                </a:solidFill>
                <a:latin typeface="맑은 고딕"/>
                <a:ea typeface="맑은 고딕"/>
              </a:rPr>
              <a:t>후처리 + NMS</a:t>
            </a:r>
          </a:p>
        </p:txBody>
      </p:sp>
      <p:sp>
        <p:nvSpPr>
          <p:cNvPr id="219" name="TextBox219"/>
          <p:cNvSpPr/>
          <p:nvPr/>
        </p:nvSpPr>
        <p:spPr>
          <a:xfrm xmlns:a="http://schemas.openxmlformats.org/drawingml/2006/main">
            <a:off x="900000" y="4550000"/>
            <a:ext cx="104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50" b="0" dirty="0">
                <a:solidFill>
                  <a:srgbClr val="B0BEC5"/>
                </a:solidFill>
                <a:latin typeface="맑은 고딕"/>
                <a:ea typeface="맑은 고딕"/>
              </a:rPr>
              <a:t>YOLOv8 출력 파싱, 신뢰도 필터링(0.5), IoU 기반 중복 제거(0.45)</a:t>
            </a:r>
          </a:p>
        </p:txBody>
      </p:sp>
      <p:sp>
        <p:nvSpPr>
          <p:cNvPr id="220" name="RoundRect220"/>
          <p:cNvSpPr/>
          <p:nvPr/>
        </p:nvSpPr>
        <p:spPr>
          <a:xfrm xmlns:a="http://schemas.openxmlformats.org/drawingml/2006/main">
            <a:off x="600000" y="5000000"/>
            <a:ext cx="10900000" cy="75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21" name="Rect221"/>
          <p:cNvSpPr/>
          <p:nvPr/>
        </p:nvSpPr>
        <p:spPr>
          <a:xfrm xmlns:a="http://schemas.openxmlformats.org/drawingml/2006/main">
            <a:off x="600000" y="5000000"/>
            <a:ext cx="127500" cy="7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22" name="Rect222"/>
          <p:cNvSpPr/>
          <p:nvPr/>
        </p:nvSpPr>
        <p:spPr>
          <a:xfrm xmlns:a="http://schemas.openxmlformats.org/drawingml/2006/main">
            <a:off x="600000" y="5000000"/>
            <a:ext cx="80000" cy="7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23" name="TextBox223"/>
          <p:cNvSpPr/>
          <p:nvPr/>
        </p:nvSpPr>
        <p:spPr>
          <a:xfrm xmlns:a="http://schemas.openxmlformats.org/drawingml/2006/main">
            <a:off x="900000" y="5050000"/>
            <a:ext cx="104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700" b="1" dirty="0">
                <a:solidFill>
                  <a:srgbClr val="4FC3F7"/>
                </a:solidFill>
                <a:latin typeface="맑은 고딕"/>
                <a:ea typeface="맑은 고딕"/>
              </a:rPr>
              <a:t>Mock 패턴</a:t>
            </a:r>
          </a:p>
        </p:txBody>
      </p:sp>
      <p:sp>
        <p:nvSpPr>
          <p:cNvPr id="224" name="TextBox224"/>
          <p:cNvSpPr/>
          <p:nvPr/>
        </p:nvSpPr>
        <p:spPr>
          <a:xfrm xmlns:a="http://schemas.openxmlformats.org/drawingml/2006/main">
            <a:off x="900000" y="5400000"/>
            <a:ext cx="104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50" b="0" dirty="0">
                <a:solidFill>
                  <a:srgbClr val="B0BEC5"/>
                </a:solidFill>
                <a:latin typeface="맑은 고딕"/>
                <a:ea typeface="맑은 고딕"/>
              </a:rPr>
              <a:t>인터페이스 기반 Mock으로 GPU 없이 에디터 테스트, Inspector 토글 전환</a:t>
            </a:r>
          </a:p>
        </p:txBody>
      </p:sp>
      <p:sp>
        <p:nvSpPr>
          <p:cNvPr id="225" name="RoundRect225"/>
          <p:cNvSpPr/>
          <p:nvPr/>
        </p:nvSpPr>
        <p:spPr>
          <a:xfrm xmlns:a="http://schemas.openxmlformats.org/drawingml/2006/main">
            <a:off x="600000" y="5900000"/>
            <a:ext cx="10900000" cy="6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26" name="TextBox226"/>
          <p:cNvSpPr/>
          <p:nvPr/>
        </p:nvSpPr>
        <p:spPr>
          <a:xfrm xmlns:a="http://schemas.openxmlformats.org/drawingml/2006/main">
            <a:off x="800000" y="5950000"/>
            <a:ext cx="105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500" b="1" dirty="0">
                <a:solidFill>
                  <a:srgbClr val="4FC3F7"/>
                </a:solidFill>
                <a:latin typeface="맑은 고딕"/>
                <a:ea typeface="맑은 고딕"/>
              </a:rPr>
              <a:t>카메라 입력 → 전처리 → 추론 → 후처리: ML 탐지의 전체 흐름을 이해하는 것이 핵심</a:t>
            </a:r>
          </a:p>
        </p:txBody>
      </p:sp>
    </p:spTree>
  </p:cSld>
  <p:clrMapOvr>
    <a:masterClrMapping xmlns:a="http://schemas.openxmlformats.org/drawingml/2006/main"/>
  </p:clrMapOvr>
</p:sld>
</file>

<file path=ppt/theme/theme1.xml><?xml version="1.0" encoding="utf-8"?>
<a:theme xmlns:a="http://schemas.openxmlformats.org/drawingml/2006/main" name="CustomTheme">
  <a:themeElements>
    <a:clrScheme name="Custom">
      <a:dk1>
        <a:sysClr val="windowText" lastClr="000000"/>
      </a:dk1>
      <a:lt1>
        <a:sysClr val="window" lastClr="FFFFFF"/>
      </a:lt1>
      <a:dk2>
        <a:srgbClr val="1B2A4A"/>
      </a:dk2>
      <a:lt2>
        <a:srgbClr val="E7E6E6"/>
      </a:lt2>
      <a:accent1>
        <a:srgbClr val="4FC3F7"/>
      </a:accent1>
      <a:accent2>
        <a:srgbClr val="66BB6A"/>
      </a:accent2>
      <a:accent3>
        <a:srgbClr val="FFA726"/>
      </a:accent3>
      <a:accent4>
        <a:srgbClr val="FFEE58"/>
      </a:accent4>
      <a:accent5>
        <a:srgbClr val="EF5350"/>
      </a:accent5>
      <a:accent6>
        <a:srgbClr val="B0BEC5"/>
      </a:accent6>
      <a:hlink>
        <a:srgbClr val="4FC3F7"/>
      </a:hlink>
      <a:folHlink>
        <a:srgbClr val="B0BEC5"/>
      </a:folHlink>
    </a:clrScheme>
    <a:fontScheme name="Custom">
      <a:majorFont>
        <a:latin typeface="맑은 고딕"/>
        <a:ea typeface="맑은 고딕"/>
        <a:cs typeface=""/>
      </a:majorFont>
      <a:minorFont>
        <a:latin typeface="맑은 고딕"/>
        <a:ea typeface="맑은 고딕"/>
        <a:cs typeface=""/>
      </a:minorFont>
    </a:fontScheme>
    <a:fmtScheme name="Custom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</a:ln>
        <a:ln w="12700">
          <a:solidFill>
            <a:schemeClr val="phClr"/>
          </a:solidFill>
        </a:ln>
        <a:ln w="127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