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
<Relationships xmlns="http://schemas.openxmlformats.org/package/2006/relationships">
  <Relationship Type="http://schemas.openxmlformats.org/officeDocument/2006/relationships/officeDocument" Target="ppt/presentation.xml" Id="Rc87c9d755f7640a7" />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</p:sldIdLst>
  <p:sldSz cx="12192000" cy="6858000" type="custom"/>
  <p:notesSz cx="6858000" cy="9144000"/>
</p:presentation>
</file>

<file path=ppt/_rels/presentation.xml.rels>&#65279;<?xml version="1.0" encoding="utf-8"?>
<Relationships xmlns="http://schemas.openxmlformats.org/package/2006/relationships">
  <Relationship Type="http://schemas.openxmlformats.org/officeDocument/2006/relationships/theme" Target="theme/theme1.xml" Id="rIdTheme" />
  <Relationship Type="http://schemas.openxmlformats.org/officeDocument/2006/relationships/slideMaster" Target="slideMasters/slideMaster1.xml" Id="rIdMaster" />
  <Relationship Type="http://schemas.openxmlformats.org/officeDocument/2006/relationships/slide" Target="slides/slide1.xml" Id="rId1" />
  <Relationship Type="http://schemas.openxmlformats.org/officeDocument/2006/relationships/slide" Target="slides/slide2.xml" Id="rId2" />
  <Relationship Type="http://schemas.openxmlformats.org/officeDocument/2006/relationships/slide" Target="slides/slide3.xml" Id="rId3" />
  <Relationship Type="http://schemas.openxmlformats.org/officeDocument/2006/relationships/slide" Target="slides/slide4.xml" Id="rId4" />
  <Relationship Type="http://schemas.openxmlformats.org/officeDocument/2006/relationships/slide" Target="slides/slide5.xml" Id="rId5" />
  <Relationship Type="http://schemas.openxmlformats.org/officeDocument/2006/relationships/slide" Target="slides/slide6.xml" Id="rId6" />
  <Relationship Type="http://schemas.openxmlformats.org/officeDocument/2006/relationships/slide" Target="slides/slide7.xml" Id="rId7" />
  <Relationship Type="http://schemas.openxmlformats.org/officeDocument/2006/relationships/slide" Target="slides/slide8.xml" Id="rId8" />
  <Relationship Type="http://schemas.openxmlformats.org/officeDocument/2006/relationships/slide" Target="slides/slide9.xml" Id="rId9" />
  <Relationship Type="http://schemas.openxmlformats.org/officeDocument/2006/relationships/slide" Target="slides/slide10.xml" Id="rId10" />
</Relationships>
</file>

<file path=ppt/slideLayouts/_rels/slideLayout1.xml.rels>&#65279;<?xml version="1.0" encoding="utf-8"?>
<Relationships xmlns="http://schemas.openxmlformats.org/package/2006/relationships">
  <Relationship Type="http://schemas.openxmlformats.org/officeDocument/2006/relationships/slideMaster" Target="../slideMasters/slideMaster1.xml" Id="rIdSldMaster" />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  <Relationship Type="http://schemas.openxmlformats.org/officeDocument/2006/relationships/theme" Target="../theme/theme1.xml" Id="rIdTheme" />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  <p:txStyles>
    <p:titleStyle>
      <a:lvl1pPr xmlns:a="http://schemas.openxmlformats.org/drawingml/2006/main">
        <a:defRPr sz="2400"/>
      </a:lvl1pPr>
    </p:titleStyle>
    <p:bodyStyle>
      <a:lvl1pPr xmlns:a="http://schemas.openxmlformats.org/drawingml/2006/main">
        <a:defRPr sz="1800"/>
      </a:lvl1pPr>
    </p:bodyStyle>
    <p:otherStyle>
      <a:lvl1pPr xmlns:a="http://schemas.openxmlformats.org/drawingml/2006/main">
        <a:defRPr sz="1400"/>
      </a:lvl1pPr>
    </p:otherStyle>
  </p:txStyles>
</p:sldMaster>
</file>

<file path=ppt/slides/_rels/slide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2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3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4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5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6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7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8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9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10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" name="TextBox3"/>
          <p:cNvSpPr/>
          <p:nvPr/>
        </p:nvSpPr>
        <p:spPr>
          <a:xfrm xmlns:a="http://schemas.openxmlformats.org/drawingml/2006/main">
            <a:off x="800000" y="1800000"/>
            <a:ext cx="10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 프로젝트</a:t>
            </a:r>
          </a:p>
        </p:txBody>
      </p:sp>
      <p:sp>
        <p:nvSpPr>
          <p:cNvPr id="4" name="TextBox4"/>
          <p:cNvSpPr/>
          <p:nvPr/>
        </p:nvSpPr>
        <p:spPr>
          <a:xfrm xmlns:a="http://schemas.openxmlformats.org/drawingml/2006/main">
            <a:off x="800000" y="3000000"/>
            <a:ext cx="10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Chapter 8: Workflow와 씬 관리</a:t>
            </a:r>
          </a:p>
        </p:txBody>
      </p:sp>
      <p:sp>
        <p:nvSpPr>
          <p:cNvPr id="5" name="TextBox5"/>
          <p:cNvSpPr/>
          <p:nvPr/>
        </p:nvSpPr>
        <p:spPr>
          <a:xfrm xmlns:a="http://schemas.openxmlformats.org/drawingml/2006/main">
            <a:off x="800000" y="3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B0BEC5"/>
                </a:solidFill>
                <a:latin typeface="맑은 고딕"/>
                <a:ea typeface="맑은 고딕"/>
              </a:rPr>
              <a:t>코루틴 기반 상태 흐름과 씬 전환</a:t>
            </a:r>
          </a:p>
        </p:txBody>
      </p:sp>
      <p:sp>
        <p:nvSpPr>
          <p:cNvPr id="6" name="Rect6"/>
          <p:cNvSpPr/>
          <p:nvPr/>
        </p:nvSpPr>
        <p:spPr>
          <a:xfrm xmlns:a="http://schemas.openxmlformats.org/drawingml/2006/main">
            <a:off x="4500000" y="4800000"/>
            <a:ext cx="32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" name="TextBox7"/>
          <p:cNvSpPr/>
          <p:nvPr/>
        </p:nvSpPr>
        <p:spPr>
          <a:xfrm xmlns:a="http://schemas.openxmlformats.org/drawingml/2006/main">
            <a:off x="800000" y="51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0" dirty="0">
                <a:solidFill>
                  <a:srgbClr val="B0BEC5"/>
                </a:solidFill>
                <a:latin typeface="맑은 고딕"/>
                <a:ea typeface="맑은 고딕"/>
              </a:rPr>
              <a:t>조영민 강사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" name="Rect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" name="TextBox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목 차</a:t>
            </a:r>
          </a:p>
        </p:txBody>
      </p:sp>
      <p:sp>
        <p:nvSpPr>
          <p:cNvPr id="11" name="TextBox11"/>
          <p:cNvSpPr/>
          <p:nvPr/>
        </p:nvSpPr>
        <p:spPr>
          <a:xfrm xmlns:a="http://schemas.openxmlformats.org/drawingml/2006/main">
            <a:off x="1500000" y="16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1.  Workflow 개요</a:t>
            </a:r>
          </a:p>
        </p:txBody>
      </p:sp>
      <p:sp>
        <p:nvSpPr>
          <p:cNvPr id="12" name="TextBox12"/>
          <p:cNvSpPr/>
          <p:nvPr/>
        </p:nvSpPr>
        <p:spPr>
          <a:xfrm xmlns:a="http://schemas.openxmlformats.org/drawingml/2006/main">
            <a:off x="1500000" y="21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2.  Workflow 기반 클래스</a:t>
            </a:r>
          </a:p>
        </p:txBody>
      </p:sp>
      <p:sp>
        <p:nvSpPr>
          <p:cNvPr id="13" name="TextBox13"/>
          <p:cNvSpPr/>
          <p:nvPr/>
        </p:nvSpPr>
        <p:spPr>
          <a:xfrm xmlns:a="http://schemas.openxmlformats.org/drawingml/2006/main">
            <a:off x="1500000" y="26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3.  MainWorkflow (부트스트랩)</a:t>
            </a:r>
          </a:p>
        </p:txBody>
      </p:sp>
      <p:sp>
        <p:nvSpPr>
          <p:cNvPr id="14" name="TextBox14"/>
          <p:cNvSpPr/>
          <p:nvPr/>
        </p:nvSpPr>
        <p:spPr>
          <a:xfrm xmlns:a="http://schemas.openxmlformats.org/drawingml/2006/main">
            <a:off x="1500000" y="316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4.  MapWorkflow (지도 흐름)</a:t>
            </a:r>
          </a:p>
        </p:txBody>
      </p:sp>
      <p:sp>
        <p:nvSpPr>
          <p:cNvPr id="15" name="TextBox15"/>
          <p:cNvSpPr/>
          <p:nvPr/>
        </p:nvSpPr>
        <p:spPr>
          <a:xfrm xmlns:a="http://schemas.openxmlformats.org/drawingml/2006/main">
            <a:off x="1500000" y="368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5.  ARWorkflow (AR 흐름)</a:t>
            </a:r>
          </a:p>
        </p:txBody>
      </p:sp>
      <p:sp>
        <p:nvSpPr>
          <p:cNvPr id="16" name="TextBox16"/>
          <p:cNvSpPr/>
          <p:nvPr/>
        </p:nvSpPr>
        <p:spPr>
          <a:xfrm xmlns:a="http://schemas.openxmlformats.org/drawingml/2006/main">
            <a:off x="1500000" y="42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6.  SceneTransitionService (씬 전환)</a:t>
            </a:r>
          </a:p>
        </p:txBody>
      </p:sp>
      <p:sp>
        <p:nvSpPr>
          <p:cNvPr id="17" name="TextBox17"/>
          <p:cNvSpPr/>
          <p:nvPr/>
        </p:nvSpPr>
        <p:spPr>
          <a:xfrm xmlns:a="http://schemas.openxmlformats.org/drawingml/2006/main">
            <a:off x="1500000" y="47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7.  전체 아키텍처 종합</a:t>
            </a:r>
          </a:p>
        </p:txBody>
      </p:sp>
      <p:sp>
        <p:nvSpPr>
          <p:cNvPr id="18" name="TextBox18"/>
          <p:cNvSpPr/>
          <p:nvPr/>
        </p:nvSpPr>
        <p:spPr>
          <a:xfrm xmlns:a="http://schemas.openxmlformats.org/drawingml/2006/main">
            <a:off x="1500000" y="52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8.  요약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" name="Rect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" name="TextBox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1. Workflow 개요</a:t>
            </a:r>
          </a:p>
        </p:txBody>
      </p:sp>
      <p:sp>
        <p:nvSpPr>
          <p:cNvPr id="22" name="RoundRect22"/>
          <p:cNvSpPr/>
          <p:nvPr/>
        </p:nvSpPr>
        <p:spPr>
          <a:xfrm xmlns:a="http://schemas.openxmlformats.org/drawingml/2006/main">
            <a:off x="600000" y="1450000"/>
            <a:ext cx="109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" name="TextBox23"/>
          <p:cNvSpPr/>
          <p:nvPr/>
        </p:nvSpPr>
        <p:spPr>
          <a:xfrm xmlns:a="http://schemas.openxmlformats.org/drawingml/2006/main">
            <a:off x="800000" y="15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Workflow = 코루틴(IEnumerator)으로 씬의 상태 흐름을 순차적으로 기술하는 구조</a:t>
            </a:r>
          </a:p>
        </p:txBody>
      </p:sp>
      <p:sp>
        <p:nvSpPr>
          <p:cNvPr id="24" name="TextBox24"/>
          <p:cNvSpPr/>
          <p:nvPr/>
        </p:nvSpPr>
        <p:spPr>
          <a:xfrm xmlns:a="http://schemas.openxmlformats.org/drawingml/2006/main">
            <a:off x="800000" y="19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각 씬은 하나의 Workflow를 가지며, 씬이 로드되면 자동으로 시작</a:t>
            </a:r>
          </a:p>
        </p:txBody>
      </p:sp>
      <p:sp>
        <p:nvSpPr>
          <p:cNvPr id="25" name="RoundRect25"/>
          <p:cNvSpPr/>
          <p:nvPr/>
        </p:nvSpPr>
        <p:spPr>
          <a:xfrm xmlns:a="http://schemas.openxmlformats.org/drawingml/2006/main">
            <a:off x="300000" y="2700000"/>
            <a:ext cx="56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6" name="Rect26"/>
          <p:cNvSpPr/>
          <p:nvPr/>
        </p:nvSpPr>
        <p:spPr>
          <a:xfrm xmlns:a="http://schemas.openxmlformats.org/drawingml/2006/main">
            <a:off x="300000" y="2700000"/>
            <a:ext cx="5600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7" name="Rect27"/>
          <p:cNvSpPr/>
          <p:nvPr/>
        </p:nvSpPr>
        <p:spPr>
          <a:xfrm xmlns:a="http://schemas.openxmlformats.org/drawingml/2006/main">
            <a:off x="300000" y="2700000"/>
            <a:ext cx="5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8" name="TextBox28"/>
          <p:cNvSpPr/>
          <p:nvPr/>
        </p:nvSpPr>
        <p:spPr>
          <a:xfrm xmlns:a="http://schemas.openxmlformats.org/drawingml/2006/main">
            <a:off x="500000" y="29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EF5350"/>
                </a:solidFill>
                <a:latin typeface="맑은 고딕"/>
                <a:ea typeface="맑은 고딕"/>
              </a:rPr>
              <a:t>Update() 기반 상태 관리</a:t>
            </a:r>
          </a:p>
        </p:txBody>
      </p:sp>
      <p:sp>
        <p:nvSpPr>
          <p:cNvPr id="29" name="TextBox29"/>
          <p:cNvSpPr/>
          <p:nvPr/>
        </p:nvSpPr>
        <p:spPr>
          <a:xfrm xmlns:a="http://schemas.openxmlformats.org/drawingml/2006/main">
            <a:off x="500000" y="3400000"/>
            <a:ext cx="52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상태 변수(enum)와 switch문 필요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매 프레임 상태 체크 → 비효율적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상태 전환 로직이 분산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순차적 흐름 표현이 어려움</a:t>
            </a:r>
          </a:p>
        </p:txBody>
      </p:sp>
      <p:sp>
        <p:nvSpPr>
          <p:cNvPr id="30" name="RoundRect30"/>
          <p:cNvSpPr/>
          <p:nvPr/>
        </p:nvSpPr>
        <p:spPr>
          <a:xfrm xmlns:a="http://schemas.openxmlformats.org/drawingml/2006/main">
            <a:off x="6200000" y="2700000"/>
            <a:ext cx="56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1" name="Rect31"/>
          <p:cNvSpPr/>
          <p:nvPr/>
        </p:nvSpPr>
        <p:spPr>
          <a:xfrm xmlns:a="http://schemas.openxmlformats.org/drawingml/2006/main">
            <a:off x="6200000" y="2700000"/>
            <a:ext cx="5600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2" name="Rect32"/>
          <p:cNvSpPr/>
          <p:nvPr/>
        </p:nvSpPr>
        <p:spPr>
          <a:xfrm xmlns:a="http://schemas.openxmlformats.org/drawingml/2006/main">
            <a:off x="6200000" y="2700000"/>
            <a:ext cx="5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3" name="TextBox33"/>
          <p:cNvSpPr/>
          <p:nvPr/>
        </p:nvSpPr>
        <p:spPr>
          <a:xfrm xmlns:a="http://schemas.openxmlformats.org/drawingml/2006/main">
            <a:off x="6400000" y="29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Workflow(코루틴) 기반</a:t>
            </a:r>
          </a:p>
        </p:txBody>
      </p:sp>
      <p:sp>
        <p:nvSpPr>
          <p:cNvPr id="34" name="TextBox34"/>
          <p:cNvSpPr/>
          <p:nvPr/>
        </p:nvSpPr>
        <p:spPr>
          <a:xfrm xmlns:a="http://schemas.openxmlformats.org/drawingml/2006/main">
            <a:off x="6400000" y="3400000"/>
            <a:ext cx="52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순차적 코드로 흐름을 자연스럽게 표현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yield return으로 대기 구간 명시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상태 변수 없이 코드 위치가 곧 상태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비동기 작업(씬 로드, 대기)과 자연스럽게 결합</a:t>
            </a:r>
          </a:p>
        </p:txBody>
      </p:sp>
      <p:sp>
        <p:nvSpPr>
          <p:cNvPr id="35" name="RoundRect35"/>
          <p:cNvSpPr/>
          <p:nvPr/>
        </p:nvSpPr>
        <p:spPr>
          <a:xfrm xmlns:a="http://schemas.openxmlformats.org/drawingml/2006/main">
            <a:off x="300000" y="5500000"/>
            <a:ext cx="115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6" name="TextBox36"/>
          <p:cNvSpPr/>
          <p:nvPr/>
        </p:nvSpPr>
        <p:spPr>
          <a:xfrm xmlns:a="http://schemas.openxmlformats.org/drawingml/2006/main">
            <a:off x="500000" y="5550000"/>
            <a:ext cx="11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GoldenFruit의 Workflow 구성</a:t>
            </a:r>
          </a:p>
        </p:txBody>
      </p:sp>
      <p:sp>
        <p:nvSpPr>
          <p:cNvPr id="37" name="TextBox37"/>
          <p:cNvSpPr/>
          <p:nvPr/>
        </p:nvSpPr>
        <p:spPr>
          <a:xfrm xmlns:a="http://schemas.openxmlformats.org/drawingml/2006/main">
            <a:off x="500000" y="5950000"/>
            <a:ext cx="11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MainWorkflow (Main.unity) → MapWorkflow (Map.unity) → ARWorkflow (ARCollection.unity)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3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9" name="Rect3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0" name="TextBox4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2. Workflow 기반 클래스</a:t>
            </a:r>
          </a:p>
        </p:txBody>
      </p:sp>
      <p:sp>
        <p:nvSpPr>
          <p:cNvPr id="41" name="RoundRect41"/>
          <p:cNvSpPr/>
          <p:nvPr/>
        </p:nvSpPr>
        <p:spPr>
          <a:xfrm xmlns:a="http://schemas.openxmlformats.org/drawingml/2006/main">
            <a:off x="600000" y="1400000"/>
            <a:ext cx="56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2" name="Rect42"/>
          <p:cNvSpPr/>
          <p:nvPr/>
        </p:nvSpPr>
        <p:spPr>
          <a:xfrm xmlns:a="http://schemas.openxmlformats.org/drawingml/2006/main">
            <a:off x="600000" y="140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3" name="Code43"/>
          <p:cNvSpPr/>
          <p:nvPr/>
        </p:nvSpPr>
        <p:spPr>
          <a:xfrm xmlns:a="http://schemas.openxmlformats.org/drawingml/2006/main">
            <a:off x="600000" y="1400000"/>
            <a:ext cx="56000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abstract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Workflow : MonoBehaviour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씬 로드 시 자동으로 Workflow 시작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IEnumerator Start()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C_Workflow();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3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608B4E"/>
                </a:solidFill>
                <a:latin typeface="Consolas"/>
                <a:ea typeface="맑은 고딕"/>
              </a:rPr>
              <a:t>// 파생 클래스에서 씬별 흐름 정의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protected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300" b="0" dirty="0">
                <a:solidFill>
                  <a:srgbClr val="569CD6"/>
                </a:solidFill>
                <a:latin typeface="Consolas"/>
                <a:ea typeface="맑은 고딕"/>
              </a:rPr>
              <a:t>abstract</a:t>
            </a:r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 IEnumerator C_Workflow();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44" name="RoundRect44"/>
          <p:cNvSpPr/>
          <p:nvPr/>
        </p:nvSpPr>
        <p:spPr>
          <a:xfrm xmlns:a="http://schemas.openxmlformats.org/drawingml/2006/main">
            <a:off x="6500000" y="1400000"/>
            <a:ext cx="53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5" name="Rect45"/>
          <p:cNvSpPr/>
          <p:nvPr/>
        </p:nvSpPr>
        <p:spPr>
          <a:xfrm xmlns:a="http://schemas.openxmlformats.org/drawingml/2006/main">
            <a:off x="6500000" y="140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6" name="TextBox46"/>
          <p:cNvSpPr/>
          <p:nvPr/>
        </p:nvSpPr>
        <p:spPr>
          <a:xfrm xmlns:a="http://schemas.openxmlformats.org/drawingml/2006/main">
            <a:off x="6700000" y="150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설계 포인트</a:t>
            </a:r>
          </a:p>
        </p:txBody>
      </p:sp>
      <p:sp>
        <p:nvSpPr>
          <p:cNvPr id="47" name="TextBox47"/>
          <p:cNvSpPr/>
          <p:nvPr/>
        </p:nvSpPr>
        <p:spPr>
          <a:xfrm xmlns:a="http://schemas.openxmlformats.org/drawingml/2006/main">
            <a:off x="6700000" y="2000000"/>
            <a:ext cx="490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Start() = IEnumerator</a:t>
            </a:r>
          </a:p>
        </p:txBody>
      </p:sp>
      <p:sp>
        <p:nvSpPr>
          <p:cNvPr id="48" name="TextBox48"/>
          <p:cNvSpPr/>
          <p:nvPr/>
        </p:nvSpPr>
        <p:spPr>
          <a:xfrm xmlns:a="http://schemas.openxmlformats.org/drawingml/2006/main">
            <a:off x="6700000" y="227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Unity의 Start()를 코루틴으로 선언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→ 자동으로 코루틴 실행</a:t>
            </a:r>
          </a:p>
        </p:txBody>
      </p:sp>
      <p:sp>
        <p:nvSpPr>
          <p:cNvPr id="49" name="TextBox49"/>
          <p:cNvSpPr/>
          <p:nvPr/>
        </p:nvSpPr>
        <p:spPr>
          <a:xfrm xmlns:a="http://schemas.openxmlformats.org/drawingml/2006/main">
            <a:off x="6700000" y="2700000"/>
            <a:ext cx="490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abstract C_Workflow()</a:t>
            </a:r>
          </a:p>
        </p:txBody>
      </p:sp>
      <p:sp>
        <p:nvSpPr>
          <p:cNvPr id="50" name="TextBox50"/>
          <p:cNvSpPr/>
          <p:nvPr/>
        </p:nvSpPr>
        <p:spPr>
          <a:xfrm xmlns:a="http://schemas.openxmlformats.org/drawingml/2006/main">
            <a:off x="6700000" y="297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각 씬이 자신만의 흐름을 정의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→ 템플릿 메서드 구조</a:t>
            </a:r>
          </a:p>
        </p:txBody>
      </p:sp>
      <p:sp>
        <p:nvSpPr>
          <p:cNvPr id="51" name="TextBox51"/>
          <p:cNvSpPr/>
          <p:nvPr/>
        </p:nvSpPr>
        <p:spPr>
          <a:xfrm xmlns:a="http://schemas.openxmlformats.org/drawingml/2006/main">
            <a:off x="6700000" y="3400000"/>
            <a:ext cx="490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MonoBehaviour 상속</a:t>
            </a:r>
          </a:p>
        </p:txBody>
      </p:sp>
      <p:sp>
        <p:nvSpPr>
          <p:cNvPr id="52" name="TextBox52"/>
          <p:cNvSpPr/>
          <p:nvPr/>
        </p:nvSpPr>
        <p:spPr>
          <a:xfrm xmlns:a="http://schemas.openxmlformats.org/drawingml/2006/main">
            <a:off x="6700000" y="367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씬의 GameObject에 부착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→ 씬 생명주기와 자동 연동</a:t>
            </a:r>
          </a:p>
        </p:txBody>
      </p:sp>
      <p:sp>
        <p:nvSpPr>
          <p:cNvPr id="53" name="RoundRect53"/>
          <p:cNvSpPr/>
          <p:nvPr/>
        </p:nvSpPr>
        <p:spPr>
          <a:xfrm xmlns:a="http://schemas.openxmlformats.org/drawingml/2006/main">
            <a:off x="600000" y="4200000"/>
            <a:ext cx="109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4" name="TextBox54"/>
          <p:cNvSpPr/>
          <p:nvPr/>
        </p:nvSpPr>
        <p:spPr>
          <a:xfrm xmlns:a="http://schemas.openxmlformats.org/drawingml/2006/main">
            <a:off x="800000" y="43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코루틴에서 자주 사용하는 yield 구문</a:t>
            </a:r>
          </a:p>
        </p:txBody>
      </p:sp>
      <p:sp>
        <p:nvSpPr>
          <p:cNvPr id="55" name="TextBox55"/>
          <p:cNvSpPr/>
          <p:nvPr/>
        </p:nvSpPr>
        <p:spPr>
          <a:xfrm xmlns:a="http://schemas.openxmlformats.org/drawingml/2006/main">
            <a:off x="800000" y="4800000"/>
            <a:ext cx="6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4FC3F7"/>
                </a:solidFill>
                <a:latin typeface="맑은 고딕"/>
                <a:ea typeface="맑은 고딕"/>
              </a:rPr>
              <a:t>yield return null</a:t>
            </a:r>
          </a:p>
        </p:txBody>
      </p:sp>
      <p:sp>
        <p:nvSpPr>
          <p:cNvPr id="56" name="TextBox56"/>
          <p:cNvSpPr/>
          <p:nvPr/>
        </p:nvSpPr>
        <p:spPr>
          <a:xfrm xmlns:a="http://schemas.openxmlformats.org/drawingml/2006/main">
            <a:off x="6800000" y="4800000"/>
            <a:ext cx="44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다음 프레임까지 대기</a:t>
            </a:r>
          </a:p>
        </p:txBody>
      </p:sp>
      <p:sp>
        <p:nvSpPr>
          <p:cNvPr id="57" name="TextBox57"/>
          <p:cNvSpPr/>
          <p:nvPr/>
        </p:nvSpPr>
        <p:spPr>
          <a:xfrm xmlns:a="http://schemas.openxmlformats.org/drawingml/2006/main">
            <a:off x="800000" y="5140000"/>
            <a:ext cx="6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yield return new WaitForSeconds(1f)</a:t>
            </a:r>
          </a:p>
        </p:txBody>
      </p:sp>
      <p:sp>
        <p:nvSpPr>
          <p:cNvPr id="58" name="TextBox58"/>
          <p:cNvSpPr/>
          <p:nvPr/>
        </p:nvSpPr>
        <p:spPr>
          <a:xfrm xmlns:a="http://schemas.openxmlformats.org/drawingml/2006/main">
            <a:off x="6800000" y="5140000"/>
            <a:ext cx="44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1초 대기</a:t>
            </a:r>
          </a:p>
        </p:txBody>
      </p:sp>
      <p:sp>
        <p:nvSpPr>
          <p:cNvPr id="59" name="TextBox59"/>
          <p:cNvSpPr/>
          <p:nvPr/>
        </p:nvSpPr>
        <p:spPr>
          <a:xfrm xmlns:a="http://schemas.openxmlformats.org/drawingml/2006/main">
            <a:off x="800000" y="5480000"/>
            <a:ext cx="6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A726"/>
                </a:solidFill>
                <a:latin typeface="맑은 고딕"/>
                <a:ea typeface="맑은 고딕"/>
              </a:rPr>
              <a:t>yield return new WaitUntil(() =&gt; condition)</a:t>
            </a:r>
          </a:p>
        </p:txBody>
      </p:sp>
      <p:sp>
        <p:nvSpPr>
          <p:cNvPr id="60" name="TextBox60"/>
          <p:cNvSpPr/>
          <p:nvPr/>
        </p:nvSpPr>
        <p:spPr>
          <a:xfrm xmlns:a="http://schemas.openxmlformats.org/drawingml/2006/main">
            <a:off x="6800000" y="5480000"/>
            <a:ext cx="44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조건이 true가 될 때까지 대기</a:t>
            </a:r>
          </a:p>
        </p:txBody>
      </p:sp>
      <p:sp>
        <p:nvSpPr>
          <p:cNvPr id="61" name="TextBox61"/>
          <p:cNvSpPr/>
          <p:nvPr/>
        </p:nvSpPr>
        <p:spPr>
          <a:xfrm xmlns:a="http://schemas.openxmlformats.org/drawingml/2006/main">
            <a:off x="800000" y="5820000"/>
            <a:ext cx="6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EE58"/>
                </a:solidFill>
                <a:latin typeface="맑은 고딕"/>
                <a:ea typeface="맑은 고딕"/>
              </a:rPr>
              <a:t>yield return SceneManager.LoadSceneAsync(name)</a:t>
            </a:r>
          </a:p>
        </p:txBody>
      </p:sp>
      <p:sp>
        <p:nvSpPr>
          <p:cNvPr id="62" name="TextBox62"/>
          <p:cNvSpPr/>
          <p:nvPr/>
        </p:nvSpPr>
        <p:spPr>
          <a:xfrm xmlns:a="http://schemas.openxmlformats.org/drawingml/2006/main">
            <a:off x="6800000" y="5820000"/>
            <a:ext cx="44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씬 비동기 로드 완료까지 대기</a:t>
            </a:r>
          </a:p>
        </p:txBody>
      </p:sp>
      <p:sp>
        <p:nvSpPr>
          <p:cNvPr id="63" name="TextBox63"/>
          <p:cNvSpPr/>
          <p:nvPr/>
        </p:nvSpPr>
        <p:spPr>
          <a:xfrm xmlns:a="http://schemas.openxmlformats.org/drawingml/2006/main">
            <a:off x="800000" y="6160000"/>
            <a:ext cx="6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4FC3F7"/>
                </a:solidFill>
                <a:latin typeface="맑은 고딕"/>
                <a:ea typeface="맑은 고딕"/>
              </a:rPr>
              <a:t>yield return StartCoroutine(other)</a:t>
            </a:r>
          </a:p>
        </p:txBody>
      </p:sp>
      <p:sp>
        <p:nvSpPr>
          <p:cNvPr id="64" name="TextBox64"/>
          <p:cNvSpPr/>
          <p:nvPr/>
        </p:nvSpPr>
        <p:spPr>
          <a:xfrm xmlns:a="http://schemas.openxmlformats.org/drawingml/2006/main">
            <a:off x="6800000" y="6160000"/>
            <a:ext cx="44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다른 코루틴 완료까지 대기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ect6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6" name="Rect6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7" name="TextBox6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3. MainWorkflow (부트스트랩)</a:t>
            </a:r>
          </a:p>
        </p:txBody>
      </p:sp>
      <p:sp>
        <p:nvSpPr>
          <p:cNvPr id="68" name="RoundRect68"/>
          <p:cNvSpPr/>
          <p:nvPr/>
        </p:nvSpPr>
        <p:spPr>
          <a:xfrm xmlns:a="http://schemas.openxmlformats.org/drawingml/2006/main">
            <a:off x="600000" y="145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9" name="TextBox69"/>
          <p:cNvSpPr/>
          <p:nvPr/>
        </p:nvSpPr>
        <p:spPr>
          <a:xfrm xmlns:a="http://schemas.openxmlformats.org/drawingml/2006/main">
            <a:off x="800000" y="15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Main.unity 씬에서 실행 — 앱의 시작점, 초기화 후 Map 씬으로 전환</a:t>
            </a:r>
          </a:p>
        </p:txBody>
      </p:sp>
      <p:sp>
        <p:nvSpPr>
          <p:cNvPr id="70" name="RoundRect70"/>
          <p:cNvSpPr/>
          <p:nvPr/>
        </p:nvSpPr>
        <p:spPr>
          <a:xfrm xmlns:a="http://schemas.openxmlformats.org/drawingml/2006/main">
            <a:off x="600000" y="2300000"/>
            <a:ext cx="60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1" name="Rect71"/>
          <p:cNvSpPr/>
          <p:nvPr/>
        </p:nvSpPr>
        <p:spPr>
          <a:xfrm xmlns:a="http://schemas.openxmlformats.org/drawingml/2006/main">
            <a:off x="600000" y="230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2" name="Code72"/>
          <p:cNvSpPr/>
          <p:nvPr/>
        </p:nvSpPr>
        <p:spPr>
          <a:xfrm xmlns:a="http://schemas.openxmlformats.org/drawingml/2006/main">
            <a:off x="600000" y="2300000"/>
            <a:ext cx="60000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MainWorkflow : Workflow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[Inject]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InternetConnectionService _internetService;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protected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override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IEnumerator C_Workflow()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1. 인터넷 연결 상태 확인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isConnected =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_internetService.IsConnected;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Debug.Log($</a:t>
            </a:r>
            <a:r>
              <a:rPr lang="ko-KR" sz="1150" b="0" dirty="0">
                <a:solidFill>
                  <a:srgbClr val="CE9178"/>
                </a:solidFill>
                <a:latin typeface="Consolas"/>
                <a:ea typeface="맑은 고딕"/>
              </a:rPr>
              <a:t>"Internet: {isConnected}"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2. 1초 대기 (스플래시 표시)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WaitForSeconds(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1f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3. Map 씬으로 전환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SceneManager.LoadScene(</a:t>
            </a:r>
            <a:r>
              <a:rPr lang="ko-KR" sz="1150" b="0" dirty="0">
                <a:solidFill>
                  <a:srgbClr val="CE9178"/>
                </a:solidFill>
                <a:latin typeface="Consolas"/>
                <a:ea typeface="맑은 고딕"/>
              </a:rPr>
              <a:t>"Map"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73" name="RoundRect73"/>
          <p:cNvSpPr/>
          <p:nvPr/>
        </p:nvSpPr>
        <p:spPr>
          <a:xfrm xmlns:a="http://schemas.openxmlformats.org/drawingml/2006/main">
            <a:off x="6900000" y="2300000"/>
            <a:ext cx="4900000" cy="2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4" name="Rect74"/>
          <p:cNvSpPr/>
          <p:nvPr/>
        </p:nvSpPr>
        <p:spPr>
          <a:xfrm xmlns:a="http://schemas.openxmlformats.org/drawingml/2006/main">
            <a:off x="6900000" y="2300000"/>
            <a:ext cx="408000" cy="4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5" name="TextBox75"/>
          <p:cNvSpPr/>
          <p:nvPr/>
        </p:nvSpPr>
        <p:spPr>
          <a:xfrm xmlns:a="http://schemas.openxmlformats.org/drawingml/2006/main">
            <a:off x="7100000" y="240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MainWorkflow의 역할</a:t>
            </a:r>
          </a:p>
        </p:txBody>
      </p:sp>
      <p:sp>
        <p:nvSpPr>
          <p:cNvPr id="76" name="TextBox76"/>
          <p:cNvSpPr/>
          <p:nvPr/>
        </p:nvSpPr>
        <p:spPr>
          <a:xfrm xmlns:a="http://schemas.openxmlformats.org/drawingml/2006/main">
            <a:off x="7100000" y="3000000"/>
            <a:ext cx="45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초기화 검증</a:t>
            </a:r>
          </a:p>
        </p:txBody>
      </p:sp>
      <p:sp>
        <p:nvSpPr>
          <p:cNvPr id="77" name="TextBox77"/>
          <p:cNvSpPr/>
          <p:nvPr/>
        </p:nvSpPr>
        <p:spPr>
          <a:xfrm xmlns:a="http://schemas.openxmlformats.org/drawingml/2006/main">
            <a:off x="7100000" y="3280000"/>
            <a:ext cx="45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인터넷 연결 상태 확인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(오프라인 시 경고 가능)</a:t>
            </a:r>
          </a:p>
        </p:txBody>
      </p:sp>
      <p:sp>
        <p:nvSpPr>
          <p:cNvPr id="78" name="TextBox78"/>
          <p:cNvSpPr/>
          <p:nvPr/>
        </p:nvSpPr>
        <p:spPr>
          <a:xfrm xmlns:a="http://schemas.openxmlformats.org/drawingml/2006/main">
            <a:off x="7100000" y="3680000"/>
            <a:ext cx="45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스플래시 대기</a:t>
            </a:r>
          </a:p>
        </p:txBody>
      </p:sp>
      <p:sp>
        <p:nvSpPr>
          <p:cNvPr id="79" name="TextBox79"/>
          <p:cNvSpPr/>
          <p:nvPr/>
        </p:nvSpPr>
        <p:spPr>
          <a:xfrm xmlns:a="http://schemas.openxmlformats.org/drawingml/2006/main">
            <a:off x="7100000" y="3960000"/>
            <a:ext cx="45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1초 대기로 사용자에게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앱 시작 피드백 제공</a:t>
            </a:r>
          </a:p>
        </p:txBody>
      </p:sp>
      <p:sp>
        <p:nvSpPr>
          <p:cNvPr id="80" name="TextBox80"/>
          <p:cNvSpPr/>
          <p:nvPr/>
        </p:nvSpPr>
        <p:spPr>
          <a:xfrm xmlns:a="http://schemas.openxmlformats.org/drawingml/2006/main">
            <a:off x="7100000" y="4360000"/>
            <a:ext cx="45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씬 전환</a:t>
            </a:r>
          </a:p>
        </p:txBody>
      </p:sp>
      <p:sp>
        <p:nvSpPr>
          <p:cNvPr id="81" name="TextBox81"/>
          <p:cNvSpPr/>
          <p:nvPr/>
        </p:nvSpPr>
        <p:spPr>
          <a:xfrm xmlns:a="http://schemas.openxmlformats.org/drawingml/2006/main">
            <a:off x="7100000" y="4640000"/>
            <a:ext cx="45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Map 씬으로 이동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→ MapScope DI 활성화</a:t>
            </a:r>
          </a:p>
        </p:txBody>
      </p:sp>
      <p:sp>
        <p:nvSpPr>
          <p:cNvPr id="82" name="RoundRect82"/>
          <p:cNvSpPr/>
          <p:nvPr/>
        </p:nvSpPr>
        <p:spPr>
          <a:xfrm xmlns:a="http://schemas.openxmlformats.org/drawingml/2006/main">
            <a:off x="600000" y="5100000"/>
            <a:ext cx="10900000" cy="1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3" name="TextBox83"/>
          <p:cNvSpPr/>
          <p:nvPr/>
        </p:nvSpPr>
        <p:spPr>
          <a:xfrm xmlns:a="http://schemas.openxmlformats.org/drawingml/2006/main">
            <a:off x="800000" y="52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Main.unity 씬의 초기화 순서</a:t>
            </a:r>
          </a:p>
        </p:txBody>
      </p:sp>
      <p:sp>
        <p:nvSpPr>
          <p:cNvPr id="84" name="TextBox84"/>
          <p:cNvSpPr/>
          <p:nvPr/>
        </p:nvSpPr>
        <p:spPr>
          <a:xfrm xmlns:a="http://schemas.openxmlformats.org/drawingml/2006/main">
            <a:off x="800000" y="5600000"/>
            <a:ext cx="2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4FC3F7"/>
                </a:solidFill>
                <a:latin typeface="맑은 고딕"/>
                <a:ea typeface="맑은 고딕"/>
              </a:rPr>
              <a:t>1. ApplicationScope</a:t>
            </a:r>
          </a:p>
        </p:txBody>
      </p:sp>
      <p:sp>
        <p:nvSpPr>
          <p:cNvPr id="85" name="TextBox85"/>
          <p:cNvSpPr/>
          <p:nvPr/>
        </p:nvSpPr>
        <p:spPr>
          <a:xfrm xmlns:a="http://schemas.openxmlformats.org/drawingml/2006/main">
            <a:off x="3300000" y="5600000"/>
            <a:ext cx="79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DontDestroyOnLoad로 전역 DI 컨테이너 생성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→ IFruitRepository, InternetConnectionService 등록</a:t>
            </a:r>
          </a:p>
        </p:txBody>
      </p:sp>
      <p:sp>
        <p:nvSpPr>
          <p:cNvPr id="86" name="TextBox86"/>
          <p:cNvSpPr/>
          <p:nvPr/>
        </p:nvSpPr>
        <p:spPr>
          <a:xfrm xmlns:a="http://schemas.openxmlformats.org/drawingml/2006/main">
            <a:off x="800000" y="5940000"/>
            <a:ext cx="2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2. MainWorkflow.Start()</a:t>
            </a:r>
          </a:p>
        </p:txBody>
      </p:sp>
      <p:sp>
        <p:nvSpPr>
          <p:cNvPr id="87" name="TextBox87"/>
          <p:cNvSpPr/>
          <p:nvPr/>
        </p:nvSpPr>
        <p:spPr>
          <a:xfrm xmlns:a="http://schemas.openxmlformats.org/drawingml/2006/main">
            <a:off x="3300000" y="5940000"/>
            <a:ext cx="79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코루틴 시작 → 인터넷 확인 → 1초 대기</a:t>
            </a:r>
          </a:p>
        </p:txBody>
      </p:sp>
      <p:sp>
        <p:nvSpPr>
          <p:cNvPr id="88" name="TextBox88"/>
          <p:cNvSpPr/>
          <p:nvPr/>
        </p:nvSpPr>
        <p:spPr>
          <a:xfrm xmlns:a="http://schemas.openxmlformats.org/drawingml/2006/main">
            <a:off x="800000" y="6280000"/>
            <a:ext cx="2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A726"/>
                </a:solidFill>
                <a:latin typeface="맑은 고딕"/>
                <a:ea typeface="맑은 고딕"/>
              </a:rPr>
              <a:t>3. LoadScene("Map")</a:t>
            </a:r>
          </a:p>
        </p:txBody>
      </p:sp>
      <p:sp>
        <p:nvSpPr>
          <p:cNvPr id="89" name="TextBox89"/>
          <p:cNvSpPr/>
          <p:nvPr/>
        </p:nvSpPr>
        <p:spPr>
          <a:xfrm xmlns:a="http://schemas.openxmlformats.org/drawingml/2006/main">
            <a:off x="3300000" y="6280000"/>
            <a:ext cx="79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Map 씬 로드 → MapScope 활성화 → MapWorkflow 시작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Rect90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1" name="Rect91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2" name="TextBox92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4. MapWorkflow (지도 흐름)</a:t>
            </a:r>
          </a:p>
        </p:txBody>
      </p:sp>
      <p:sp>
        <p:nvSpPr>
          <p:cNvPr id="93" name="RoundRect93"/>
          <p:cNvSpPr/>
          <p:nvPr/>
        </p:nvSpPr>
        <p:spPr>
          <a:xfrm xmlns:a="http://schemas.openxmlformats.org/drawingml/2006/main">
            <a:off x="600000" y="1400000"/>
            <a:ext cx="56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4" name="Rect94"/>
          <p:cNvSpPr/>
          <p:nvPr/>
        </p:nvSpPr>
        <p:spPr>
          <a:xfrm xmlns:a="http://schemas.openxmlformats.org/drawingml/2006/main">
            <a:off x="600000" y="1400000"/>
            <a:ext cx="306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5" name="Code95"/>
          <p:cNvSpPr/>
          <p:nvPr/>
        </p:nvSpPr>
        <p:spPr>
          <a:xfrm xmlns:a="http://schemas.openxmlformats.org/drawingml/2006/main">
            <a:off x="600000" y="1400000"/>
            <a:ext cx="56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MapWorkflow : Workflow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[Inject]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InternetConnectionService _internetService;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protected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override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IEnumerator C_Workflow()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Debug.Log($</a:t>
            </a:r>
            <a:r>
              <a:rPr lang="ko-KR" sz="1200" b="0" dirty="0">
                <a:solidFill>
                  <a:srgbClr val="CE9178"/>
                </a:solidFill>
                <a:latin typeface="Consolas"/>
                <a:ea typeface="맑은 고딕"/>
              </a:rPr>
              <a:t>"Internet: "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+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    $</a:t>
            </a:r>
            <a:r>
              <a:rPr lang="ko-KR" sz="1200" b="0" dirty="0">
                <a:solidFill>
                  <a:srgbClr val="CE9178"/>
                </a:solidFill>
                <a:latin typeface="Consolas"/>
                <a:ea typeface="맑은 고딕"/>
              </a:rPr>
              <a:t>"{_internetService.IsConnected}"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break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현재 초기 상태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96" name="RoundRect96"/>
          <p:cNvSpPr/>
          <p:nvPr/>
        </p:nvSpPr>
        <p:spPr>
          <a:xfrm xmlns:a="http://schemas.openxmlformats.org/drawingml/2006/main">
            <a:off x="6500000" y="1400000"/>
            <a:ext cx="53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7" name="Rect97"/>
          <p:cNvSpPr/>
          <p:nvPr/>
        </p:nvSpPr>
        <p:spPr>
          <a:xfrm xmlns:a="http://schemas.openxmlformats.org/drawingml/2006/main">
            <a:off x="6500000" y="1400000"/>
            <a:ext cx="306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8" name="TextBox98"/>
          <p:cNvSpPr/>
          <p:nvPr/>
        </p:nvSpPr>
        <p:spPr>
          <a:xfrm xmlns:a="http://schemas.openxmlformats.org/drawingml/2006/main">
            <a:off x="6700000" y="150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현재 구현 상태</a:t>
            </a:r>
          </a:p>
        </p:txBody>
      </p:sp>
      <p:sp>
        <p:nvSpPr>
          <p:cNvPr id="99" name="TextBox99"/>
          <p:cNvSpPr/>
          <p:nvPr/>
        </p:nvSpPr>
        <p:spPr>
          <a:xfrm xmlns:a="http://schemas.openxmlformats.org/drawingml/2006/main">
            <a:off x="6700000" y="1950000"/>
            <a:ext cx="49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기본 골격만 구현 (yield break)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인터넷 상태 로깅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실제 지도 로직은 MapTileManager,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    PlayerInMapPresenter가 독립 처리</a:t>
            </a:r>
          </a:p>
        </p:txBody>
      </p:sp>
      <p:sp>
        <p:nvSpPr>
          <p:cNvPr id="100" name="RoundRect100"/>
          <p:cNvSpPr/>
          <p:nvPr/>
        </p:nvSpPr>
        <p:spPr>
          <a:xfrm xmlns:a="http://schemas.openxmlformats.org/drawingml/2006/main">
            <a:off x="600000" y="3600000"/>
            <a:ext cx="109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1" name="TextBox101"/>
          <p:cNvSpPr/>
          <p:nvPr/>
        </p:nvSpPr>
        <p:spPr>
          <a:xfrm xmlns:a="http://schemas.openxmlformats.org/drawingml/2006/main">
            <a:off x="800000" y="37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Map 씬에서 병렬 동작하는 컴포넌트들</a:t>
            </a:r>
          </a:p>
        </p:txBody>
      </p:sp>
      <p:sp>
        <p:nvSpPr>
          <p:cNvPr id="102" name="TextBox102"/>
          <p:cNvSpPr/>
          <p:nvPr/>
        </p:nvSpPr>
        <p:spPr>
          <a:xfrm xmlns:a="http://schemas.openxmlformats.org/drawingml/2006/main">
            <a:off x="800000" y="4200000"/>
            <a:ext cx="2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MapTileManager</a:t>
            </a:r>
          </a:p>
        </p:txBody>
      </p:sp>
      <p:sp>
        <p:nvSpPr>
          <p:cNvPr id="103" name="TextBox103"/>
          <p:cNvSpPr/>
          <p:nvPr/>
        </p:nvSpPr>
        <p:spPr>
          <a:xfrm xmlns:a="http://schemas.openxmlformats.org/drawingml/2006/main">
            <a:off x="3600000" y="4200000"/>
            <a:ext cx="1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B0BEC5"/>
                </a:solidFill>
                <a:latin typeface="맑은 고딕"/>
                <a:ea typeface="맑은 고딕"/>
              </a:rPr>
              <a:t>Start() 코루틴</a:t>
            </a:r>
          </a:p>
        </p:txBody>
      </p:sp>
      <p:sp>
        <p:nvSpPr>
          <p:cNvPr id="104" name="TextBox104"/>
          <p:cNvSpPr/>
          <p:nvPr/>
        </p:nvSpPr>
        <p:spPr>
          <a:xfrm xmlns:a="http://schemas.openxmlformats.org/drawingml/2006/main">
            <a:off x="5400000" y="4200000"/>
            <a:ext cx="5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GPS 대기 → 3×3 타일 생성 → 0.5초 주기 위치 체크 → 타일 롤링</a:t>
            </a:r>
          </a:p>
        </p:txBody>
      </p:sp>
      <p:sp>
        <p:nvSpPr>
          <p:cNvPr id="105" name="TextBox105"/>
          <p:cNvSpPr/>
          <p:nvPr/>
        </p:nvSpPr>
        <p:spPr>
          <a:xfrm xmlns:a="http://schemas.openxmlformats.org/drawingml/2006/main">
            <a:off x="800000" y="4700000"/>
            <a:ext cx="2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PlayerInMapPresenter</a:t>
            </a:r>
          </a:p>
        </p:txBody>
      </p:sp>
      <p:sp>
        <p:nvSpPr>
          <p:cNvPr id="106" name="TextBox106"/>
          <p:cNvSpPr/>
          <p:nvPr/>
        </p:nvSpPr>
        <p:spPr>
          <a:xfrm xmlns:a="http://schemas.openxmlformats.org/drawingml/2006/main">
            <a:off x="3600000" y="4700000"/>
            <a:ext cx="1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B0BEC5"/>
                </a:solidFill>
                <a:latin typeface="맑은 고딕"/>
                <a:ea typeface="맑은 고딕"/>
              </a:rPr>
              <a:t>Update()</a:t>
            </a:r>
          </a:p>
        </p:txBody>
      </p:sp>
      <p:sp>
        <p:nvSpPr>
          <p:cNvPr id="107" name="TextBox107"/>
          <p:cNvSpPr/>
          <p:nvPr/>
        </p:nvSpPr>
        <p:spPr>
          <a:xfrm xmlns:a="http://schemas.openxmlformats.org/drawingml/2006/main">
            <a:off x="5400000" y="4700000"/>
            <a:ext cx="5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매 프레임 GPS 기반 플레이어 위치 갱신 + 과일 스폰 포인트 탐색</a:t>
            </a:r>
          </a:p>
        </p:txBody>
      </p:sp>
      <p:sp>
        <p:nvSpPr>
          <p:cNvPr id="108" name="TextBox108"/>
          <p:cNvSpPr/>
          <p:nvPr/>
        </p:nvSpPr>
        <p:spPr>
          <a:xfrm xmlns:a="http://schemas.openxmlformats.org/drawingml/2006/main">
            <a:off x="800000" y="5200000"/>
            <a:ext cx="2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FruitSpawnManager</a:t>
            </a:r>
          </a:p>
        </p:txBody>
      </p:sp>
      <p:sp>
        <p:nvSpPr>
          <p:cNvPr id="109" name="TextBox109"/>
          <p:cNvSpPr/>
          <p:nvPr/>
        </p:nvSpPr>
        <p:spPr>
          <a:xfrm xmlns:a="http://schemas.openxmlformats.org/drawingml/2006/main">
            <a:off x="3600000" y="5200000"/>
            <a:ext cx="1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B0BEC5"/>
                </a:solidFill>
                <a:latin typeface="맑은 고딕"/>
                <a:ea typeface="맑은 고딕"/>
              </a:rPr>
              <a:t>SpawnFruits()</a:t>
            </a:r>
          </a:p>
        </p:txBody>
      </p:sp>
      <p:sp>
        <p:nvSpPr>
          <p:cNvPr id="110" name="TextBox110"/>
          <p:cNvSpPr/>
          <p:nvPr/>
        </p:nvSpPr>
        <p:spPr>
          <a:xfrm xmlns:a="http://schemas.openxmlformats.org/drawingml/2006/main">
            <a:off x="5400000" y="5200000"/>
            <a:ext cx="5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PlayerInMapPresenter가 호출 → 주변 과일 스폰 + 원거리 정리</a:t>
            </a:r>
          </a:p>
        </p:txBody>
      </p:sp>
      <p:sp>
        <p:nvSpPr>
          <p:cNvPr id="111" name="TextBox111"/>
          <p:cNvSpPr/>
          <p:nvPr/>
        </p:nvSpPr>
        <p:spPr>
          <a:xfrm xmlns:a="http://schemas.openxmlformats.org/drawingml/2006/main">
            <a:off x="800000" y="5700000"/>
            <a:ext cx="2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GPSService</a:t>
            </a:r>
          </a:p>
        </p:txBody>
      </p:sp>
      <p:sp>
        <p:nvSpPr>
          <p:cNvPr id="112" name="TextBox112"/>
          <p:cNvSpPr/>
          <p:nvPr/>
        </p:nvSpPr>
        <p:spPr>
          <a:xfrm xmlns:a="http://schemas.openxmlformats.org/drawingml/2006/main">
            <a:off x="3600000" y="5700000"/>
            <a:ext cx="1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B0BEC5"/>
                </a:solidFill>
                <a:latin typeface="맑은 고딕"/>
                <a:ea typeface="맑은 고딕"/>
              </a:rPr>
              <a:t>Start()</a:t>
            </a:r>
          </a:p>
        </p:txBody>
      </p:sp>
      <p:sp>
        <p:nvSpPr>
          <p:cNvPr id="113" name="TextBox113"/>
          <p:cNvSpPr/>
          <p:nvPr/>
        </p:nvSpPr>
        <p:spPr>
          <a:xfrm xmlns:a="http://schemas.openxmlformats.org/drawingml/2006/main">
            <a:off x="5400000" y="5700000"/>
            <a:ext cx="5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ILocationProvider.StartService() 호출 → 위치 데이터 공급 시작</a:t>
            </a:r>
          </a:p>
        </p:txBody>
      </p:sp>
      <p:sp>
        <p:nvSpPr>
          <p:cNvPr id="114" name="TextBox114"/>
          <p:cNvSpPr/>
          <p:nvPr/>
        </p:nvSpPr>
        <p:spPr>
          <a:xfrm xmlns:a="http://schemas.openxmlformats.org/drawingml/2006/main">
            <a:off x="800000" y="62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Workflow와 독립 컴포넌트가 병렬로 동작하며 협력하는 구조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Rect11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6" name="Rect11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7" name="TextBox11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5. ARWorkflow (AR 흐름)</a:t>
            </a:r>
          </a:p>
        </p:txBody>
      </p:sp>
      <p:sp>
        <p:nvSpPr>
          <p:cNvPr id="118" name="RoundRect118"/>
          <p:cNvSpPr/>
          <p:nvPr/>
        </p:nvSpPr>
        <p:spPr>
          <a:xfrm xmlns:a="http://schemas.openxmlformats.org/drawingml/2006/main">
            <a:off x="600000" y="1400000"/>
            <a:ext cx="5600000" cy="1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9" name="Rect119"/>
          <p:cNvSpPr/>
          <p:nvPr/>
        </p:nvSpPr>
        <p:spPr>
          <a:xfrm xmlns:a="http://schemas.openxmlformats.org/drawingml/2006/main">
            <a:off x="600000" y="1400000"/>
            <a:ext cx="272000" cy="2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0" name="Code120"/>
          <p:cNvSpPr/>
          <p:nvPr/>
        </p:nvSpPr>
        <p:spPr>
          <a:xfrm xmlns:a="http://schemas.openxmlformats.org/drawingml/2006/main">
            <a:off x="600000" y="1400000"/>
            <a:ext cx="5600000" cy="1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ARWorkflow : Workflow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[Inject]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InternetConnectionService _internetService;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protected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override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IEnumerator C_Workflow()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Debug.Log($</a:t>
            </a:r>
            <a:r>
              <a:rPr lang="ko-KR" sz="1200" b="0" dirty="0">
                <a:solidFill>
                  <a:srgbClr val="CE9178"/>
                </a:solidFill>
                <a:latin typeface="Consolas"/>
                <a:ea typeface="맑은 고딕"/>
              </a:rPr>
              <a:t>"Internet: "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+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    $</a:t>
            </a:r>
            <a:r>
              <a:rPr lang="ko-KR" sz="1200" b="0" dirty="0">
                <a:solidFill>
                  <a:srgbClr val="CE9178"/>
                </a:solidFill>
                <a:latin typeface="Consolas"/>
                <a:ea typeface="맑은 고딕"/>
              </a:rPr>
              <a:t>"{_internetService.IsConnected}"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break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21" name="RoundRect121"/>
          <p:cNvSpPr/>
          <p:nvPr/>
        </p:nvSpPr>
        <p:spPr>
          <a:xfrm xmlns:a="http://schemas.openxmlformats.org/drawingml/2006/main">
            <a:off x="6500000" y="1400000"/>
            <a:ext cx="5300000" cy="1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2" name="Rect122"/>
          <p:cNvSpPr/>
          <p:nvPr/>
        </p:nvSpPr>
        <p:spPr>
          <a:xfrm xmlns:a="http://schemas.openxmlformats.org/drawingml/2006/main">
            <a:off x="6500000" y="1400000"/>
            <a:ext cx="272000" cy="2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3" name="TextBox123"/>
          <p:cNvSpPr/>
          <p:nvPr/>
        </p:nvSpPr>
        <p:spPr>
          <a:xfrm xmlns:a="http://schemas.openxmlformats.org/drawingml/2006/main">
            <a:off x="6700000" y="150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현재 구현 상태</a:t>
            </a:r>
          </a:p>
        </p:txBody>
      </p:sp>
      <p:sp>
        <p:nvSpPr>
          <p:cNvPr id="124" name="TextBox124"/>
          <p:cNvSpPr/>
          <p:nvPr/>
        </p:nvSpPr>
        <p:spPr>
          <a:xfrm xmlns:a="http://schemas.openxmlformats.org/drawingml/2006/main">
            <a:off x="6700000" y="1950000"/>
            <a:ext cx="49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기본 골격만 구현 (yield break)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실제 AR 로직은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    FruitCollectionController,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    FruitThrowController가 독립 처리</a:t>
            </a:r>
          </a:p>
        </p:txBody>
      </p:sp>
      <p:sp>
        <p:nvSpPr>
          <p:cNvPr id="125" name="RoundRect125"/>
          <p:cNvSpPr/>
          <p:nvPr/>
        </p:nvSpPr>
        <p:spPr>
          <a:xfrm xmlns:a="http://schemas.openxmlformats.org/drawingml/2006/main">
            <a:off x="600000" y="3400000"/>
            <a:ext cx="10900000" cy="3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6" name="TextBox126"/>
          <p:cNvSpPr/>
          <p:nvPr/>
        </p:nvSpPr>
        <p:spPr>
          <a:xfrm xmlns:a="http://schemas.openxmlformats.org/drawingml/2006/main">
            <a:off x="800000" y="35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AR 씬에서 병렬 동작하는 컴포넌트들</a:t>
            </a:r>
          </a:p>
        </p:txBody>
      </p:sp>
      <p:sp>
        <p:nvSpPr>
          <p:cNvPr id="127" name="TextBox127"/>
          <p:cNvSpPr/>
          <p:nvPr/>
        </p:nvSpPr>
        <p:spPr>
          <a:xfrm xmlns:a="http://schemas.openxmlformats.org/drawingml/2006/main">
            <a:off x="800000" y="4100000"/>
            <a:ext cx="3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FruitCollectionController</a:t>
            </a:r>
          </a:p>
        </p:txBody>
      </p:sp>
      <p:sp>
        <p:nvSpPr>
          <p:cNvPr id="128" name="TextBox128"/>
          <p:cNvSpPr/>
          <p:nvPr/>
        </p:nvSpPr>
        <p:spPr>
          <a:xfrm xmlns:a="http://schemas.openxmlformats.org/drawingml/2006/main">
            <a:off x="4000000" y="4100000"/>
            <a:ext cx="1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1" dirty="0">
                <a:solidFill>
                  <a:srgbClr val="B0BEC5"/>
                </a:solidFill>
                <a:latin typeface="맑은 고딕"/>
                <a:ea typeface="맑은 고딕"/>
              </a:rPr>
              <a:t>Update()</a:t>
            </a:r>
          </a:p>
        </p:txBody>
      </p:sp>
      <p:sp>
        <p:nvSpPr>
          <p:cNvPr id="129" name="TextBox129"/>
          <p:cNvSpPr/>
          <p:nvPr/>
        </p:nvSpPr>
        <p:spPr>
          <a:xfrm xmlns:a="http://schemas.openxmlformats.org/drawingml/2006/main">
            <a:off x="5800000" y="410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FFFFFF"/>
                </a:solidFill>
                <a:latin typeface="맑은 고딕"/>
                <a:ea typeface="맑은 고딕"/>
              </a:rPr>
              <a:t>1초 간격으로 카메라 캡처 → ML 탐지 → AR Raycast → 과일 스폰</a:t>
            </a:r>
          </a:p>
        </p:txBody>
      </p:sp>
      <p:sp>
        <p:nvSpPr>
          <p:cNvPr id="130" name="TextBox130"/>
          <p:cNvSpPr/>
          <p:nvPr/>
        </p:nvSpPr>
        <p:spPr>
          <a:xfrm xmlns:a="http://schemas.openxmlformats.org/drawingml/2006/main">
            <a:off x="800000" y="4650000"/>
            <a:ext cx="3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A726"/>
                </a:solidFill>
                <a:latin typeface="맑은 고딕"/>
                <a:ea typeface="맑은 고딕"/>
              </a:rPr>
              <a:t>FruitThrowController</a:t>
            </a:r>
          </a:p>
        </p:txBody>
      </p:sp>
      <p:sp>
        <p:nvSpPr>
          <p:cNvPr id="131" name="TextBox131"/>
          <p:cNvSpPr/>
          <p:nvPr/>
        </p:nvSpPr>
        <p:spPr>
          <a:xfrm xmlns:a="http://schemas.openxmlformats.org/drawingml/2006/main">
            <a:off x="4000000" y="4650000"/>
            <a:ext cx="1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1" dirty="0">
                <a:solidFill>
                  <a:srgbClr val="B0BEC5"/>
                </a:solidFill>
                <a:latin typeface="맑은 고딕"/>
                <a:ea typeface="맑은 고딕"/>
              </a:rPr>
              <a:t>OnClickPerformed()</a:t>
            </a:r>
          </a:p>
        </p:txBody>
      </p:sp>
      <p:sp>
        <p:nvSpPr>
          <p:cNvPr id="132" name="TextBox132"/>
          <p:cNvSpPr/>
          <p:nvPr/>
        </p:nvSpPr>
        <p:spPr>
          <a:xfrm xmlns:a="http://schemas.openxmlformats.org/drawingml/2006/main">
            <a:off x="5800000" y="465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FFFFFF"/>
                </a:solidFill>
                <a:latin typeface="맑은 고딕"/>
                <a:ea typeface="맑은 고딕"/>
              </a:rPr>
              <a:t>입력 이벤트 → 과일 공 생성/배치/던지기 물리 처리</a:t>
            </a:r>
          </a:p>
        </p:txBody>
      </p:sp>
      <p:sp>
        <p:nvSpPr>
          <p:cNvPr id="133" name="TextBox133"/>
          <p:cNvSpPr/>
          <p:nvPr/>
        </p:nvSpPr>
        <p:spPr>
          <a:xfrm xmlns:a="http://schemas.openxmlformats.org/drawingml/2006/main">
            <a:off x="800000" y="5200000"/>
            <a:ext cx="3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EE58"/>
                </a:solidFill>
                <a:latin typeface="맑은 고딕"/>
                <a:ea typeface="맑은 고딕"/>
              </a:rPr>
              <a:t>DetectionOverlayPresenter</a:t>
            </a:r>
          </a:p>
        </p:txBody>
      </p:sp>
      <p:sp>
        <p:nvSpPr>
          <p:cNvPr id="134" name="TextBox134"/>
          <p:cNvSpPr/>
          <p:nvPr/>
        </p:nvSpPr>
        <p:spPr>
          <a:xfrm xmlns:a="http://schemas.openxmlformats.org/drawingml/2006/main">
            <a:off x="4000000" y="5200000"/>
            <a:ext cx="1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1" dirty="0">
                <a:solidFill>
                  <a:srgbClr val="B0BEC5"/>
                </a:solidFill>
                <a:latin typeface="맑은 고딕"/>
                <a:ea typeface="맑은 고딕"/>
              </a:rPr>
              <a:t>이벤트 호출</a:t>
            </a:r>
          </a:p>
        </p:txBody>
      </p:sp>
      <p:sp>
        <p:nvSpPr>
          <p:cNvPr id="135" name="TextBox135"/>
          <p:cNvSpPr/>
          <p:nvPr/>
        </p:nvSpPr>
        <p:spPr>
          <a:xfrm xmlns:a="http://schemas.openxmlformats.org/drawingml/2006/main">
            <a:off x="5800000" y="520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FFFFFF"/>
                </a:solidFill>
                <a:latin typeface="맑은 고딕"/>
                <a:ea typeface="맑은 고딕"/>
              </a:rPr>
              <a:t>탐지 결과를 화면 좌표로 변환 → 바운딩 박스 UI 표시</a:t>
            </a:r>
          </a:p>
        </p:txBody>
      </p:sp>
      <p:sp>
        <p:nvSpPr>
          <p:cNvPr id="136" name="TextBox136"/>
          <p:cNvSpPr/>
          <p:nvPr/>
        </p:nvSpPr>
        <p:spPr>
          <a:xfrm xmlns:a="http://schemas.openxmlformats.org/drawingml/2006/main">
            <a:off x="800000" y="5750000"/>
            <a:ext cx="3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4FC3F7"/>
                </a:solidFill>
                <a:latin typeface="맑은 고딕"/>
                <a:ea typeface="맑은 고딕"/>
              </a:rPr>
              <a:t>ARSessionHelper</a:t>
            </a:r>
          </a:p>
        </p:txBody>
      </p:sp>
      <p:sp>
        <p:nvSpPr>
          <p:cNvPr id="137" name="TextBox137"/>
          <p:cNvSpPr/>
          <p:nvPr/>
        </p:nvSpPr>
        <p:spPr>
          <a:xfrm xmlns:a="http://schemas.openxmlformats.org/drawingml/2006/main">
            <a:off x="4000000" y="5750000"/>
            <a:ext cx="1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1" dirty="0">
                <a:solidFill>
                  <a:srgbClr val="B0BEC5"/>
                </a:solidFill>
                <a:latin typeface="맑은 고딕"/>
                <a:ea typeface="맑은 고딕"/>
              </a:rPr>
              <a:t>OnEnable()</a:t>
            </a:r>
          </a:p>
        </p:txBody>
      </p:sp>
      <p:sp>
        <p:nvSpPr>
          <p:cNvPr id="138" name="TextBox138"/>
          <p:cNvSpPr/>
          <p:nvPr/>
        </p:nvSpPr>
        <p:spPr>
          <a:xfrm xmlns:a="http://schemas.openxmlformats.org/drawingml/2006/main">
            <a:off x="5800000" y="575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FFFFFF"/>
                </a:solidFill>
                <a:latin typeface="맑은 고딕"/>
                <a:ea typeface="맑은 고딕"/>
              </a:rPr>
              <a:t>AR 세션 상태 변화 구독 + 로깅</a:t>
            </a:r>
          </a:p>
        </p:txBody>
      </p:sp>
      <p:sp>
        <p:nvSpPr>
          <p:cNvPr id="139" name="TextBox139"/>
          <p:cNvSpPr/>
          <p:nvPr/>
        </p:nvSpPr>
        <p:spPr>
          <a:xfrm xmlns:a="http://schemas.openxmlformats.org/drawingml/2006/main">
            <a:off x="800000" y="63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Workflow가 확장되면 AR 세션 초기화, 탐지 시작/종료, 수집 완료 등의 흐름을 순차 제어 가능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Rect140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1" name="Rect141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2" name="TextBox142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6. SceneTransitionService (씬 전환)</a:t>
            </a:r>
          </a:p>
        </p:txBody>
      </p:sp>
      <p:sp>
        <p:nvSpPr>
          <p:cNvPr id="143" name="RoundRect143"/>
          <p:cNvSpPr/>
          <p:nvPr/>
        </p:nvSpPr>
        <p:spPr>
          <a:xfrm xmlns:a="http://schemas.openxmlformats.org/drawingml/2006/main">
            <a:off x="400000" y="1400000"/>
            <a:ext cx="70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4" name="Rect144"/>
          <p:cNvSpPr/>
          <p:nvPr/>
        </p:nvSpPr>
        <p:spPr>
          <a:xfrm xmlns:a="http://schemas.openxmlformats.org/drawingml/2006/main">
            <a:off x="400000" y="1400000"/>
            <a:ext cx="510000" cy="5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5" name="Code145"/>
          <p:cNvSpPr/>
          <p:nvPr/>
        </p:nvSpPr>
        <p:spPr>
          <a:xfrm xmlns:a="http://schemas.openxmlformats.org/drawingml/2006/main">
            <a:off x="400000" y="1400000"/>
            <a:ext cx="7000000" cy="3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SceneTransitionService : MonoBehaviour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ScreenFader _screenFader;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TransitionTo(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string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sceneName)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StartCoroutine(C_TransitionTo(sceneName));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IEnumerator C_TransitionTo(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string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sceneName)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1. 화면 페이드 아웃 (검은 화면으로)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_screenFader.C_FadeOut();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2. 씬 비동기 로드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SceneManager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    .LoadSceneAsync(sceneName);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3. 화면 페이드 인 (새 씬 표시)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_screenFader.C_FadeIn();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46" name="RoundRect146"/>
          <p:cNvSpPr/>
          <p:nvPr/>
        </p:nvSpPr>
        <p:spPr>
          <a:xfrm xmlns:a="http://schemas.openxmlformats.org/drawingml/2006/main">
            <a:off x="7700000" y="1400000"/>
            <a:ext cx="42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7" name="Rect147"/>
          <p:cNvSpPr/>
          <p:nvPr/>
        </p:nvSpPr>
        <p:spPr>
          <a:xfrm xmlns:a="http://schemas.openxmlformats.org/drawingml/2006/main">
            <a:off x="7700000" y="1400000"/>
            <a:ext cx="510000" cy="5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8" name="TextBox148"/>
          <p:cNvSpPr/>
          <p:nvPr/>
        </p:nvSpPr>
        <p:spPr>
          <a:xfrm xmlns:a="http://schemas.openxmlformats.org/drawingml/2006/main">
            <a:off x="7900000" y="1500000"/>
            <a:ext cx="3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전환 3단계</a:t>
            </a:r>
          </a:p>
        </p:txBody>
      </p:sp>
      <p:sp>
        <p:nvSpPr>
          <p:cNvPr id="149" name="TextBox149"/>
          <p:cNvSpPr/>
          <p:nvPr/>
        </p:nvSpPr>
        <p:spPr>
          <a:xfrm xmlns:a="http://schemas.openxmlformats.org/drawingml/2006/main">
            <a:off x="7900000" y="21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1. Fade Out</a:t>
            </a:r>
          </a:p>
        </p:txBody>
      </p:sp>
      <p:sp>
        <p:nvSpPr>
          <p:cNvPr id="150" name="TextBox150"/>
          <p:cNvSpPr/>
          <p:nvPr/>
        </p:nvSpPr>
        <p:spPr>
          <a:xfrm xmlns:a="http://schemas.openxmlformats.org/drawingml/2006/main">
            <a:off x="7900000" y="2380000"/>
            <a:ext cx="3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화면을 검은색으로 서서히 전환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→ 씬 교체가 보이지 않음</a:t>
            </a:r>
          </a:p>
        </p:txBody>
      </p:sp>
      <p:sp>
        <p:nvSpPr>
          <p:cNvPr id="151" name="TextBox151"/>
          <p:cNvSpPr/>
          <p:nvPr/>
        </p:nvSpPr>
        <p:spPr>
          <a:xfrm xmlns:a="http://schemas.openxmlformats.org/drawingml/2006/main">
            <a:off x="7900000" y="28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2. 씬 비동기 로드</a:t>
            </a:r>
          </a:p>
        </p:txBody>
      </p:sp>
      <p:sp>
        <p:nvSpPr>
          <p:cNvPr id="152" name="TextBox152"/>
          <p:cNvSpPr/>
          <p:nvPr/>
        </p:nvSpPr>
        <p:spPr>
          <a:xfrm xmlns:a="http://schemas.openxmlformats.org/drawingml/2006/main">
            <a:off x="7900000" y="3080000"/>
            <a:ext cx="3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LoadSceneAsync로 새 씬 로드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→ 코루틴이 로드 완료까지 대기</a:t>
            </a:r>
          </a:p>
        </p:txBody>
      </p:sp>
      <p:sp>
        <p:nvSpPr>
          <p:cNvPr id="153" name="TextBox153"/>
          <p:cNvSpPr/>
          <p:nvPr/>
        </p:nvSpPr>
        <p:spPr>
          <a:xfrm xmlns:a="http://schemas.openxmlformats.org/drawingml/2006/main">
            <a:off x="7900000" y="3500000"/>
            <a:ext cx="38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3. Fade In</a:t>
            </a:r>
          </a:p>
        </p:txBody>
      </p:sp>
      <p:sp>
        <p:nvSpPr>
          <p:cNvPr id="154" name="TextBox154"/>
          <p:cNvSpPr/>
          <p:nvPr/>
        </p:nvSpPr>
        <p:spPr>
          <a:xfrm xmlns:a="http://schemas.openxmlformats.org/drawingml/2006/main">
            <a:off x="7900000" y="3780000"/>
            <a:ext cx="3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검은 화면에서 서서히 밝아짐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→ 새 씬이 자연스럽게 표시</a:t>
            </a:r>
          </a:p>
        </p:txBody>
      </p:sp>
      <p:sp>
        <p:nvSpPr>
          <p:cNvPr id="155" name="RoundRect155"/>
          <p:cNvSpPr/>
          <p:nvPr/>
        </p:nvSpPr>
        <p:spPr>
          <a:xfrm xmlns:a="http://schemas.openxmlformats.org/drawingml/2006/main">
            <a:off x="400000" y="4800000"/>
            <a:ext cx="113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6" name="TextBox156"/>
          <p:cNvSpPr/>
          <p:nvPr/>
        </p:nvSpPr>
        <p:spPr>
          <a:xfrm xmlns:a="http://schemas.openxmlformats.org/drawingml/2006/main">
            <a:off x="600000" y="49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InternetConnectionService — 인터넷 상태 캐싱</a:t>
            </a:r>
          </a:p>
        </p:txBody>
      </p:sp>
      <p:sp>
        <p:nvSpPr>
          <p:cNvPr id="157" name="RoundRect157"/>
          <p:cNvSpPr/>
          <p:nvPr/>
        </p:nvSpPr>
        <p:spPr>
          <a:xfrm xmlns:a="http://schemas.openxmlformats.org/drawingml/2006/main">
            <a:off x="600000" y="5300000"/>
            <a:ext cx="109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8" name="Rect158"/>
          <p:cNvSpPr/>
          <p:nvPr/>
        </p:nvSpPr>
        <p:spPr>
          <a:xfrm xmlns:a="http://schemas.openxmlformats.org/drawingml/2006/main">
            <a:off x="600000" y="5300000"/>
            <a:ext cx="187000" cy="1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9" name="Code159"/>
          <p:cNvSpPr/>
          <p:nvPr/>
        </p:nvSpPr>
        <p:spPr>
          <a:xfrm xmlns:a="http://schemas.openxmlformats.org/drawingml/2006/main">
            <a:off x="600000" y="5300000"/>
            <a:ext cx="10900000" cy="11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InternetConnectionService : MonoBehaviour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IsConnected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2초 캐싱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(Time.time - _lastCheckTime &gt;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2f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_cached = Application.internetReachability != NotReachable;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_cached;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Rect160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1" name="Rect161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2" name="TextBox162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7. 전체 아키텍처 종합</a:t>
            </a:r>
          </a:p>
        </p:txBody>
      </p:sp>
      <p:sp>
        <p:nvSpPr>
          <p:cNvPr id="163" name="RoundRect163"/>
          <p:cNvSpPr/>
          <p:nvPr/>
        </p:nvSpPr>
        <p:spPr>
          <a:xfrm xmlns:a="http://schemas.openxmlformats.org/drawingml/2006/main">
            <a:off x="200000" y="1400000"/>
            <a:ext cx="37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4" name="Rect164"/>
          <p:cNvSpPr/>
          <p:nvPr/>
        </p:nvSpPr>
        <p:spPr>
          <a:xfrm xmlns:a="http://schemas.openxmlformats.org/drawingml/2006/main">
            <a:off x="200000" y="1400000"/>
            <a:ext cx="3700000" cy="6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5" name="Rect165"/>
          <p:cNvSpPr/>
          <p:nvPr/>
        </p:nvSpPr>
        <p:spPr>
          <a:xfrm xmlns:a="http://schemas.openxmlformats.org/drawingml/2006/main">
            <a:off x="200000" y="1400000"/>
            <a:ext cx="37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6" name="TextBox166"/>
          <p:cNvSpPr/>
          <p:nvPr/>
        </p:nvSpPr>
        <p:spPr>
          <a:xfrm xmlns:a="http://schemas.openxmlformats.org/drawingml/2006/main">
            <a:off x="400000" y="1600000"/>
            <a:ext cx="3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Main.unity</a:t>
            </a:r>
          </a:p>
        </p:txBody>
      </p:sp>
      <p:sp>
        <p:nvSpPr>
          <p:cNvPr id="167" name="RoundRect167"/>
          <p:cNvSpPr/>
          <p:nvPr/>
        </p:nvSpPr>
        <p:spPr>
          <a:xfrm xmlns:a="http://schemas.openxmlformats.org/drawingml/2006/main">
            <a:off x="400000" y="2200000"/>
            <a:ext cx="33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8" name="TextBox168"/>
          <p:cNvSpPr/>
          <p:nvPr/>
        </p:nvSpPr>
        <p:spPr>
          <a:xfrm xmlns:a="http://schemas.openxmlformats.org/drawingml/2006/main">
            <a:off x="550000" y="2250000"/>
            <a:ext cx="3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ApplicationScope</a:t>
            </a:r>
          </a:p>
        </p:txBody>
      </p:sp>
      <p:sp>
        <p:nvSpPr>
          <p:cNvPr id="169" name="TextBox169"/>
          <p:cNvSpPr/>
          <p:nvPr/>
        </p:nvSpPr>
        <p:spPr>
          <a:xfrm xmlns:a="http://schemas.openxmlformats.org/drawingml/2006/main">
            <a:off x="550000" y="2580000"/>
            <a:ext cx="3000000" cy="6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전역 DI (DontDestroyOnLoad)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IFruitRepository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InternetConnectionService</a:t>
            </a:r>
          </a:p>
        </p:txBody>
      </p:sp>
      <p:sp>
        <p:nvSpPr>
          <p:cNvPr id="170" name="RoundRect170"/>
          <p:cNvSpPr/>
          <p:nvPr/>
        </p:nvSpPr>
        <p:spPr>
          <a:xfrm xmlns:a="http://schemas.openxmlformats.org/drawingml/2006/main">
            <a:off x="400000" y="3400000"/>
            <a:ext cx="33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1" name="TextBox171"/>
          <p:cNvSpPr/>
          <p:nvPr/>
        </p:nvSpPr>
        <p:spPr>
          <a:xfrm xmlns:a="http://schemas.openxmlformats.org/drawingml/2006/main">
            <a:off x="550000" y="3450000"/>
            <a:ext cx="3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A726"/>
                </a:solidFill>
                <a:latin typeface="맑은 고딕"/>
                <a:ea typeface="맑은 고딕"/>
              </a:rPr>
              <a:t>MainWorkflow</a:t>
            </a:r>
          </a:p>
        </p:txBody>
      </p:sp>
      <p:sp>
        <p:nvSpPr>
          <p:cNvPr id="172" name="TextBox172"/>
          <p:cNvSpPr/>
          <p:nvPr/>
        </p:nvSpPr>
        <p:spPr>
          <a:xfrm xmlns:a="http://schemas.openxmlformats.org/drawingml/2006/main">
            <a:off x="550000" y="3780000"/>
            <a:ext cx="3000000" cy="6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인터넷 확인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→ 1초 대기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→ Map 씬 로드</a:t>
            </a:r>
          </a:p>
        </p:txBody>
      </p:sp>
      <p:sp>
        <p:nvSpPr>
          <p:cNvPr id="173" name="RoundRect173"/>
          <p:cNvSpPr/>
          <p:nvPr/>
        </p:nvSpPr>
        <p:spPr>
          <a:xfrm xmlns:a="http://schemas.openxmlformats.org/drawingml/2006/main">
            <a:off x="4100000" y="1400000"/>
            <a:ext cx="37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4" name="Rect174"/>
          <p:cNvSpPr/>
          <p:nvPr/>
        </p:nvSpPr>
        <p:spPr>
          <a:xfrm xmlns:a="http://schemas.openxmlformats.org/drawingml/2006/main">
            <a:off x="4100000" y="1400000"/>
            <a:ext cx="3700000" cy="6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5" name="Rect175"/>
          <p:cNvSpPr/>
          <p:nvPr/>
        </p:nvSpPr>
        <p:spPr>
          <a:xfrm xmlns:a="http://schemas.openxmlformats.org/drawingml/2006/main">
            <a:off x="4100000" y="1400000"/>
            <a:ext cx="37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6" name="TextBox176"/>
          <p:cNvSpPr/>
          <p:nvPr/>
        </p:nvSpPr>
        <p:spPr>
          <a:xfrm xmlns:a="http://schemas.openxmlformats.org/drawingml/2006/main">
            <a:off x="4300000" y="1600000"/>
            <a:ext cx="3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Map.unity</a:t>
            </a:r>
          </a:p>
        </p:txBody>
      </p:sp>
      <p:sp>
        <p:nvSpPr>
          <p:cNvPr id="177" name="RoundRect177"/>
          <p:cNvSpPr/>
          <p:nvPr/>
        </p:nvSpPr>
        <p:spPr>
          <a:xfrm xmlns:a="http://schemas.openxmlformats.org/drawingml/2006/main">
            <a:off x="4300000" y="2200000"/>
            <a:ext cx="33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8" name="TextBox178"/>
          <p:cNvSpPr/>
          <p:nvPr/>
        </p:nvSpPr>
        <p:spPr>
          <a:xfrm xmlns:a="http://schemas.openxmlformats.org/drawingml/2006/main">
            <a:off x="4450000" y="2250000"/>
            <a:ext cx="3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4FC3F7"/>
                </a:solidFill>
                <a:latin typeface="맑은 고딕"/>
                <a:ea typeface="맑은 고딕"/>
              </a:rPr>
              <a:t>MapScope</a:t>
            </a:r>
          </a:p>
        </p:txBody>
      </p:sp>
      <p:sp>
        <p:nvSpPr>
          <p:cNvPr id="179" name="TextBox179"/>
          <p:cNvSpPr/>
          <p:nvPr/>
        </p:nvSpPr>
        <p:spPr>
          <a:xfrm xmlns:a="http://schemas.openxmlformats.org/drawingml/2006/main">
            <a:off x="4450000" y="2580000"/>
            <a:ext cx="3000000" cy="6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ILocationProvider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GPSService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GoogleStaticMapService</a:t>
            </a:r>
          </a:p>
        </p:txBody>
      </p:sp>
      <p:sp>
        <p:nvSpPr>
          <p:cNvPr id="180" name="RoundRect180"/>
          <p:cNvSpPr/>
          <p:nvPr/>
        </p:nvSpPr>
        <p:spPr>
          <a:xfrm xmlns:a="http://schemas.openxmlformats.org/drawingml/2006/main">
            <a:off x="4300000" y="3400000"/>
            <a:ext cx="33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1" name="TextBox181"/>
          <p:cNvSpPr/>
          <p:nvPr/>
        </p:nvSpPr>
        <p:spPr>
          <a:xfrm xmlns:a="http://schemas.openxmlformats.org/drawingml/2006/main">
            <a:off x="4450000" y="3450000"/>
            <a:ext cx="3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FFA726"/>
                </a:solidFill>
                <a:latin typeface="맑은 고딕"/>
                <a:ea typeface="맑은 고딕"/>
              </a:rPr>
              <a:t>MapWorkflow</a:t>
            </a:r>
          </a:p>
          <a:p xmlns:a="http://schemas.openxmlformats.org/drawingml/2006/main">
            <a:pPr algn="l"/>
            <a:r>
              <a:rPr lang="ko-KR" sz="1050" b="1" dirty="0">
                <a:solidFill>
                  <a:srgbClr val="FFA726"/>
                </a:solidFill>
                <a:latin typeface="맑은 고딕"/>
                <a:ea typeface="맑은 고딕"/>
              </a:rPr>
              <a:t>+ 독립 컴포넌트</a:t>
            </a:r>
          </a:p>
        </p:txBody>
      </p:sp>
      <p:sp>
        <p:nvSpPr>
          <p:cNvPr id="182" name="TextBox182"/>
          <p:cNvSpPr/>
          <p:nvPr/>
        </p:nvSpPr>
        <p:spPr>
          <a:xfrm xmlns:a="http://schemas.openxmlformats.org/drawingml/2006/main">
            <a:off x="4450000" y="3780000"/>
            <a:ext cx="3000000" cy="6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MapTileManager (타일 관리)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PlayerInMapPresenter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FruitSpawnManager</a:t>
            </a:r>
          </a:p>
        </p:txBody>
      </p:sp>
      <p:sp>
        <p:nvSpPr>
          <p:cNvPr id="183" name="RoundRect183"/>
          <p:cNvSpPr/>
          <p:nvPr/>
        </p:nvSpPr>
        <p:spPr>
          <a:xfrm xmlns:a="http://schemas.openxmlformats.org/drawingml/2006/main">
            <a:off x="8000000" y="1400000"/>
            <a:ext cx="39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4" name="Rect184"/>
          <p:cNvSpPr/>
          <p:nvPr/>
        </p:nvSpPr>
        <p:spPr>
          <a:xfrm xmlns:a="http://schemas.openxmlformats.org/drawingml/2006/main">
            <a:off x="8000000" y="1400000"/>
            <a:ext cx="3900000" cy="66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5" name="Rect185"/>
          <p:cNvSpPr/>
          <p:nvPr/>
        </p:nvSpPr>
        <p:spPr>
          <a:xfrm xmlns:a="http://schemas.openxmlformats.org/drawingml/2006/main">
            <a:off x="8000000" y="1400000"/>
            <a:ext cx="39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6" name="TextBox186"/>
          <p:cNvSpPr/>
          <p:nvPr/>
        </p:nvSpPr>
        <p:spPr>
          <a:xfrm xmlns:a="http://schemas.openxmlformats.org/drawingml/2006/main">
            <a:off x="8200000" y="1600000"/>
            <a:ext cx="3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A726"/>
                </a:solidFill>
                <a:latin typeface="맑은 고딕"/>
                <a:ea typeface="맑은 고딕"/>
              </a:rPr>
              <a:t>ARCollection.unity</a:t>
            </a:r>
          </a:p>
        </p:txBody>
      </p:sp>
      <p:sp>
        <p:nvSpPr>
          <p:cNvPr id="187" name="RoundRect187"/>
          <p:cNvSpPr/>
          <p:nvPr/>
        </p:nvSpPr>
        <p:spPr>
          <a:xfrm xmlns:a="http://schemas.openxmlformats.org/drawingml/2006/main">
            <a:off x="8200000" y="2200000"/>
            <a:ext cx="35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8" name="TextBox188"/>
          <p:cNvSpPr/>
          <p:nvPr/>
        </p:nvSpPr>
        <p:spPr>
          <a:xfrm xmlns:a="http://schemas.openxmlformats.org/drawingml/2006/main">
            <a:off x="8350000" y="2250000"/>
            <a:ext cx="3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4FC3F7"/>
                </a:solidFill>
                <a:latin typeface="맑은 고딕"/>
                <a:ea typeface="맑은 고딕"/>
              </a:rPr>
              <a:t>ARScope</a:t>
            </a:r>
          </a:p>
        </p:txBody>
      </p:sp>
      <p:sp>
        <p:nvSpPr>
          <p:cNvPr id="189" name="TextBox189"/>
          <p:cNvSpPr/>
          <p:nvPr/>
        </p:nvSpPr>
        <p:spPr>
          <a:xfrm xmlns:a="http://schemas.openxmlformats.org/drawingml/2006/main">
            <a:off x="8350000" y="2580000"/>
            <a:ext cx="3200000" cy="6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IFruitDetector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(Mock 또는 YOLO)</a:t>
            </a:r>
          </a:p>
        </p:txBody>
      </p:sp>
      <p:sp>
        <p:nvSpPr>
          <p:cNvPr id="190" name="RoundRect190"/>
          <p:cNvSpPr/>
          <p:nvPr/>
        </p:nvSpPr>
        <p:spPr>
          <a:xfrm xmlns:a="http://schemas.openxmlformats.org/drawingml/2006/main">
            <a:off x="8200000" y="3400000"/>
            <a:ext cx="35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1" name="TextBox191"/>
          <p:cNvSpPr/>
          <p:nvPr/>
        </p:nvSpPr>
        <p:spPr>
          <a:xfrm xmlns:a="http://schemas.openxmlformats.org/drawingml/2006/main">
            <a:off x="8350000" y="3450000"/>
            <a:ext cx="3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1" dirty="0">
                <a:solidFill>
                  <a:srgbClr val="66BB6A"/>
                </a:solidFill>
                <a:latin typeface="맑은 고딕"/>
                <a:ea typeface="맑은 고딕"/>
              </a:rPr>
              <a:t>ARWorkflow</a:t>
            </a:r>
          </a:p>
          <a:p xmlns:a="http://schemas.openxmlformats.org/drawingml/2006/main">
            <a:pPr algn="l"/>
            <a:r>
              <a:rPr lang="ko-KR" sz="1050" b="1" dirty="0">
                <a:solidFill>
                  <a:srgbClr val="66BB6A"/>
                </a:solidFill>
                <a:latin typeface="맑은 고딕"/>
                <a:ea typeface="맑은 고딕"/>
              </a:rPr>
              <a:t>+ 독립 컴포넌트</a:t>
            </a:r>
          </a:p>
        </p:txBody>
      </p:sp>
      <p:sp>
        <p:nvSpPr>
          <p:cNvPr id="192" name="TextBox192"/>
          <p:cNvSpPr/>
          <p:nvPr/>
        </p:nvSpPr>
        <p:spPr>
          <a:xfrm xmlns:a="http://schemas.openxmlformats.org/drawingml/2006/main">
            <a:off x="8350000" y="3780000"/>
            <a:ext cx="3200000" cy="6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FruitCollectionController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FruitThrowController</a:t>
            </a:r>
          </a:p>
          <a:p xmlns:a="http://schemas.openxmlformats.org/drawingml/2006/main">
            <a:pPr algn="l"/>
            <a:r>
              <a:rPr lang="ko-KR" sz="900" b="0" dirty="0">
                <a:solidFill>
                  <a:srgbClr val="B0BEC5"/>
                </a:solidFill>
                <a:latin typeface="맑은 고딕"/>
                <a:ea typeface="맑은 고딕"/>
              </a:rPr>
              <a:t>DetectionOverlayPresenter</a:t>
            </a:r>
          </a:p>
        </p:txBody>
      </p:sp>
      <p:sp>
        <p:nvSpPr>
          <p:cNvPr id="193" name="TextBox193"/>
          <p:cNvSpPr/>
          <p:nvPr/>
        </p:nvSpPr>
        <p:spPr>
          <a:xfrm xmlns:a="http://schemas.openxmlformats.org/drawingml/2006/main">
            <a:off x="3700000" y="3200000"/>
            <a:ext cx="6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200" b="1" dirty="0">
                <a:solidFill>
                  <a:srgbClr val="4FC3F7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94" name="TextBox194"/>
          <p:cNvSpPr/>
          <p:nvPr/>
        </p:nvSpPr>
        <p:spPr>
          <a:xfrm xmlns:a="http://schemas.openxmlformats.org/drawingml/2006/main">
            <a:off x="7600000" y="3200000"/>
            <a:ext cx="6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200" b="1" dirty="0">
                <a:solidFill>
                  <a:srgbClr val="66BB6A"/>
                </a:solidFill>
                <a:latin typeface="맑은 고딕"/>
                <a:ea typeface="맑은 고딕"/>
              </a:rPr>
              <a:t>⇄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Rect19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6" name="Rect19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7" name="TextBox19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8. 요약</a:t>
            </a:r>
          </a:p>
        </p:txBody>
      </p:sp>
      <p:sp>
        <p:nvSpPr>
          <p:cNvPr id="198" name="RoundRect198"/>
          <p:cNvSpPr/>
          <p:nvPr/>
        </p:nvSpPr>
        <p:spPr>
          <a:xfrm xmlns:a="http://schemas.openxmlformats.org/drawingml/2006/main">
            <a:off x="600000" y="16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9" name="Rect199"/>
          <p:cNvSpPr/>
          <p:nvPr/>
        </p:nvSpPr>
        <p:spPr>
          <a:xfrm xmlns:a="http://schemas.openxmlformats.org/drawingml/2006/main">
            <a:off x="600000" y="16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0" name="Rect200"/>
          <p:cNvSpPr/>
          <p:nvPr/>
        </p:nvSpPr>
        <p:spPr>
          <a:xfrm xmlns:a="http://schemas.openxmlformats.org/drawingml/2006/main">
            <a:off x="600000" y="16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1" name="TextBox201"/>
          <p:cNvSpPr/>
          <p:nvPr/>
        </p:nvSpPr>
        <p:spPr>
          <a:xfrm xmlns:a="http://schemas.openxmlformats.org/drawingml/2006/main">
            <a:off x="900000" y="16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Workflow</a:t>
            </a:r>
          </a:p>
        </p:txBody>
      </p:sp>
      <p:sp>
        <p:nvSpPr>
          <p:cNvPr id="202" name="TextBox202"/>
          <p:cNvSpPr/>
          <p:nvPr/>
        </p:nvSpPr>
        <p:spPr>
          <a:xfrm xmlns:a="http://schemas.openxmlformats.org/drawingml/2006/main">
            <a:off x="900000" y="20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코루틴으로 씬의 상태 흐름을 순차 기술, 코드 위치가 곧 현재 상태 → switch문 불필요</a:t>
            </a:r>
          </a:p>
        </p:txBody>
      </p:sp>
      <p:sp>
        <p:nvSpPr>
          <p:cNvPr id="203" name="RoundRect203"/>
          <p:cNvSpPr/>
          <p:nvPr/>
        </p:nvSpPr>
        <p:spPr>
          <a:xfrm xmlns:a="http://schemas.openxmlformats.org/drawingml/2006/main">
            <a:off x="600000" y="24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4" name="Rect204"/>
          <p:cNvSpPr/>
          <p:nvPr/>
        </p:nvSpPr>
        <p:spPr>
          <a:xfrm xmlns:a="http://schemas.openxmlformats.org/drawingml/2006/main">
            <a:off x="600000" y="24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5" name="Rect205"/>
          <p:cNvSpPr/>
          <p:nvPr/>
        </p:nvSpPr>
        <p:spPr>
          <a:xfrm xmlns:a="http://schemas.openxmlformats.org/drawingml/2006/main">
            <a:off x="600000" y="24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6" name="TextBox206"/>
          <p:cNvSpPr/>
          <p:nvPr/>
        </p:nvSpPr>
        <p:spPr>
          <a:xfrm xmlns:a="http://schemas.openxmlformats.org/drawingml/2006/main">
            <a:off x="900000" y="25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3개 씬 구조</a:t>
            </a:r>
          </a:p>
        </p:txBody>
      </p:sp>
      <p:sp>
        <p:nvSpPr>
          <p:cNvPr id="207" name="TextBox207"/>
          <p:cNvSpPr/>
          <p:nvPr/>
        </p:nvSpPr>
        <p:spPr>
          <a:xfrm xmlns:a="http://schemas.openxmlformats.org/drawingml/2006/main">
            <a:off x="900000" y="28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Main(부트스트랩) → Map(탐색) → AR(수집), 각 씬에 독립 Workflow</a:t>
            </a:r>
          </a:p>
        </p:txBody>
      </p:sp>
      <p:sp>
        <p:nvSpPr>
          <p:cNvPr id="208" name="RoundRect208"/>
          <p:cNvSpPr/>
          <p:nvPr/>
        </p:nvSpPr>
        <p:spPr>
          <a:xfrm xmlns:a="http://schemas.openxmlformats.org/drawingml/2006/main">
            <a:off x="600000" y="33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9" name="Rect209"/>
          <p:cNvSpPr/>
          <p:nvPr/>
        </p:nvSpPr>
        <p:spPr>
          <a:xfrm xmlns:a="http://schemas.openxmlformats.org/drawingml/2006/main">
            <a:off x="600000" y="33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0" name="Rect210"/>
          <p:cNvSpPr/>
          <p:nvPr/>
        </p:nvSpPr>
        <p:spPr>
          <a:xfrm xmlns:a="http://schemas.openxmlformats.org/drawingml/2006/main">
            <a:off x="600000" y="33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1" name="TextBox211"/>
          <p:cNvSpPr/>
          <p:nvPr/>
        </p:nvSpPr>
        <p:spPr>
          <a:xfrm xmlns:a="http://schemas.openxmlformats.org/drawingml/2006/main">
            <a:off x="900000" y="33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SceneTransitionService</a:t>
            </a:r>
          </a:p>
        </p:txBody>
      </p:sp>
      <p:sp>
        <p:nvSpPr>
          <p:cNvPr id="212" name="TextBox212"/>
          <p:cNvSpPr/>
          <p:nvPr/>
        </p:nvSpPr>
        <p:spPr>
          <a:xfrm xmlns:a="http://schemas.openxmlformats.org/drawingml/2006/main">
            <a:off x="900000" y="37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Fade Out → LoadSceneAsync → Fade In의 3단계 자연스러운 씬 전환</a:t>
            </a:r>
          </a:p>
        </p:txBody>
      </p:sp>
      <p:sp>
        <p:nvSpPr>
          <p:cNvPr id="213" name="RoundRect213"/>
          <p:cNvSpPr/>
          <p:nvPr/>
        </p:nvSpPr>
        <p:spPr>
          <a:xfrm xmlns:a="http://schemas.openxmlformats.org/drawingml/2006/main">
            <a:off x="600000" y="41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4" name="Rect214"/>
          <p:cNvSpPr/>
          <p:nvPr/>
        </p:nvSpPr>
        <p:spPr>
          <a:xfrm xmlns:a="http://schemas.openxmlformats.org/drawingml/2006/main">
            <a:off x="600000" y="41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5" name="Rect215"/>
          <p:cNvSpPr/>
          <p:nvPr/>
        </p:nvSpPr>
        <p:spPr>
          <a:xfrm xmlns:a="http://schemas.openxmlformats.org/drawingml/2006/main">
            <a:off x="600000" y="41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6" name="TextBox216"/>
          <p:cNvSpPr/>
          <p:nvPr/>
        </p:nvSpPr>
        <p:spPr>
          <a:xfrm xmlns:a="http://schemas.openxmlformats.org/drawingml/2006/main">
            <a:off x="900000" y="42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DI Scope 연동</a:t>
            </a:r>
          </a:p>
        </p:txBody>
      </p:sp>
      <p:sp>
        <p:nvSpPr>
          <p:cNvPr id="217" name="TextBox217"/>
          <p:cNvSpPr/>
          <p:nvPr/>
        </p:nvSpPr>
        <p:spPr>
          <a:xfrm xmlns:a="http://schemas.openxmlformats.org/drawingml/2006/main">
            <a:off x="900000" y="45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씬 로드 시 LifetimeScope 활성화, 언로드 시 자동 해제 → 메모리 관리 자동화</a:t>
            </a:r>
          </a:p>
        </p:txBody>
      </p:sp>
      <p:sp>
        <p:nvSpPr>
          <p:cNvPr id="218" name="RoundRect218"/>
          <p:cNvSpPr/>
          <p:nvPr/>
        </p:nvSpPr>
        <p:spPr>
          <a:xfrm xmlns:a="http://schemas.openxmlformats.org/drawingml/2006/main">
            <a:off x="600000" y="50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9" name="Rect219"/>
          <p:cNvSpPr/>
          <p:nvPr/>
        </p:nvSpPr>
        <p:spPr>
          <a:xfrm xmlns:a="http://schemas.openxmlformats.org/drawingml/2006/main">
            <a:off x="600000" y="50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0" name="Rect220"/>
          <p:cNvSpPr/>
          <p:nvPr/>
        </p:nvSpPr>
        <p:spPr>
          <a:xfrm xmlns:a="http://schemas.openxmlformats.org/drawingml/2006/main">
            <a:off x="600000" y="50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1" name="TextBox221"/>
          <p:cNvSpPr/>
          <p:nvPr/>
        </p:nvSpPr>
        <p:spPr>
          <a:xfrm xmlns:a="http://schemas.openxmlformats.org/drawingml/2006/main">
            <a:off x="900000" y="50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병렬 컴포넌트</a:t>
            </a:r>
          </a:p>
        </p:txBody>
      </p:sp>
      <p:sp>
        <p:nvSpPr>
          <p:cNvPr id="222" name="TextBox222"/>
          <p:cNvSpPr/>
          <p:nvPr/>
        </p:nvSpPr>
        <p:spPr>
          <a:xfrm xmlns:a="http://schemas.openxmlformats.org/drawingml/2006/main">
            <a:off x="900000" y="54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Workflow + 독립 컴포넌트(Update, Start 코루틴)가 협력하여 씬 로직 구성</a:t>
            </a:r>
          </a:p>
        </p:txBody>
      </p:sp>
      <p:sp>
        <p:nvSpPr>
          <p:cNvPr id="223" name="RoundRect223"/>
          <p:cNvSpPr/>
          <p:nvPr/>
        </p:nvSpPr>
        <p:spPr>
          <a:xfrm xmlns:a="http://schemas.openxmlformats.org/drawingml/2006/main">
            <a:off x="600000" y="590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4" name="TextBox224"/>
          <p:cNvSpPr/>
          <p:nvPr/>
        </p:nvSpPr>
        <p:spPr>
          <a:xfrm xmlns:a="http://schemas.openxmlformats.org/drawingml/2006/main">
            <a:off x="800000" y="59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Assembly 분리 + DI + Workflow + 씬 관리가 함께 동작하는 전체 구조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CustomTheme">
  <a:themeElements>
    <a:clrScheme name="Custom">
      <a:dk1>
        <a:sysClr val="windowText" lastClr="000000"/>
      </a:dk1>
      <a:lt1>
        <a:sysClr val="window" lastClr="FFFFFF"/>
      </a:lt1>
      <a:dk2>
        <a:srgbClr val="1B2A4A"/>
      </a:dk2>
      <a:lt2>
        <a:srgbClr val="E7E6E6"/>
      </a:lt2>
      <a:accent1>
        <a:srgbClr val="4FC3F7"/>
      </a:accent1>
      <a:accent2>
        <a:srgbClr val="66BB6A"/>
      </a:accent2>
      <a:accent3>
        <a:srgbClr val="FFA726"/>
      </a:accent3>
      <a:accent4>
        <a:srgbClr val="FFEE58"/>
      </a:accent4>
      <a:accent5>
        <a:srgbClr val="EF5350"/>
      </a:accent5>
      <a:accent6>
        <a:srgbClr val="B0BEC5"/>
      </a:accent6>
      <a:hlink>
        <a:srgbClr val="4FC3F7"/>
      </a:hlink>
      <a:folHlink>
        <a:srgbClr val="B0BEC5"/>
      </a:folHlink>
    </a:clrScheme>
    <a:fontScheme name="Custom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